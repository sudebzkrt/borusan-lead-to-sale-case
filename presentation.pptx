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8"/>
    <p:restoredTop sz="94610"/>
  </p:normalViewPr>
  <p:slideViewPr>
    <p:cSldViewPr snapToGrid="0" snapToObjects="1">
      <p:cViewPr>
        <p:scale>
          <a:sx n="105" d="100"/>
          <a:sy n="105" d="100"/>
        </p:scale>
        <p:origin x="864"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F24"/>
                </a:solidFill>
                <a:latin typeface="Calibri"/>
              </a:defRPr>
            </a:pPr>
            <a:r>
              <a:rPr lang="en-US" sz="1300" b="0" i="0" u="none" strike="noStrike">
                <a:solidFill>
                  <a:srgbClr val="1B1F24"/>
                </a:solidFill>
                <a:latin typeface="Calibri"/>
              </a:rPr>
              <a:t>Lead-to-sale conversion by source (%)</a:t>
            </a:r>
          </a:p>
        </c:rich>
      </c:tx>
      <c:overlay val="0"/>
    </c:title>
    <c:autoTitleDeleted val="0"/>
    <c:plotArea>
      <c:layout/>
      <c:barChart>
        <c:barDir val="bar"/>
        <c:grouping val="clustered"/>
        <c:varyColors val="0"/>
        <c:ser>
          <c:idx val="0"/>
          <c:order val="0"/>
          <c:tx>
            <c:strRef>
              <c:f>Sheet1!$B$1</c:f>
              <c:strCache>
                <c:ptCount val="1"/>
                <c:pt idx="0">
                  <c:v>Conversion</c:v>
                </c:pt>
              </c:strCache>
            </c:strRef>
          </c:tx>
          <c:spPr>
            <a:solidFill>
              <a:srgbClr val="1B9AAA"/>
            </a:solidFill>
            <a:effectLst/>
          </c:spPr>
          <c:invertIfNegative val="0"/>
          <c:dLbls>
            <c:numFmt formatCode="#,##0" sourceLinked="0"/>
            <c:spPr>
              <a:noFill/>
              <a:ln>
                <a:noFill/>
              </a:ln>
              <a:effectLst/>
            </c:spPr>
            <c:txPr>
              <a:bodyPr/>
              <a:lstStyle/>
              <a:p>
                <a:pPr>
                  <a:defRPr sz="1100" b="0" i="0" u="none" strike="noStrike">
                    <a:solidFill>
                      <a:srgbClr val="2E3540"/>
                    </a:solidFill>
                    <a:latin typeface="Arial"/>
                  </a:defRPr>
                </a:pPr>
                <a:endParaRPr lang="en-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Referral</c:v>
                </c:pt>
                <c:pt idx="1">
                  <c:v>Existing customer</c:v>
                </c:pt>
                <c:pt idx="2">
                  <c:v>Showroom walk-in</c:v>
                </c:pt>
                <c:pt idx="3">
                  <c:v>Call center</c:v>
                </c:pt>
                <c:pt idx="4">
                  <c:v>Web form</c:v>
                </c:pt>
                <c:pt idx="5">
                  <c:v>Campaign</c:v>
                </c:pt>
                <c:pt idx="6">
                  <c:v>Social media</c:v>
                </c:pt>
              </c:strCache>
            </c:strRef>
          </c:cat>
          <c:val>
            <c:numRef>
              <c:f>Sheet1!$B$2:$B$8</c:f>
              <c:numCache>
                <c:formatCode>General</c:formatCode>
                <c:ptCount val="7"/>
                <c:pt idx="0">
                  <c:v>43.9</c:v>
                </c:pt>
                <c:pt idx="1">
                  <c:v>42.9</c:v>
                </c:pt>
                <c:pt idx="2">
                  <c:v>38.4</c:v>
                </c:pt>
                <c:pt idx="3">
                  <c:v>15.7</c:v>
                </c:pt>
                <c:pt idx="4">
                  <c:v>7.9</c:v>
                </c:pt>
                <c:pt idx="5">
                  <c:v>5.2</c:v>
                </c:pt>
                <c:pt idx="6">
                  <c:v>4.5999999999999996</c:v>
                </c:pt>
              </c:numCache>
            </c:numRef>
          </c:val>
          <c:extLst>
            <c:ext xmlns:c16="http://schemas.microsoft.com/office/drawing/2014/chart" uri="{C3380CC4-5D6E-409C-BE32-E72D297353CC}">
              <c16:uniqueId val="{00000000-FDF5-4D4C-BA3E-4F04CC914F7E}"/>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E3540"/>
                </a:solidFill>
                <a:latin typeface="Arial"/>
              </a:defRPr>
            </a:pPr>
            <a:endParaRPr lang="en-US"/>
          </a:p>
        </c:txPr>
        <c:crossAx val="2094734552"/>
        <c:crosses val="autoZero"/>
        <c:auto val="1"/>
        <c:lblAlgn val="ctr"/>
        <c:lblOffset val="100"/>
        <c:noMultiLvlLbl val="1"/>
      </c:catAx>
      <c:valAx>
        <c:axId val="2094734552"/>
        <c:scaling>
          <c:orientation val="minMax"/>
          <c:max val="50"/>
        </c:scaling>
        <c:delete val="0"/>
        <c:axPos val="t"/>
        <c:majorGridlines>
          <c:spPr>
            <a:ln w="6350" cap="flat">
              <a:solidFill>
                <a:srgbClr val="E3E7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57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1F24"/>
                </a:solidFill>
                <a:latin typeface="Calibri"/>
              </a:defRPr>
            </a:pPr>
            <a:r>
              <a:rPr lang="en-US" sz="1200" b="0" i="0" u="none" strike="noStrike" baseline="0" dirty="0"/>
              <a:t>Lead-to-sale lifecycle</a:t>
            </a:r>
            <a:r>
              <a:rPr lang="en-US" sz="1200" b="0" i="0" u="none" strike="noStrike" dirty="0">
                <a:solidFill>
                  <a:srgbClr val="1B1F24"/>
                </a:solidFill>
                <a:latin typeface="Calibri"/>
              </a:rPr>
              <a:t> totals in </a:t>
            </a:r>
            <a:r>
              <a:rPr lang="en-US" sz="1200" b="0" i="0" u="none" strike="noStrike" dirty="0" err="1">
                <a:solidFill>
                  <a:srgbClr val="1B1F24"/>
                </a:solidFill>
                <a:latin typeface="Calibri"/>
              </a:rPr>
              <a:t>gold.fact_leads</a:t>
            </a:r>
            <a:endParaRPr lang="en-US" sz="1200" b="0" i="0" u="none" strike="noStrike" dirty="0">
              <a:solidFill>
                <a:srgbClr val="1B1F24"/>
              </a:solidFill>
              <a:latin typeface="Calibri"/>
            </a:endParaRPr>
          </a:p>
        </c:rich>
      </c:tx>
      <c:overlay val="0"/>
    </c:title>
    <c:autoTitleDeleted val="0"/>
    <c:plotArea>
      <c:layout/>
      <c:barChart>
        <c:barDir val="bar"/>
        <c:grouping val="clustered"/>
        <c:varyColors val="0"/>
        <c:ser>
          <c:idx val="0"/>
          <c:order val="0"/>
          <c:tx>
            <c:strRef>
              <c:f>Sheet1!$B$1</c:f>
              <c:strCache>
                <c:ptCount val="1"/>
                <c:pt idx="0">
                  <c:v>Leads</c:v>
                </c:pt>
              </c:strCache>
            </c:strRef>
          </c:tx>
          <c:spPr>
            <a:solidFill>
              <a:srgbClr val="E8A33D"/>
            </a:solidFill>
            <a:effectLst/>
          </c:spPr>
          <c:invertIfNegative val="0"/>
          <c:dPt>
            <c:idx val="0"/>
            <c:invertIfNegative val="0"/>
            <c:bubble3D val="0"/>
            <c:spPr>
              <a:solidFill>
                <a:srgbClr val="E8A33D"/>
              </a:solidFill>
              <a:effectLst/>
            </c:spPr>
            <c:extLst>
              <c:ext xmlns:c16="http://schemas.microsoft.com/office/drawing/2014/chart" uri="{C3380CC4-5D6E-409C-BE32-E72D297353CC}">
                <c16:uniqueId val="{00000001-18EB-234B-888B-A28A601808CB}"/>
              </c:ext>
            </c:extLst>
          </c:dPt>
          <c:dPt>
            <c:idx val="1"/>
            <c:invertIfNegative val="0"/>
            <c:bubble3D val="0"/>
            <c:spPr>
              <a:solidFill>
                <a:srgbClr val="1B9AAA"/>
              </a:solidFill>
              <a:effectLst/>
            </c:spPr>
            <c:extLst>
              <c:ext xmlns:c16="http://schemas.microsoft.com/office/drawing/2014/chart" uri="{C3380CC4-5D6E-409C-BE32-E72D297353CC}">
                <c16:uniqueId val="{00000003-18EB-234B-888B-A28A601808CB}"/>
              </c:ext>
            </c:extLst>
          </c:dPt>
          <c:dPt>
            <c:idx val="2"/>
            <c:invertIfNegative val="0"/>
            <c:bubble3D val="0"/>
            <c:spPr>
              <a:solidFill>
                <a:srgbClr val="1B9AAA"/>
              </a:solidFill>
              <a:effectLst/>
            </c:spPr>
            <c:extLst>
              <c:ext xmlns:c16="http://schemas.microsoft.com/office/drawing/2014/chart" uri="{C3380CC4-5D6E-409C-BE32-E72D297353CC}">
                <c16:uniqueId val="{00000005-18EB-234B-888B-A28A601808CB}"/>
              </c:ext>
            </c:extLst>
          </c:dPt>
          <c:dPt>
            <c:idx val="3"/>
            <c:invertIfNegative val="0"/>
            <c:bubble3D val="0"/>
            <c:spPr>
              <a:solidFill>
                <a:srgbClr val="2E8B57"/>
              </a:solidFill>
              <a:effectLst/>
            </c:spPr>
            <c:extLst>
              <c:ext xmlns:c16="http://schemas.microsoft.com/office/drawing/2014/chart" uri="{C3380CC4-5D6E-409C-BE32-E72D297353CC}">
                <c16:uniqueId val="{00000007-18EB-234B-888B-A28A601808CB}"/>
              </c:ext>
            </c:extLst>
          </c:dPt>
          <c:dLbls>
            <c:numFmt formatCode="#,##0" sourceLinked="0"/>
            <c:spPr>
              <a:noFill/>
              <a:ln>
                <a:noFill/>
              </a:ln>
              <a:effectLst/>
            </c:spPr>
            <c:txPr>
              <a:bodyPr/>
              <a:lstStyle/>
              <a:p>
                <a:pPr>
                  <a:defRPr sz="1000" b="0" i="0" u="none" strike="noStrike">
                    <a:solidFill>
                      <a:srgbClr val="2E3540"/>
                    </a:solidFill>
                    <a:latin typeface="Arial"/>
                  </a:defRPr>
                </a:pPr>
                <a:endParaRPr lang="en-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Leads</c:v>
                </c:pt>
                <c:pt idx="1">
                  <c:v>Test drives</c:v>
                </c:pt>
                <c:pt idx="2">
                  <c:v>Offers</c:v>
                </c:pt>
                <c:pt idx="3">
                  <c:v>Won</c:v>
                </c:pt>
              </c:strCache>
            </c:strRef>
          </c:cat>
          <c:val>
            <c:numRef>
              <c:f>Sheet1!$B$2:$B$5</c:f>
              <c:numCache>
                <c:formatCode>General</c:formatCode>
                <c:ptCount val="4"/>
                <c:pt idx="0">
                  <c:v>15000</c:v>
                </c:pt>
                <c:pt idx="1">
                  <c:v>5686</c:v>
                </c:pt>
                <c:pt idx="2">
                  <c:v>7114</c:v>
                </c:pt>
                <c:pt idx="3">
                  <c:v>2736</c:v>
                </c:pt>
              </c:numCache>
            </c:numRef>
          </c:val>
          <c:extLst>
            <c:ext xmlns:c16="http://schemas.microsoft.com/office/drawing/2014/chart" uri="{C3380CC4-5D6E-409C-BE32-E72D297353CC}">
              <c16:uniqueId val="{00000008-18EB-234B-888B-A28A601808CB}"/>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E354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1F24"/>
                </a:solidFill>
                <a:latin typeface="Calibri"/>
              </a:defRPr>
            </a:pPr>
            <a:r>
              <a:rPr lang="en-US" sz="1200" b="0" i="0" u="none" strike="noStrike">
                <a:solidFill>
                  <a:srgbClr val="1B1F24"/>
                </a:solidFill>
                <a:latin typeface="Calibri"/>
              </a:rPr>
              <a:t>Calibration by score decile (% won)</a:t>
            </a:r>
          </a:p>
        </c:rich>
      </c:tx>
      <c:overlay val="0"/>
    </c:title>
    <c:autoTitleDeleted val="0"/>
    <c:plotArea>
      <c:layout/>
      <c:lineChart>
        <c:grouping val="standard"/>
        <c:varyColors val="0"/>
        <c:ser>
          <c:idx val="0"/>
          <c:order val="0"/>
          <c:tx>
            <c:strRef>
              <c:f>Sheet1!$B$1</c:f>
              <c:strCache>
                <c:ptCount val="1"/>
                <c:pt idx="0">
                  <c:v>Predicted</c:v>
                </c:pt>
              </c:strCache>
            </c:strRef>
          </c:tx>
          <c:spPr>
            <a:ln w="25400" cap="flat">
              <a:solidFill>
                <a:srgbClr val="1B9AAA"/>
              </a:solidFill>
              <a:prstDash val="solid"/>
              <a:round/>
            </a:ln>
            <a:effectLst/>
          </c:spPr>
          <c:marker>
            <c:symbol val="circle"/>
            <c:size val="6"/>
            <c:spPr>
              <a:solidFill>
                <a:srgbClr val="1B9AAA"/>
              </a:solidFill>
              <a:ln w="9525" cap="flat">
                <a:solidFill>
                  <a:srgbClr val="1B9AAA"/>
                </a:solidFill>
                <a:prstDash val="solid"/>
                <a:round/>
              </a:ln>
              <a:effectLst/>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0.2</c:v>
                </c:pt>
                <c:pt idx="1">
                  <c:v>1</c:v>
                </c:pt>
                <c:pt idx="2">
                  <c:v>2.2000000000000002</c:v>
                </c:pt>
                <c:pt idx="3">
                  <c:v>4</c:v>
                </c:pt>
                <c:pt idx="4">
                  <c:v>6.8</c:v>
                </c:pt>
                <c:pt idx="5">
                  <c:v>11.3</c:v>
                </c:pt>
                <c:pt idx="6">
                  <c:v>19.7</c:v>
                </c:pt>
                <c:pt idx="7">
                  <c:v>33.1</c:v>
                </c:pt>
                <c:pt idx="8">
                  <c:v>51.1</c:v>
                </c:pt>
                <c:pt idx="9">
                  <c:v>73.400000000000006</c:v>
                </c:pt>
              </c:numCache>
            </c:numRef>
          </c:val>
          <c:smooth val="0"/>
          <c:extLst>
            <c:ext xmlns:c16="http://schemas.microsoft.com/office/drawing/2014/chart" uri="{C3380CC4-5D6E-409C-BE32-E72D297353CC}">
              <c16:uniqueId val="{00000000-C171-D54E-93FD-A6D5726B19B3}"/>
            </c:ext>
          </c:extLst>
        </c:ser>
        <c:ser>
          <c:idx val="1"/>
          <c:order val="1"/>
          <c:tx>
            <c:strRef>
              <c:f>Sheet1!$C$1</c:f>
              <c:strCache>
                <c:ptCount val="1"/>
                <c:pt idx="0">
                  <c:v>Actual</c:v>
                </c:pt>
              </c:strCache>
            </c:strRef>
          </c:tx>
          <c:spPr>
            <a:ln w="25400" cap="flat">
              <a:solidFill>
                <a:srgbClr val="E8A33D"/>
              </a:solidFill>
              <a:prstDash val="solid"/>
              <a:round/>
            </a:ln>
            <a:effectLst/>
          </c:spPr>
          <c:marker>
            <c:symbol val="circle"/>
            <c:size val="6"/>
            <c:spPr>
              <a:solidFill>
                <a:srgbClr val="E8A33D"/>
              </a:solidFill>
              <a:ln w="9525" cap="flat">
                <a:solidFill>
                  <a:srgbClr val="E8A33D"/>
                </a:solidFill>
                <a:prstDash val="solid"/>
                <a:round/>
              </a:ln>
              <a:effectLst/>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0.3</c:v>
                </c:pt>
                <c:pt idx="1">
                  <c:v>1.7</c:v>
                </c:pt>
                <c:pt idx="2">
                  <c:v>5.0999999999999996</c:v>
                </c:pt>
                <c:pt idx="3">
                  <c:v>8</c:v>
                </c:pt>
                <c:pt idx="4">
                  <c:v>10.6</c:v>
                </c:pt>
                <c:pt idx="5">
                  <c:v>16.399999999999999</c:v>
                </c:pt>
                <c:pt idx="6">
                  <c:v>21.3</c:v>
                </c:pt>
                <c:pt idx="7">
                  <c:v>35.9</c:v>
                </c:pt>
                <c:pt idx="8">
                  <c:v>45.9</c:v>
                </c:pt>
                <c:pt idx="9">
                  <c:v>60.1</c:v>
                </c:pt>
              </c:numCache>
            </c:numRef>
          </c:val>
          <c:smooth val="0"/>
          <c:extLst>
            <c:ext xmlns:c16="http://schemas.microsoft.com/office/drawing/2014/chart" uri="{C3380CC4-5D6E-409C-BE32-E72D297353CC}">
              <c16:uniqueId val="{00000001-C171-D54E-93FD-A6D5726B19B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57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7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1F24"/>
                </a:solidFill>
                <a:latin typeface="Calibri"/>
              </a:defRPr>
            </a:pPr>
            <a:r>
              <a:rPr lang="en-US" sz="1200" b="0" i="0" u="none" strike="noStrike">
                <a:solidFill>
                  <a:srgbClr val="1B1F24"/>
                </a:solidFill>
                <a:latin typeface="Calibri"/>
              </a:rPr>
              <a:t>Permutation importance (AUC drop when shuffled)</a:t>
            </a:r>
          </a:p>
        </c:rich>
      </c:tx>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2E3540"/>
            </a:solidFill>
            <a:effectLst/>
          </c:spPr>
          <c:invertIfNegative val="0"/>
          <c:dLbls>
            <c:numFmt formatCode="0.000" sourceLinked="0"/>
            <c:spPr>
              <a:noFill/>
              <a:ln>
                <a:noFill/>
              </a:ln>
              <a:effectLst/>
            </c:spPr>
            <c:txPr>
              <a:bodyPr/>
              <a:lstStyle/>
              <a:p>
                <a:pPr>
                  <a:defRPr sz="900" b="0" i="0" u="none" strike="noStrike">
                    <a:solidFill>
                      <a:srgbClr val="2E3540"/>
                    </a:solidFill>
                    <a:latin typeface="Arial"/>
                  </a:defRPr>
                </a:pPr>
                <a:endParaRPr lang="en-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source</c:v>
                </c:pt>
                <c:pt idx="1">
                  <c:v>lead_age_days</c:v>
                </c:pt>
                <c:pt idx="2">
                  <c:v>test_drive_satisfaction</c:v>
                </c:pt>
                <c:pt idx="3">
                  <c:v>days_to_offer</c:v>
                </c:pt>
                <c:pt idx="4">
                  <c:v>offer_discount_pct</c:v>
                </c:pt>
                <c:pt idx="5">
                  <c:v>log_list_price</c:v>
                </c:pt>
                <c:pt idx="6">
                  <c:v>days_to_test_drive</c:v>
                </c:pt>
                <c:pt idx="7">
                  <c:v>advisor_id</c:v>
                </c:pt>
              </c:strCache>
            </c:strRef>
          </c:cat>
          <c:val>
            <c:numRef>
              <c:f>Sheet1!$B$2:$B$9</c:f>
              <c:numCache>
                <c:formatCode>General</c:formatCode>
                <c:ptCount val="8"/>
                <c:pt idx="0">
                  <c:v>0.126</c:v>
                </c:pt>
                <c:pt idx="1">
                  <c:v>5.7000000000000002E-2</c:v>
                </c:pt>
                <c:pt idx="2">
                  <c:v>0.02</c:v>
                </c:pt>
                <c:pt idx="3">
                  <c:v>1.6E-2</c:v>
                </c:pt>
                <c:pt idx="4">
                  <c:v>1.2E-2</c:v>
                </c:pt>
                <c:pt idx="5">
                  <c:v>1.2E-2</c:v>
                </c:pt>
                <c:pt idx="6">
                  <c:v>8.9999999999999993E-3</c:v>
                </c:pt>
                <c:pt idx="7">
                  <c:v>8.0000000000000002E-3</c:v>
                </c:pt>
              </c:numCache>
            </c:numRef>
          </c:val>
          <c:extLst>
            <c:ext xmlns:c16="http://schemas.microsoft.com/office/drawing/2014/chart" uri="{C3380CC4-5D6E-409C-BE32-E72D297353CC}">
              <c16:uniqueId val="{00000000-6584-D84C-A6A4-7706E8A1AC79}"/>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2E354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8305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one-sentence summary: three dirty source systems, Bronze→Silver→Gold on Fabric, one star schema read by both Power BI (Direct Lake) and the lead-scoring assistant. Same numbers everywhere.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come from gold.fact_leads (sanity cell in 03_gold_star_schema). Make the point: ranking open leads is only interesting for the digital channels; referral leads close themselves.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 diagram is the one Sude sketched on day 1. Interactions carry free-text advisor notes in Turkish — that is the raw material for the AI product.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explicitly: in a real project there is no ground truth — that is why every repair is logged to dq_results. Here the synthetic ground truth let me validate the checks, not just write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to defend: one lakehouse with schemas instead of three lakehouses or a Warehouse. Answer: simplest thing that keeps the boundaries explicit; Warehouse is a next step for T-SQL-heavy consumers.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impute the missing net price instead of leaving null? A revenue KPI with silent gaps is worse than a documented estimate; the imputed rows carry the flag final_price_imputed. Mention try_to_timestamp with 7 patterns and the CORRECTED parser policy if asked about the date handling.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row-level security: a DealerManager role on dim_dealer[dealer_id] with a user→dealer mapping table — not built in two days, but it is the answer to 'veri erişimi, yetkilendirme'.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just use Fabric Copilot': Copilot answers questions about data; this ranks work for a specific role and closes the loop with an action. Different job.</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to state yourself: synthetic notes are cleaner than real ones; dealer/advisor effects make cross-dealer ranking unfair (fine within a dealer); explanations are single-feature ablation, SHAP is the upgrade; no drift monitoring yet.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4"/>
        </a:solidFill>
        <a:effectLst/>
      </p:bgPr>
    </p:bg>
    <p:spTree>
      <p:nvGrpSpPr>
        <p:cNvPr id="1" name=""/>
        <p:cNvGrpSpPr/>
        <p:nvPr/>
      </p:nvGrpSpPr>
      <p:grpSpPr>
        <a:xfrm>
          <a:off x="0" y="0"/>
          <a:ext cx="0" cy="0"/>
          <a:chOff x="0" y="0"/>
          <a:chExt cx="0" cy="0"/>
        </a:xfrm>
      </p:grpSpPr>
      <p:sp>
        <p:nvSpPr>
          <p:cNvPr id="2" name="Text 0"/>
          <p:cNvSpPr txBox="1"/>
          <p:nvPr/>
        </p:nvSpPr>
        <p:spPr>
          <a:xfrm>
            <a:off x="548640" y="1554480"/>
            <a:ext cx="8229600" cy="18288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Lead-to-Sale Data Platform</a:t>
            </a:r>
            <a:endParaRPr lang="en-US" sz="4400" dirty="0"/>
          </a:p>
          <a:p>
            <a:pPr marL="0" indent="0">
              <a:buNone/>
            </a:pPr>
            <a:r>
              <a:rPr lang="en-US" sz="4400" b="1" dirty="0">
                <a:solidFill>
                  <a:srgbClr val="FFFFFF"/>
                </a:solidFill>
                <a:latin typeface="Cambria" pitchFamily="34" charset="0"/>
                <a:ea typeface="Cambria" pitchFamily="34" charset="-122"/>
                <a:cs typeface="Cambria" pitchFamily="34" charset="-120"/>
              </a:rPr>
              <a:t>on Microsoft Fabric</a:t>
            </a:r>
            <a:endParaRPr lang="en-US" sz="4400" dirty="0"/>
          </a:p>
        </p:txBody>
      </p:sp>
      <p:sp>
        <p:nvSpPr>
          <p:cNvPr id="3" name="Text 1"/>
          <p:cNvSpPr txBox="1"/>
          <p:nvPr/>
        </p:nvSpPr>
        <p:spPr>
          <a:xfrm>
            <a:off x="548640" y="3474720"/>
            <a:ext cx="8229600" cy="457200"/>
          </a:xfrm>
          <a:prstGeom prst="rect">
            <a:avLst/>
          </a:prstGeom>
          <a:noFill/>
          <a:ln/>
        </p:spPr>
        <p:txBody>
          <a:bodyPr wrap="square" lIns="0" tIns="0" rIns="0" bIns="0" rtlCol="0" anchor="ctr"/>
          <a:lstStyle/>
          <a:p>
            <a:pPr marL="0" indent="0">
              <a:buNone/>
            </a:pPr>
            <a:r>
              <a:rPr lang="en-US" sz="1800" dirty="0">
                <a:solidFill>
                  <a:srgbClr val="E8A33D"/>
                </a:solidFill>
                <a:latin typeface="Calibri" pitchFamily="34" charset="0"/>
                <a:ea typeface="Calibri" pitchFamily="34" charset="-122"/>
                <a:cs typeface="Calibri" pitchFamily="34" charset="-120"/>
              </a:rPr>
              <a:t>Medallion architecture · Power BI semantic model · AI-assisted lead intelligence</a:t>
            </a:r>
            <a:endParaRPr lang="en-US" sz="1800" dirty="0"/>
          </a:p>
        </p:txBody>
      </p:sp>
      <p:sp>
        <p:nvSpPr>
          <p:cNvPr id="4" name="Text 2"/>
          <p:cNvSpPr txBox="1"/>
          <p:nvPr/>
        </p:nvSpPr>
        <p:spPr>
          <a:xfrm>
            <a:off x="548640" y="5394960"/>
            <a:ext cx="10058400" cy="365760"/>
          </a:xfrm>
          <a:prstGeom prst="rect">
            <a:avLst/>
          </a:prstGeom>
          <a:noFill/>
          <a:ln/>
        </p:spPr>
        <p:txBody>
          <a:bodyPr wrap="square" lIns="0" tIns="0" rIns="0" bIns="0" rtlCol="0" anchor="ctr"/>
          <a:lstStyle/>
          <a:p>
            <a:pPr marL="0" indent="0">
              <a:buNone/>
            </a:pPr>
            <a:r>
              <a:rPr lang="en-US" sz="1200" dirty="0">
                <a:solidFill>
                  <a:srgbClr val="C9D1DB"/>
                </a:solidFill>
                <a:latin typeface="Calibri" pitchFamily="34" charset="0"/>
                <a:ea typeface="Calibri" pitchFamily="34" charset="-122"/>
                <a:cs typeface="Calibri" pitchFamily="34" charset="-120"/>
              </a:rPr>
              <a:t>Sude Bozkurt · Case study for Veri Yönetimi ve Uygulamaları Uzman Yardımcısı · Borusan Otomotiv İthalat · September 2026</a:t>
            </a:r>
            <a:endParaRPr lang="en-US" sz="1200" dirty="0"/>
          </a:p>
        </p:txBody>
      </p:sp>
      <p:sp>
        <p:nvSpPr>
          <p:cNvPr id="5" name="Shape 3"/>
          <p:cNvSpPr/>
          <p:nvPr/>
        </p:nvSpPr>
        <p:spPr>
          <a:xfrm>
            <a:off x="9418320" y="1828800"/>
            <a:ext cx="2194560" cy="566928"/>
          </a:xfrm>
          <a:prstGeom prst="roundRect">
            <a:avLst>
              <a:gd name="adj" fmla="val 16129"/>
            </a:avLst>
          </a:prstGeom>
          <a:solidFill>
            <a:srgbClr val="E8A33D"/>
          </a:solidFill>
          <a:ln w="12700">
            <a:solidFill>
              <a:srgbClr val="E8A33D"/>
            </a:solidFill>
            <a:prstDash val="solid"/>
          </a:ln>
        </p:spPr>
        <p:txBody>
          <a:bodyPr/>
          <a:lstStyle/>
          <a:p>
            <a:endParaRPr lang="en-TR"/>
          </a:p>
        </p:txBody>
      </p:sp>
      <p:sp>
        <p:nvSpPr>
          <p:cNvPr id="6" name="Text 4"/>
          <p:cNvSpPr txBox="1"/>
          <p:nvPr/>
        </p:nvSpPr>
        <p:spPr>
          <a:xfrm>
            <a:off x="9418320" y="1828800"/>
            <a:ext cx="2194560" cy="566928"/>
          </a:xfrm>
          <a:prstGeom prst="rect">
            <a:avLst/>
          </a:prstGeom>
          <a:noFill/>
          <a:ln/>
        </p:spPr>
        <p:txBody>
          <a:bodyPr wrap="square" lIns="0" tIns="0" rIns="0" bIns="0" rtlCol="0" anchor="ctr"/>
          <a:lstStyle/>
          <a:p>
            <a:pPr marL="0" indent="0" algn="ctr">
              <a:buNone/>
            </a:pPr>
            <a:r>
              <a:rPr lang="en-US" sz="1600" b="1" dirty="0">
                <a:solidFill>
                  <a:srgbClr val="1B1F24"/>
                </a:solidFill>
                <a:latin typeface="Cambria" pitchFamily="34" charset="0"/>
                <a:ea typeface="Cambria" pitchFamily="34" charset="-122"/>
                <a:cs typeface="Cambria" pitchFamily="34" charset="-120"/>
              </a:rPr>
              <a:t>Gold</a:t>
            </a:r>
            <a:endParaRPr lang="en-US" sz="1600" dirty="0"/>
          </a:p>
        </p:txBody>
      </p:sp>
      <p:sp>
        <p:nvSpPr>
          <p:cNvPr id="7" name="Shape 5"/>
          <p:cNvSpPr/>
          <p:nvPr/>
        </p:nvSpPr>
        <p:spPr>
          <a:xfrm>
            <a:off x="9418320" y="2606040"/>
            <a:ext cx="2194560" cy="566928"/>
          </a:xfrm>
          <a:prstGeom prst="roundRect">
            <a:avLst>
              <a:gd name="adj" fmla="val 16129"/>
            </a:avLst>
          </a:prstGeom>
          <a:solidFill>
            <a:srgbClr val="B8C0CC"/>
          </a:solidFill>
          <a:ln w="12700">
            <a:solidFill>
              <a:srgbClr val="B8C0CC"/>
            </a:solidFill>
            <a:prstDash val="solid"/>
          </a:ln>
        </p:spPr>
        <p:txBody>
          <a:bodyPr/>
          <a:lstStyle/>
          <a:p>
            <a:endParaRPr lang="en-TR"/>
          </a:p>
        </p:txBody>
      </p:sp>
      <p:sp>
        <p:nvSpPr>
          <p:cNvPr id="8" name="Text 6"/>
          <p:cNvSpPr txBox="1"/>
          <p:nvPr/>
        </p:nvSpPr>
        <p:spPr>
          <a:xfrm>
            <a:off x="9418320" y="2606040"/>
            <a:ext cx="2194560" cy="566928"/>
          </a:xfrm>
          <a:prstGeom prst="rect">
            <a:avLst/>
          </a:prstGeom>
          <a:noFill/>
          <a:ln/>
        </p:spPr>
        <p:txBody>
          <a:bodyPr wrap="square" lIns="0" tIns="0" rIns="0" bIns="0" rtlCol="0" anchor="ctr"/>
          <a:lstStyle/>
          <a:p>
            <a:pPr marL="0" indent="0" algn="ctr">
              <a:buNone/>
            </a:pPr>
            <a:r>
              <a:rPr lang="en-US" sz="1600" b="1" dirty="0">
                <a:solidFill>
                  <a:srgbClr val="1B1F24"/>
                </a:solidFill>
                <a:latin typeface="Cambria" pitchFamily="34" charset="0"/>
                <a:ea typeface="Cambria" pitchFamily="34" charset="-122"/>
                <a:cs typeface="Cambria" pitchFamily="34" charset="-120"/>
              </a:rPr>
              <a:t>Silver</a:t>
            </a:r>
            <a:endParaRPr lang="en-US" sz="1600" dirty="0"/>
          </a:p>
        </p:txBody>
      </p:sp>
      <p:sp>
        <p:nvSpPr>
          <p:cNvPr id="9" name="Shape 7"/>
          <p:cNvSpPr/>
          <p:nvPr/>
        </p:nvSpPr>
        <p:spPr>
          <a:xfrm>
            <a:off x="9418320" y="3383280"/>
            <a:ext cx="2194560" cy="566928"/>
          </a:xfrm>
          <a:prstGeom prst="roundRect">
            <a:avLst>
              <a:gd name="adj" fmla="val 16129"/>
            </a:avLst>
          </a:prstGeom>
          <a:solidFill>
            <a:srgbClr val="9C6B3C"/>
          </a:solidFill>
          <a:ln w="12700">
            <a:solidFill>
              <a:srgbClr val="9C6B3C"/>
            </a:solidFill>
            <a:prstDash val="solid"/>
          </a:ln>
        </p:spPr>
        <p:txBody>
          <a:bodyPr/>
          <a:lstStyle/>
          <a:p>
            <a:endParaRPr lang="en-TR"/>
          </a:p>
        </p:txBody>
      </p:sp>
      <p:sp>
        <p:nvSpPr>
          <p:cNvPr id="10" name="Text 8"/>
          <p:cNvSpPr txBox="1"/>
          <p:nvPr/>
        </p:nvSpPr>
        <p:spPr>
          <a:xfrm>
            <a:off x="9418320" y="3383280"/>
            <a:ext cx="2194560" cy="566928"/>
          </a:xfrm>
          <a:prstGeom prst="rect">
            <a:avLst/>
          </a:prstGeom>
          <a:noFill/>
          <a:ln/>
        </p:spPr>
        <p:txBody>
          <a:bodyPr wrap="square" lIns="0" tIns="0" rIns="0" bIns="0" rtlCol="0" anchor="ctr"/>
          <a:lstStyle/>
          <a:p>
            <a:pPr marL="0" indent="0" algn="ctr">
              <a:buNone/>
            </a:pPr>
            <a:r>
              <a:rPr lang="en-US" sz="1600" b="1" dirty="0">
                <a:solidFill>
                  <a:srgbClr val="1B1F24"/>
                </a:solidFill>
                <a:latin typeface="Cambria" pitchFamily="34" charset="0"/>
                <a:ea typeface="Cambria" pitchFamily="34" charset="-122"/>
                <a:cs typeface="Cambria" pitchFamily="34" charset="-120"/>
              </a:rPr>
              <a:t>Bronze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1B1F24"/>
                </a:solidFill>
                <a:latin typeface="Cambria" pitchFamily="34" charset="0"/>
                <a:ea typeface="Cambria" pitchFamily="34" charset="-122"/>
                <a:cs typeface="Cambria" pitchFamily="34" charset="-120"/>
              </a:rPr>
              <a:t>The business problem</a:t>
            </a:r>
            <a:endParaRPr lang="en-US" sz="3200" dirty="0"/>
          </a:p>
        </p:txBody>
      </p:sp>
      <p:sp>
        <p:nvSpPr>
          <p:cNvPr id="3" name="Text 1"/>
          <p:cNvSpPr txBox="1"/>
          <p:nvPr/>
        </p:nvSpPr>
        <p:spPr>
          <a:xfrm>
            <a:off x="548640" y="1097280"/>
            <a:ext cx="11091672" cy="365760"/>
          </a:xfrm>
          <a:prstGeom prst="rect">
            <a:avLst/>
          </a:prstGeom>
          <a:noFill/>
          <a:ln/>
        </p:spPr>
        <p:txBody>
          <a:bodyPr wrap="square" lIns="0" tIns="0" rIns="0" bIns="0" rtlCol="0" anchor="ctr"/>
          <a:lstStyle/>
          <a:p>
            <a:pPr marL="0" indent="0">
              <a:buNone/>
            </a:pPr>
            <a:r>
              <a:rPr lang="en-US" sz="1400" dirty="0">
                <a:solidFill>
                  <a:srgbClr val="5B6573"/>
                </a:solidFill>
                <a:latin typeface="Calibri" pitchFamily="34" charset="0"/>
                <a:ea typeface="Calibri" pitchFamily="34" charset="-122"/>
                <a:cs typeface="Calibri" pitchFamily="34" charset="-120"/>
              </a:rPr>
              <a:t>An importer with a dealer network: volume comes from digital channels, conversion comes from people</a:t>
            </a:r>
            <a:endParaRPr lang="en-US" sz="1400" dirty="0"/>
          </a:p>
        </p:txBody>
      </p:sp>
      <p:sp>
        <p:nvSpPr>
          <p:cNvPr id="4" name="Text 2"/>
          <p:cNvSpPr txBox="1"/>
          <p:nvPr/>
        </p:nvSpPr>
        <p:spPr>
          <a:xfrm>
            <a:off x="548640" y="1737360"/>
            <a:ext cx="2377440" cy="822960"/>
          </a:xfrm>
          <a:prstGeom prst="rect">
            <a:avLst/>
          </a:prstGeom>
          <a:noFill/>
          <a:ln/>
        </p:spPr>
        <p:txBody>
          <a:bodyPr wrap="square" lIns="0" tIns="0" rIns="0" bIns="0" rtlCol="0" anchor="ctr"/>
          <a:lstStyle/>
          <a:p>
            <a:pPr marL="0" indent="0">
              <a:buNone/>
            </a:pPr>
            <a:r>
              <a:rPr lang="en-US" sz="4000" b="1" dirty="0">
                <a:solidFill>
                  <a:srgbClr val="1B1F24"/>
                </a:solidFill>
                <a:latin typeface="Cambria" pitchFamily="34" charset="0"/>
                <a:ea typeface="Cambria" pitchFamily="34" charset="-122"/>
                <a:cs typeface="Cambria" pitchFamily="34" charset="-120"/>
              </a:rPr>
              <a:t>15,000</a:t>
            </a:r>
            <a:endParaRPr lang="en-US" sz="4000" dirty="0"/>
          </a:p>
        </p:txBody>
      </p:sp>
      <p:sp>
        <p:nvSpPr>
          <p:cNvPr id="5" name="Text 3"/>
          <p:cNvSpPr txBox="1"/>
          <p:nvPr/>
        </p:nvSpPr>
        <p:spPr>
          <a:xfrm>
            <a:off x="548640" y="2560320"/>
            <a:ext cx="2377440" cy="457200"/>
          </a:xfrm>
          <a:prstGeom prst="rect">
            <a:avLst/>
          </a:prstGeom>
          <a:noFill/>
          <a:ln/>
        </p:spPr>
        <p:txBody>
          <a:bodyPr wrap="square" lIns="0" tIns="0" rIns="0" bIns="0" rtlCol="0" anchor="ctr"/>
          <a:lstStyle/>
          <a:p>
            <a:pPr marL="0" indent="0">
              <a:buNone/>
            </a:pPr>
            <a:r>
              <a:rPr lang="en-US" sz="1150" dirty="0">
                <a:solidFill>
                  <a:srgbClr val="5B6573"/>
                </a:solidFill>
                <a:latin typeface="Calibri" pitchFamily="34" charset="0"/>
                <a:ea typeface="Calibri" pitchFamily="34" charset="-122"/>
                <a:cs typeface="Calibri" pitchFamily="34" charset="-120"/>
              </a:rPr>
              <a:t>leads in 24 months (Sep 2024 – Aug 2026)</a:t>
            </a:r>
            <a:endParaRPr lang="en-US" sz="1150" dirty="0"/>
          </a:p>
        </p:txBody>
      </p:sp>
      <p:sp>
        <p:nvSpPr>
          <p:cNvPr id="6" name="Text 4"/>
          <p:cNvSpPr txBox="1"/>
          <p:nvPr/>
        </p:nvSpPr>
        <p:spPr>
          <a:xfrm>
            <a:off x="548640" y="3200400"/>
            <a:ext cx="2377440" cy="822960"/>
          </a:xfrm>
          <a:prstGeom prst="rect">
            <a:avLst/>
          </a:prstGeom>
          <a:noFill/>
          <a:ln/>
        </p:spPr>
        <p:txBody>
          <a:bodyPr wrap="square" lIns="0" tIns="0" rIns="0" bIns="0" rtlCol="0" anchor="ctr"/>
          <a:lstStyle/>
          <a:p>
            <a:pPr marL="0" indent="0">
              <a:buNone/>
            </a:pPr>
            <a:r>
              <a:rPr lang="en-US" sz="4000" b="1" dirty="0">
                <a:solidFill>
                  <a:srgbClr val="2E8B57"/>
                </a:solidFill>
                <a:latin typeface="Cambria" pitchFamily="34" charset="0"/>
                <a:ea typeface="Cambria" pitchFamily="34" charset="-122"/>
                <a:cs typeface="Cambria" pitchFamily="34" charset="-120"/>
              </a:rPr>
              <a:t>18.2%</a:t>
            </a:r>
            <a:endParaRPr lang="en-US" sz="4000" dirty="0"/>
          </a:p>
        </p:txBody>
      </p:sp>
      <p:sp>
        <p:nvSpPr>
          <p:cNvPr id="7" name="Text 5"/>
          <p:cNvSpPr txBox="1"/>
          <p:nvPr/>
        </p:nvSpPr>
        <p:spPr>
          <a:xfrm>
            <a:off x="548640" y="4023360"/>
            <a:ext cx="2377440" cy="457200"/>
          </a:xfrm>
          <a:prstGeom prst="rect">
            <a:avLst/>
          </a:prstGeom>
          <a:noFill/>
          <a:ln/>
        </p:spPr>
        <p:txBody>
          <a:bodyPr wrap="square" lIns="0" tIns="0" rIns="0" bIns="0" rtlCol="0" anchor="ctr"/>
          <a:lstStyle/>
          <a:p>
            <a:pPr marL="0" indent="0">
              <a:buNone/>
            </a:pPr>
            <a:r>
              <a:rPr lang="en-US" sz="1150" dirty="0">
                <a:solidFill>
                  <a:srgbClr val="5B6573"/>
                </a:solidFill>
                <a:latin typeface="Calibri" pitchFamily="34" charset="0"/>
                <a:ea typeface="Calibri" pitchFamily="34" charset="-122"/>
                <a:cs typeface="Calibri" pitchFamily="34" charset="-120"/>
              </a:rPr>
              <a:t>lead-to-sale conversion</a:t>
            </a:r>
            <a:endParaRPr lang="en-US" sz="1150" dirty="0"/>
          </a:p>
        </p:txBody>
      </p:sp>
      <p:sp>
        <p:nvSpPr>
          <p:cNvPr id="8" name="Text 6"/>
          <p:cNvSpPr txBox="1"/>
          <p:nvPr/>
        </p:nvSpPr>
        <p:spPr>
          <a:xfrm>
            <a:off x="548640" y="4663440"/>
            <a:ext cx="2377440" cy="822960"/>
          </a:xfrm>
          <a:prstGeom prst="rect">
            <a:avLst/>
          </a:prstGeom>
          <a:noFill/>
          <a:ln/>
        </p:spPr>
        <p:txBody>
          <a:bodyPr wrap="square" lIns="0" tIns="0" rIns="0" bIns="0" rtlCol="0" anchor="ctr"/>
          <a:lstStyle/>
          <a:p>
            <a:pPr marL="0" indent="0">
              <a:buNone/>
            </a:pPr>
            <a:r>
              <a:rPr lang="en-US" sz="4000" b="1" dirty="0">
                <a:solidFill>
                  <a:srgbClr val="B3413A"/>
                </a:solidFill>
                <a:latin typeface="Cambria" pitchFamily="34" charset="0"/>
                <a:ea typeface="Cambria" pitchFamily="34" charset="-122"/>
                <a:cs typeface="Cambria" pitchFamily="34" charset="-120"/>
              </a:rPr>
              <a:t>40–80</a:t>
            </a:r>
            <a:endParaRPr lang="en-US" sz="4000" dirty="0"/>
          </a:p>
        </p:txBody>
      </p:sp>
      <p:sp>
        <p:nvSpPr>
          <p:cNvPr id="9" name="Text 7"/>
          <p:cNvSpPr txBox="1"/>
          <p:nvPr/>
        </p:nvSpPr>
        <p:spPr>
          <a:xfrm>
            <a:off x="548640" y="5486400"/>
            <a:ext cx="2377440" cy="457200"/>
          </a:xfrm>
          <a:prstGeom prst="rect">
            <a:avLst/>
          </a:prstGeom>
          <a:noFill/>
          <a:ln/>
        </p:spPr>
        <p:txBody>
          <a:bodyPr wrap="square" lIns="0" tIns="0" rIns="0" bIns="0" rtlCol="0" anchor="ctr"/>
          <a:lstStyle/>
          <a:p>
            <a:pPr marL="0" indent="0">
              <a:buNone/>
            </a:pPr>
            <a:r>
              <a:rPr lang="en-US" sz="1150" dirty="0">
                <a:solidFill>
                  <a:srgbClr val="5B6573"/>
                </a:solidFill>
                <a:latin typeface="Calibri" pitchFamily="34" charset="0"/>
                <a:ea typeface="Calibri" pitchFamily="34" charset="-122"/>
                <a:cs typeface="Calibri" pitchFamily="34" charset="-120"/>
              </a:rPr>
              <a:t>open leads per advisor, worked in CRM order</a:t>
            </a:r>
            <a:endParaRPr lang="en-US" sz="1150" dirty="0"/>
          </a:p>
        </p:txBody>
      </p:sp>
      <p:graphicFrame>
        <p:nvGraphicFramePr>
          <p:cNvPr id="10" name="Chart 0"/>
          <p:cNvGraphicFramePr/>
          <p:nvPr/>
        </p:nvGraphicFramePr>
        <p:xfrm>
          <a:off x="3383280" y="1645920"/>
          <a:ext cx="82296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txBox="1"/>
          <p:nvPr/>
        </p:nvSpPr>
        <p:spPr>
          <a:xfrm>
            <a:off x="3383280" y="6035040"/>
            <a:ext cx="8229600" cy="365760"/>
          </a:xfrm>
          <a:prstGeom prst="rect">
            <a:avLst/>
          </a:prstGeom>
          <a:noFill/>
          <a:ln/>
        </p:spPr>
        <p:txBody>
          <a:bodyPr wrap="square" lIns="0" tIns="0" rIns="0" bIns="0" rtlCol="0" anchor="ctr"/>
          <a:lstStyle/>
          <a:p>
            <a:pPr marL="0" indent="0">
              <a:buNone/>
            </a:pPr>
            <a:r>
              <a:rPr lang="en-US" sz="1100" i="1" dirty="0">
                <a:solidFill>
                  <a:srgbClr val="5B6573"/>
                </a:solidFill>
                <a:latin typeface="Calibri" pitchFamily="34" charset="0"/>
                <a:ea typeface="Calibri" pitchFamily="34" charset="-122"/>
                <a:cs typeface="Calibri" pitchFamily="34" charset="-120"/>
              </a:rPr>
              <a:t>Web + social + campaign = 55% of leads, 6.5% conversion. Referral + showroom = 27% of leads, 40% conversion. The high-volume channels need triage — that is where a data product pays off.</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1B1F24"/>
                </a:solidFill>
                <a:latin typeface="Cambria" pitchFamily="34" charset="0"/>
                <a:ea typeface="Cambria" pitchFamily="34" charset="-122"/>
                <a:cs typeface="Cambria" pitchFamily="34" charset="-120"/>
              </a:rPr>
              <a:t>One dataset, two deliverables</a:t>
            </a:r>
            <a:endParaRPr lang="en-US" sz="3200" dirty="0"/>
          </a:p>
        </p:txBody>
      </p:sp>
      <p:sp>
        <p:nvSpPr>
          <p:cNvPr id="3" name="Text 1"/>
          <p:cNvSpPr txBox="1"/>
          <p:nvPr/>
        </p:nvSpPr>
        <p:spPr>
          <a:xfrm>
            <a:off x="548640" y="1097280"/>
            <a:ext cx="11091672" cy="365760"/>
          </a:xfrm>
          <a:prstGeom prst="rect">
            <a:avLst/>
          </a:prstGeom>
          <a:noFill/>
          <a:ln/>
        </p:spPr>
        <p:txBody>
          <a:bodyPr wrap="square" lIns="0" tIns="0" rIns="0" bIns="0" rtlCol="0" anchor="ctr"/>
          <a:lstStyle/>
          <a:p>
            <a:pPr marL="0" indent="0">
              <a:buNone/>
            </a:pPr>
            <a:r>
              <a:rPr lang="en-US" sz="1400" dirty="0">
                <a:solidFill>
                  <a:srgbClr val="5B6573"/>
                </a:solidFill>
                <a:latin typeface="Calibri" pitchFamily="34" charset="0"/>
                <a:ea typeface="Calibri" pitchFamily="34" charset="-122"/>
                <a:cs typeface="Calibri" pitchFamily="34" charset="-120"/>
              </a:rPr>
              <a:t>A synthetic but realistic </a:t>
            </a:r>
            <a:r>
              <a:rPr lang="en-US" sz="1400" dirty="0">
                <a:solidFill>
                  <a:srgbClr val="5B6573"/>
                </a:solidFill>
                <a:latin typeface="Calibri" pitchFamily="34" charset="0"/>
                <a:cs typeface="Calibri" pitchFamily="34" charset="-120"/>
              </a:rPr>
              <a:t>lead-to-sale lifecycle that </a:t>
            </a:r>
            <a:r>
              <a:rPr lang="en-US" sz="1400" dirty="0">
                <a:solidFill>
                  <a:srgbClr val="5B6573"/>
                </a:solidFill>
                <a:latin typeface="Calibri" pitchFamily="34" charset="0"/>
                <a:ea typeface="Calibri" pitchFamily="34" charset="-122"/>
                <a:cs typeface="Calibri" pitchFamily="34" charset="-120"/>
              </a:rPr>
              <a:t>feeds both the Medallion build and the AI product</a:t>
            </a:r>
            <a:endParaRPr lang="en-US" sz="1400" dirty="0"/>
          </a:p>
        </p:txBody>
      </p:sp>
      <p:sp>
        <p:nvSpPr>
          <p:cNvPr id="4" name="Shape 2"/>
          <p:cNvSpPr/>
          <p:nvPr/>
        </p:nvSpPr>
        <p:spPr>
          <a:xfrm>
            <a:off x="2834640" y="1828800"/>
            <a:ext cx="1737360" cy="502920"/>
          </a:xfrm>
          <a:prstGeom prst="roundRect">
            <a:avLst>
              <a:gd name="adj" fmla="val 10909"/>
            </a:avLst>
          </a:prstGeom>
          <a:solidFill>
            <a:srgbClr val="2E3540"/>
          </a:solidFill>
          <a:ln w="12700">
            <a:solidFill>
              <a:srgbClr val="2E3540"/>
            </a:solidFill>
            <a:prstDash val="solid"/>
          </a:ln>
        </p:spPr>
        <p:txBody>
          <a:bodyPr/>
          <a:lstStyle/>
          <a:p>
            <a:endParaRPr lang="en-TR"/>
          </a:p>
        </p:txBody>
      </p:sp>
      <p:sp>
        <p:nvSpPr>
          <p:cNvPr id="5" name="Text 3"/>
          <p:cNvSpPr txBox="1"/>
          <p:nvPr/>
        </p:nvSpPr>
        <p:spPr>
          <a:xfrm>
            <a:off x="2834640" y="1828800"/>
            <a:ext cx="1737360" cy="502920"/>
          </a:xfrm>
          <a:prstGeom prst="rect">
            <a:avLst/>
          </a:prstGeom>
          <a:no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CUSTOMERS</a:t>
            </a:r>
            <a:endParaRPr lang="en-US" sz="1200" dirty="0"/>
          </a:p>
        </p:txBody>
      </p:sp>
      <p:sp>
        <p:nvSpPr>
          <p:cNvPr id="6" name="Shape 4"/>
          <p:cNvSpPr/>
          <p:nvPr/>
        </p:nvSpPr>
        <p:spPr>
          <a:xfrm>
            <a:off x="822960" y="3017520"/>
            <a:ext cx="1737360" cy="502920"/>
          </a:xfrm>
          <a:prstGeom prst="roundRect">
            <a:avLst>
              <a:gd name="adj" fmla="val 10909"/>
            </a:avLst>
          </a:prstGeom>
          <a:solidFill>
            <a:srgbClr val="2E3540"/>
          </a:solidFill>
          <a:ln w="12700">
            <a:solidFill>
              <a:srgbClr val="2E3540"/>
            </a:solidFill>
            <a:prstDash val="solid"/>
          </a:ln>
        </p:spPr>
        <p:txBody>
          <a:bodyPr/>
          <a:lstStyle/>
          <a:p>
            <a:endParaRPr lang="en-TR"/>
          </a:p>
        </p:txBody>
      </p:sp>
      <p:sp>
        <p:nvSpPr>
          <p:cNvPr id="7" name="Text 5"/>
          <p:cNvSpPr txBox="1"/>
          <p:nvPr/>
        </p:nvSpPr>
        <p:spPr>
          <a:xfrm>
            <a:off x="822960" y="3017520"/>
            <a:ext cx="1737360" cy="502920"/>
          </a:xfrm>
          <a:prstGeom prst="rect">
            <a:avLst/>
          </a:prstGeom>
          <a:no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DEALERS</a:t>
            </a:r>
            <a:endParaRPr lang="en-US" sz="1200" dirty="0"/>
          </a:p>
        </p:txBody>
      </p:sp>
      <p:sp>
        <p:nvSpPr>
          <p:cNvPr id="8" name="Shape 6"/>
          <p:cNvSpPr/>
          <p:nvPr/>
        </p:nvSpPr>
        <p:spPr>
          <a:xfrm>
            <a:off x="822960" y="3931920"/>
            <a:ext cx="1737360" cy="502920"/>
          </a:xfrm>
          <a:prstGeom prst="roundRect">
            <a:avLst>
              <a:gd name="adj" fmla="val 10909"/>
            </a:avLst>
          </a:prstGeom>
          <a:solidFill>
            <a:srgbClr val="2E3540"/>
          </a:solidFill>
          <a:ln w="12700">
            <a:solidFill>
              <a:srgbClr val="2E3540"/>
            </a:solidFill>
            <a:prstDash val="solid"/>
          </a:ln>
        </p:spPr>
        <p:txBody>
          <a:bodyPr/>
          <a:lstStyle/>
          <a:p>
            <a:endParaRPr lang="en-TR"/>
          </a:p>
        </p:txBody>
      </p:sp>
      <p:sp>
        <p:nvSpPr>
          <p:cNvPr id="9" name="Text 7"/>
          <p:cNvSpPr txBox="1"/>
          <p:nvPr/>
        </p:nvSpPr>
        <p:spPr>
          <a:xfrm>
            <a:off x="822960" y="3931920"/>
            <a:ext cx="1737360" cy="502920"/>
          </a:xfrm>
          <a:prstGeom prst="rect">
            <a:avLst/>
          </a:prstGeom>
          <a:no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ADVISORS</a:t>
            </a:r>
            <a:endParaRPr lang="en-US" sz="1200" dirty="0"/>
          </a:p>
        </p:txBody>
      </p:sp>
      <p:sp>
        <p:nvSpPr>
          <p:cNvPr id="10" name="Shape 8"/>
          <p:cNvSpPr/>
          <p:nvPr/>
        </p:nvSpPr>
        <p:spPr>
          <a:xfrm>
            <a:off x="2834640" y="3017520"/>
            <a:ext cx="1737360" cy="640080"/>
          </a:xfrm>
          <a:prstGeom prst="roundRect">
            <a:avLst>
              <a:gd name="adj" fmla="val 8571"/>
            </a:avLst>
          </a:prstGeom>
          <a:solidFill>
            <a:srgbClr val="E8A33D"/>
          </a:solidFill>
          <a:ln w="12700">
            <a:solidFill>
              <a:srgbClr val="E8A33D"/>
            </a:solidFill>
            <a:prstDash val="solid"/>
          </a:ln>
        </p:spPr>
        <p:txBody>
          <a:bodyPr/>
          <a:lstStyle/>
          <a:p>
            <a:endParaRPr lang="en-TR"/>
          </a:p>
        </p:txBody>
      </p:sp>
      <p:sp>
        <p:nvSpPr>
          <p:cNvPr id="11" name="Text 9"/>
          <p:cNvSpPr txBox="1"/>
          <p:nvPr/>
        </p:nvSpPr>
        <p:spPr>
          <a:xfrm>
            <a:off x="2834640" y="3017520"/>
            <a:ext cx="1737360" cy="640080"/>
          </a:xfrm>
          <a:prstGeom prst="rect">
            <a:avLst/>
          </a:prstGeom>
          <a:noFill/>
          <a:ln/>
        </p:spPr>
        <p:txBody>
          <a:bodyPr wrap="square" lIns="635" tIns="635" rIns="635" bIns="635" rtlCol="0" anchor="ctr"/>
          <a:lstStyle/>
          <a:p>
            <a:pPr marL="0" indent="0" algn="ctr">
              <a:buNone/>
            </a:pPr>
            <a:r>
              <a:rPr lang="en-US" sz="1200" b="1" dirty="0">
                <a:solidFill>
                  <a:srgbClr val="1B1F24"/>
                </a:solidFill>
                <a:latin typeface="Calibri" pitchFamily="34" charset="0"/>
                <a:ea typeface="Calibri" pitchFamily="34" charset="-122"/>
                <a:cs typeface="Calibri" pitchFamily="34" charset="-120"/>
              </a:rPr>
              <a:t>LEADS</a:t>
            </a:r>
            <a:endParaRPr lang="en-US" sz="1200" dirty="0"/>
          </a:p>
          <a:p>
            <a:pPr marL="0" indent="0" algn="ctr">
              <a:buNone/>
            </a:pPr>
            <a:r>
              <a:rPr lang="en-US" sz="1200" b="1" dirty="0">
                <a:solidFill>
                  <a:srgbClr val="1B1F24"/>
                </a:solidFill>
                <a:latin typeface="Calibri" pitchFamily="34" charset="0"/>
                <a:ea typeface="Calibri" pitchFamily="34" charset="-122"/>
                <a:cs typeface="Calibri" pitchFamily="34" charset="-120"/>
              </a:rPr>
              <a:t>15,000</a:t>
            </a:r>
            <a:endParaRPr lang="en-US" sz="1200" dirty="0"/>
          </a:p>
        </p:txBody>
      </p:sp>
      <p:sp>
        <p:nvSpPr>
          <p:cNvPr id="12" name="Shape 10"/>
          <p:cNvSpPr/>
          <p:nvPr/>
        </p:nvSpPr>
        <p:spPr>
          <a:xfrm>
            <a:off x="4846320" y="3017520"/>
            <a:ext cx="1737360" cy="502920"/>
          </a:xfrm>
          <a:prstGeom prst="roundRect">
            <a:avLst>
              <a:gd name="adj" fmla="val 10909"/>
            </a:avLst>
          </a:prstGeom>
          <a:solidFill>
            <a:srgbClr val="2E3540"/>
          </a:solidFill>
          <a:ln w="12700">
            <a:solidFill>
              <a:srgbClr val="2E3540"/>
            </a:solidFill>
            <a:prstDash val="solid"/>
          </a:ln>
        </p:spPr>
        <p:txBody>
          <a:bodyPr/>
          <a:lstStyle/>
          <a:p>
            <a:endParaRPr lang="en-TR"/>
          </a:p>
        </p:txBody>
      </p:sp>
      <p:sp>
        <p:nvSpPr>
          <p:cNvPr id="13" name="Text 11"/>
          <p:cNvSpPr txBox="1"/>
          <p:nvPr/>
        </p:nvSpPr>
        <p:spPr>
          <a:xfrm>
            <a:off x="4846320" y="3017520"/>
            <a:ext cx="1737360" cy="502920"/>
          </a:xfrm>
          <a:prstGeom prst="rect">
            <a:avLst/>
          </a:prstGeom>
          <a:no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VEHICLES (catalog)</a:t>
            </a:r>
            <a:endParaRPr lang="en-US" sz="1200" dirty="0"/>
          </a:p>
        </p:txBody>
      </p:sp>
      <p:sp>
        <p:nvSpPr>
          <p:cNvPr id="14" name="Shape 12"/>
          <p:cNvSpPr/>
          <p:nvPr/>
        </p:nvSpPr>
        <p:spPr>
          <a:xfrm>
            <a:off x="2834640" y="4114800"/>
            <a:ext cx="3108960" cy="457200"/>
          </a:xfrm>
          <a:prstGeom prst="roundRect">
            <a:avLst>
              <a:gd name="adj" fmla="val 12000"/>
            </a:avLst>
          </a:prstGeom>
          <a:solidFill>
            <a:srgbClr val="1B9AAA"/>
          </a:solidFill>
          <a:ln w="12700">
            <a:solidFill>
              <a:srgbClr val="1B9AAA"/>
            </a:solidFill>
            <a:prstDash val="solid"/>
          </a:ln>
        </p:spPr>
        <p:txBody>
          <a:bodyPr/>
          <a:lstStyle/>
          <a:p>
            <a:endParaRPr lang="en-TR"/>
          </a:p>
        </p:txBody>
      </p:sp>
      <p:sp>
        <p:nvSpPr>
          <p:cNvPr id="15" name="Text 13"/>
          <p:cNvSpPr txBox="1"/>
          <p:nvPr/>
        </p:nvSpPr>
        <p:spPr>
          <a:xfrm>
            <a:off x="2834640" y="4114800"/>
            <a:ext cx="3108960" cy="457200"/>
          </a:xfrm>
          <a:prstGeom prst="rect">
            <a:avLst/>
          </a:prstGeom>
          <a:noFill/>
          <a:ln/>
        </p:spPr>
        <p:txBody>
          <a:bodyPr wrap="square" lIns="635" tIns="635" rIns="635" bIns="635"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TEST_DRIVES  5,686</a:t>
            </a:r>
            <a:endParaRPr lang="en-US" sz="1100" dirty="0"/>
          </a:p>
        </p:txBody>
      </p:sp>
      <p:sp>
        <p:nvSpPr>
          <p:cNvPr id="16" name="Shape 14"/>
          <p:cNvSpPr/>
          <p:nvPr/>
        </p:nvSpPr>
        <p:spPr>
          <a:xfrm>
            <a:off x="2834640" y="4736592"/>
            <a:ext cx="3108960" cy="457200"/>
          </a:xfrm>
          <a:prstGeom prst="roundRect">
            <a:avLst>
              <a:gd name="adj" fmla="val 12000"/>
            </a:avLst>
          </a:prstGeom>
          <a:solidFill>
            <a:srgbClr val="1B9AAA"/>
          </a:solidFill>
          <a:ln w="12700">
            <a:solidFill>
              <a:srgbClr val="1B9AAA"/>
            </a:solidFill>
            <a:prstDash val="solid"/>
          </a:ln>
        </p:spPr>
        <p:txBody>
          <a:bodyPr/>
          <a:lstStyle/>
          <a:p>
            <a:endParaRPr lang="en-TR"/>
          </a:p>
        </p:txBody>
      </p:sp>
      <p:sp>
        <p:nvSpPr>
          <p:cNvPr id="17" name="Text 15"/>
          <p:cNvSpPr txBox="1"/>
          <p:nvPr/>
        </p:nvSpPr>
        <p:spPr>
          <a:xfrm>
            <a:off x="2834640" y="4736592"/>
            <a:ext cx="3108960" cy="457200"/>
          </a:xfrm>
          <a:prstGeom prst="rect">
            <a:avLst/>
          </a:prstGeom>
          <a:noFill/>
          <a:ln/>
        </p:spPr>
        <p:txBody>
          <a:bodyPr wrap="square" lIns="635" tIns="635" rIns="635" bIns="635"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OFFERS  7,114</a:t>
            </a:r>
            <a:endParaRPr lang="en-US" sz="1100" dirty="0"/>
          </a:p>
        </p:txBody>
      </p:sp>
      <p:sp>
        <p:nvSpPr>
          <p:cNvPr id="18" name="Shape 16"/>
          <p:cNvSpPr/>
          <p:nvPr/>
        </p:nvSpPr>
        <p:spPr>
          <a:xfrm>
            <a:off x="2834640" y="5358384"/>
            <a:ext cx="3108960" cy="457200"/>
          </a:xfrm>
          <a:prstGeom prst="roundRect">
            <a:avLst>
              <a:gd name="adj" fmla="val 12000"/>
            </a:avLst>
          </a:prstGeom>
          <a:solidFill>
            <a:srgbClr val="2E8B57"/>
          </a:solidFill>
          <a:ln w="12700">
            <a:solidFill>
              <a:srgbClr val="2E8B57"/>
            </a:solidFill>
            <a:prstDash val="solid"/>
          </a:ln>
        </p:spPr>
        <p:txBody>
          <a:bodyPr/>
          <a:lstStyle/>
          <a:p>
            <a:endParaRPr lang="en-TR"/>
          </a:p>
        </p:txBody>
      </p:sp>
      <p:sp>
        <p:nvSpPr>
          <p:cNvPr id="19" name="Text 17"/>
          <p:cNvSpPr txBox="1"/>
          <p:nvPr/>
        </p:nvSpPr>
        <p:spPr>
          <a:xfrm>
            <a:off x="2834640" y="5358384"/>
            <a:ext cx="3108960" cy="457200"/>
          </a:xfrm>
          <a:prstGeom prst="rect">
            <a:avLst/>
          </a:prstGeom>
          <a:noFill/>
          <a:ln/>
        </p:spPr>
        <p:txBody>
          <a:bodyPr wrap="square" lIns="635" tIns="635" rIns="635" bIns="635"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SALES  2,736</a:t>
            </a:r>
            <a:endParaRPr lang="en-US" sz="1100" dirty="0"/>
          </a:p>
        </p:txBody>
      </p:sp>
      <p:sp>
        <p:nvSpPr>
          <p:cNvPr id="20" name="Shape 18"/>
          <p:cNvSpPr/>
          <p:nvPr/>
        </p:nvSpPr>
        <p:spPr>
          <a:xfrm>
            <a:off x="2834640" y="5980176"/>
            <a:ext cx="3108960" cy="457200"/>
          </a:xfrm>
          <a:prstGeom prst="roundRect">
            <a:avLst>
              <a:gd name="adj" fmla="val 12000"/>
            </a:avLst>
          </a:prstGeom>
          <a:solidFill>
            <a:srgbClr val="1B9AAA"/>
          </a:solidFill>
          <a:ln w="12700">
            <a:solidFill>
              <a:srgbClr val="1B9AAA"/>
            </a:solidFill>
            <a:prstDash val="solid"/>
          </a:ln>
        </p:spPr>
        <p:txBody>
          <a:bodyPr/>
          <a:lstStyle/>
          <a:p>
            <a:endParaRPr lang="en-TR"/>
          </a:p>
        </p:txBody>
      </p:sp>
      <p:sp>
        <p:nvSpPr>
          <p:cNvPr id="21" name="Text 19"/>
          <p:cNvSpPr txBox="1"/>
          <p:nvPr/>
        </p:nvSpPr>
        <p:spPr>
          <a:xfrm>
            <a:off x="2834640" y="5980176"/>
            <a:ext cx="3108960" cy="457200"/>
          </a:xfrm>
          <a:prstGeom prst="rect">
            <a:avLst/>
          </a:prstGeom>
          <a:noFill/>
          <a:ln/>
        </p:spPr>
        <p:txBody>
          <a:bodyPr wrap="square" lIns="635" tIns="635" rIns="635" bIns="635"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INTERACTIONS  67k + notes</a:t>
            </a:r>
            <a:endParaRPr lang="en-US" sz="1100" dirty="0"/>
          </a:p>
        </p:txBody>
      </p:sp>
      <p:sp>
        <p:nvSpPr>
          <p:cNvPr id="22" name="Shape 20"/>
          <p:cNvSpPr/>
          <p:nvPr/>
        </p:nvSpPr>
        <p:spPr>
          <a:xfrm>
            <a:off x="3703320" y="2331720"/>
            <a:ext cx="0" cy="685800"/>
          </a:xfrm>
          <a:prstGeom prst="line">
            <a:avLst/>
          </a:prstGeom>
          <a:noFill/>
          <a:ln w="19050">
            <a:solidFill>
              <a:srgbClr val="5B6573"/>
            </a:solidFill>
            <a:prstDash val="solid"/>
          </a:ln>
        </p:spPr>
        <p:txBody>
          <a:bodyPr/>
          <a:lstStyle/>
          <a:p>
            <a:endParaRPr lang="en-TR"/>
          </a:p>
        </p:txBody>
      </p:sp>
      <p:sp>
        <p:nvSpPr>
          <p:cNvPr id="23" name="Shape 21"/>
          <p:cNvSpPr/>
          <p:nvPr/>
        </p:nvSpPr>
        <p:spPr>
          <a:xfrm>
            <a:off x="2560320" y="3264408"/>
            <a:ext cx="274320" cy="0"/>
          </a:xfrm>
          <a:prstGeom prst="line">
            <a:avLst/>
          </a:prstGeom>
          <a:noFill/>
          <a:ln w="19050">
            <a:solidFill>
              <a:srgbClr val="5B6573"/>
            </a:solidFill>
            <a:prstDash val="solid"/>
          </a:ln>
        </p:spPr>
        <p:txBody>
          <a:bodyPr/>
          <a:lstStyle/>
          <a:p>
            <a:endParaRPr lang="en-TR"/>
          </a:p>
        </p:txBody>
      </p:sp>
      <p:sp>
        <p:nvSpPr>
          <p:cNvPr id="24" name="Shape 22"/>
          <p:cNvSpPr/>
          <p:nvPr/>
        </p:nvSpPr>
        <p:spPr>
          <a:xfrm>
            <a:off x="2560320" y="4178808"/>
            <a:ext cx="274320" cy="0"/>
          </a:xfrm>
          <a:prstGeom prst="line">
            <a:avLst/>
          </a:prstGeom>
          <a:noFill/>
          <a:ln w="19050">
            <a:solidFill>
              <a:srgbClr val="5B6573"/>
            </a:solidFill>
            <a:prstDash val="solid"/>
          </a:ln>
        </p:spPr>
        <p:txBody>
          <a:bodyPr/>
          <a:lstStyle/>
          <a:p>
            <a:endParaRPr lang="en-TR"/>
          </a:p>
        </p:txBody>
      </p:sp>
      <p:sp>
        <p:nvSpPr>
          <p:cNvPr id="25" name="Shape 23"/>
          <p:cNvSpPr/>
          <p:nvPr/>
        </p:nvSpPr>
        <p:spPr>
          <a:xfrm>
            <a:off x="4572000" y="3264408"/>
            <a:ext cx="274320" cy="0"/>
          </a:xfrm>
          <a:prstGeom prst="line">
            <a:avLst/>
          </a:prstGeom>
          <a:noFill/>
          <a:ln w="19050">
            <a:solidFill>
              <a:srgbClr val="5B6573"/>
            </a:solidFill>
            <a:prstDash val="solid"/>
          </a:ln>
        </p:spPr>
        <p:txBody>
          <a:bodyPr/>
          <a:lstStyle/>
          <a:p>
            <a:endParaRPr lang="en-TR"/>
          </a:p>
        </p:txBody>
      </p:sp>
      <p:sp>
        <p:nvSpPr>
          <p:cNvPr id="26" name="Shape 24"/>
          <p:cNvSpPr/>
          <p:nvPr/>
        </p:nvSpPr>
        <p:spPr>
          <a:xfrm>
            <a:off x="3703319" y="3657600"/>
            <a:ext cx="274249" cy="457200"/>
          </a:xfrm>
          <a:prstGeom prst="line">
            <a:avLst/>
          </a:prstGeom>
          <a:noFill/>
          <a:ln w="19050">
            <a:solidFill>
              <a:srgbClr val="5B6573"/>
            </a:solidFill>
            <a:prstDash val="solid"/>
          </a:ln>
        </p:spPr>
        <p:txBody>
          <a:bodyPr/>
          <a:lstStyle/>
          <a:p>
            <a:endParaRPr lang="en-TR"/>
          </a:p>
        </p:txBody>
      </p:sp>
      <p:sp>
        <p:nvSpPr>
          <p:cNvPr id="27" name="Shape 25"/>
          <p:cNvSpPr/>
          <p:nvPr/>
        </p:nvSpPr>
        <p:spPr>
          <a:xfrm>
            <a:off x="6949440" y="1737360"/>
            <a:ext cx="4663440" cy="1325880"/>
          </a:xfrm>
          <a:prstGeom prst="roundRect">
            <a:avLst>
              <a:gd name="adj" fmla="val 5517"/>
            </a:avLst>
          </a:prstGeom>
          <a:solidFill>
            <a:srgbClr val="EEF1F4"/>
          </a:solidFill>
          <a:ln w="12700">
            <a:solidFill>
              <a:srgbClr val="EEF1F4"/>
            </a:solidFill>
            <a:prstDash val="solid"/>
          </a:ln>
        </p:spPr>
        <p:txBody>
          <a:bodyPr/>
          <a:lstStyle/>
          <a:p>
            <a:endParaRPr lang="en-TR"/>
          </a:p>
        </p:txBody>
      </p:sp>
      <p:sp>
        <p:nvSpPr>
          <p:cNvPr id="28" name="Text 26"/>
          <p:cNvSpPr txBox="1"/>
          <p:nvPr/>
        </p:nvSpPr>
        <p:spPr>
          <a:xfrm>
            <a:off x="7132320" y="1874520"/>
            <a:ext cx="4297680" cy="365760"/>
          </a:xfrm>
          <a:prstGeom prst="rect">
            <a:avLst/>
          </a:prstGeom>
          <a:noFill/>
          <a:ln/>
        </p:spPr>
        <p:txBody>
          <a:bodyPr wrap="square" lIns="0" tIns="0" rIns="0" bIns="0" rtlCol="0" anchor="ctr"/>
          <a:lstStyle/>
          <a:p>
            <a:pPr marL="0" indent="0">
              <a:buNone/>
            </a:pPr>
            <a:r>
              <a:rPr lang="en-US" sz="1500" b="1" dirty="0">
                <a:solidFill>
                  <a:srgbClr val="1B1F24"/>
                </a:solidFill>
                <a:latin typeface="Cambria" pitchFamily="34" charset="0"/>
                <a:ea typeface="Cambria" pitchFamily="34" charset="-122"/>
                <a:cs typeface="Cambria" pitchFamily="34" charset="-120"/>
              </a:rPr>
              <a:t>Why synthetic</a:t>
            </a:r>
            <a:endParaRPr lang="en-US" sz="1500" dirty="0"/>
          </a:p>
        </p:txBody>
      </p:sp>
      <p:sp>
        <p:nvSpPr>
          <p:cNvPr id="29" name="Text 27"/>
          <p:cNvSpPr txBox="1"/>
          <p:nvPr/>
        </p:nvSpPr>
        <p:spPr>
          <a:xfrm>
            <a:off x="7132320" y="2240280"/>
            <a:ext cx="4297680" cy="640080"/>
          </a:xfrm>
          <a:prstGeom prst="rect">
            <a:avLst/>
          </a:prstGeom>
          <a:noFill/>
          <a:ln/>
        </p:spPr>
        <p:txBody>
          <a:bodyPr wrap="square" lIns="0" tIns="0" rIns="0" bIns="0" rtlCol="0" anchor="t"/>
          <a:lstStyle/>
          <a:p>
            <a:pPr marL="0" indent="0">
              <a:spcAft>
                <a:spcPts val="400"/>
              </a:spcAft>
              <a:buNone/>
            </a:pPr>
            <a:r>
              <a:rPr lang="en-US" sz="1150" dirty="0">
                <a:solidFill>
                  <a:srgbClr val="2E3540"/>
                </a:solidFill>
                <a:latin typeface="Calibri" pitchFamily="34" charset="0"/>
                <a:cs typeface="Calibri" pitchFamily="34" charset="-120"/>
              </a:rPr>
              <a:t>Synthetic data avoids exposing real customer information in an interview case while preserving realistic business patterns. A</a:t>
            </a:r>
            <a:r>
              <a:rPr lang="en-US" sz="1150" dirty="0">
                <a:solidFill>
                  <a:srgbClr val="2E3540"/>
                </a:solidFill>
                <a:latin typeface="Calibri" pitchFamily="34" charset="0"/>
                <a:ea typeface="Calibri" pitchFamily="34" charset="-122"/>
                <a:cs typeface="Calibri" pitchFamily="34" charset="-120"/>
              </a:rPr>
              <a:t> generator with seed 42 gives realistic volumes, Turkish names and cities, 38 BMW / MINI / Land Rover trims, 14 dealers, 56 advisors.</a:t>
            </a:r>
            <a:endParaRPr lang="en-US" sz="1150" dirty="0"/>
          </a:p>
        </p:txBody>
      </p:sp>
      <p:sp>
        <p:nvSpPr>
          <p:cNvPr id="30" name="Shape 28"/>
          <p:cNvSpPr/>
          <p:nvPr/>
        </p:nvSpPr>
        <p:spPr>
          <a:xfrm>
            <a:off x="6949440" y="3200400"/>
            <a:ext cx="4663440" cy="1325880"/>
          </a:xfrm>
          <a:prstGeom prst="roundRect">
            <a:avLst>
              <a:gd name="adj" fmla="val 5517"/>
            </a:avLst>
          </a:prstGeom>
          <a:solidFill>
            <a:srgbClr val="EEF1F4"/>
          </a:solidFill>
          <a:ln w="12700">
            <a:solidFill>
              <a:srgbClr val="EEF1F4"/>
            </a:solidFill>
            <a:prstDash val="solid"/>
          </a:ln>
        </p:spPr>
        <p:txBody>
          <a:bodyPr/>
          <a:lstStyle/>
          <a:p>
            <a:endParaRPr lang="en-TR"/>
          </a:p>
        </p:txBody>
      </p:sp>
      <p:sp>
        <p:nvSpPr>
          <p:cNvPr id="31" name="Text 29"/>
          <p:cNvSpPr txBox="1"/>
          <p:nvPr/>
        </p:nvSpPr>
        <p:spPr>
          <a:xfrm>
            <a:off x="7132320" y="3337560"/>
            <a:ext cx="4297680" cy="365760"/>
          </a:xfrm>
          <a:prstGeom prst="rect">
            <a:avLst/>
          </a:prstGeom>
          <a:noFill/>
          <a:ln/>
        </p:spPr>
        <p:txBody>
          <a:bodyPr wrap="square" lIns="0" tIns="0" rIns="0" bIns="0" rtlCol="0" anchor="ctr"/>
          <a:lstStyle/>
          <a:p>
            <a:pPr marL="0" indent="0">
              <a:buNone/>
            </a:pPr>
            <a:r>
              <a:rPr lang="en-US" sz="1500" b="1" dirty="0">
                <a:solidFill>
                  <a:srgbClr val="1B1F24"/>
                </a:solidFill>
                <a:latin typeface="Cambria" pitchFamily="34" charset="0"/>
                <a:ea typeface="Cambria" pitchFamily="34" charset="-122"/>
                <a:cs typeface="Cambria" pitchFamily="34" charset="-120"/>
              </a:rPr>
              <a:t>Why deliberately dirty</a:t>
            </a:r>
            <a:endParaRPr lang="en-US" sz="1500" dirty="0"/>
          </a:p>
        </p:txBody>
      </p:sp>
      <p:sp>
        <p:nvSpPr>
          <p:cNvPr id="32" name="Text 30"/>
          <p:cNvSpPr txBox="1"/>
          <p:nvPr/>
        </p:nvSpPr>
        <p:spPr>
          <a:xfrm>
            <a:off x="7132320" y="3749040"/>
            <a:ext cx="4297680" cy="640080"/>
          </a:xfrm>
          <a:prstGeom prst="rect">
            <a:avLst/>
          </a:prstGeom>
          <a:noFill/>
          <a:ln/>
        </p:spPr>
        <p:txBody>
          <a:bodyPr wrap="square" lIns="0" tIns="0" rIns="0" bIns="0" rtlCol="0" anchor="t"/>
          <a:lstStyle/>
          <a:p>
            <a:pPr marL="0" indent="0">
              <a:spcAft>
                <a:spcPts val="400"/>
              </a:spcAft>
              <a:buNone/>
            </a:pPr>
            <a:r>
              <a:rPr lang="en-US" sz="1150" dirty="0">
                <a:solidFill>
                  <a:srgbClr val="2E3540"/>
                </a:solidFill>
                <a:latin typeface="Calibri" pitchFamily="34" charset="0"/>
                <a:ea typeface="Calibri" pitchFamily="34" charset="-122"/>
                <a:cs typeface="Calibri" pitchFamily="34" charset="-120"/>
              </a:rPr>
              <a:t>22 defect types injected on purpose — duplicate customers, five phone formats, orphan keys, 150% discounts, mixed date formats — and their counts written to docs/dq_injections.md as ground truth.</a:t>
            </a:r>
            <a:endParaRPr lang="en-US" sz="1150" dirty="0"/>
          </a:p>
        </p:txBody>
      </p:sp>
      <p:sp>
        <p:nvSpPr>
          <p:cNvPr id="33" name="Shape 31"/>
          <p:cNvSpPr/>
          <p:nvPr/>
        </p:nvSpPr>
        <p:spPr>
          <a:xfrm>
            <a:off x="6949440" y="4663440"/>
            <a:ext cx="4663440" cy="1417320"/>
          </a:xfrm>
          <a:prstGeom prst="roundRect">
            <a:avLst>
              <a:gd name="adj" fmla="val 5161"/>
            </a:avLst>
          </a:prstGeom>
          <a:solidFill>
            <a:srgbClr val="EEF1F4"/>
          </a:solidFill>
          <a:ln w="12700">
            <a:solidFill>
              <a:srgbClr val="EEF1F4"/>
            </a:solidFill>
            <a:prstDash val="solid"/>
          </a:ln>
        </p:spPr>
        <p:txBody>
          <a:bodyPr/>
          <a:lstStyle/>
          <a:p>
            <a:endParaRPr lang="en-TR"/>
          </a:p>
        </p:txBody>
      </p:sp>
      <p:sp>
        <p:nvSpPr>
          <p:cNvPr id="34" name="Text 32"/>
          <p:cNvSpPr txBox="1"/>
          <p:nvPr/>
        </p:nvSpPr>
        <p:spPr>
          <a:xfrm>
            <a:off x="7132320" y="4800600"/>
            <a:ext cx="4297680" cy="365760"/>
          </a:xfrm>
          <a:prstGeom prst="rect">
            <a:avLst/>
          </a:prstGeom>
          <a:noFill/>
          <a:ln/>
        </p:spPr>
        <p:txBody>
          <a:bodyPr wrap="square" lIns="0" tIns="0" rIns="0" bIns="0" rtlCol="0" anchor="ctr"/>
          <a:lstStyle/>
          <a:p>
            <a:pPr marL="0" indent="0">
              <a:buNone/>
            </a:pPr>
            <a:r>
              <a:rPr lang="en-US" sz="1500" b="1" dirty="0">
                <a:solidFill>
                  <a:srgbClr val="1B1F24"/>
                </a:solidFill>
                <a:latin typeface="Cambria" pitchFamily="34" charset="0"/>
                <a:ea typeface="Cambria" pitchFamily="34" charset="-122"/>
                <a:cs typeface="Cambria" pitchFamily="34" charset="-120"/>
              </a:rPr>
              <a:t>Why causal structure</a:t>
            </a:r>
            <a:endParaRPr lang="en-US" sz="1500" dirty="0"/>
          </a:p>
        </p:txBody>
      </p:sp>
      <p:sp>
        <p:nvSpPr>
          <p:cNvPr id="35" name="Text 33"/>
          <p:cNvSpPr txBox="1"/>
          <p:nvPr/>
        </p:nvSpPr>
        <p:spPr>
          <a:xfrm>
            <a:off x="7132320" y="5212080"/>
            <a:ext cx="4297680" cy="731520"/>
          </a:xfrm>
          <a:prstGeom prst="rect">
            <a:avLst/>
          </a:prstGeom>
          <a:noFill/>
          <a:ln/>
        </p:spPr>
        <p:txBody>
          <a:bodyPr wrap="square" lIns="0" tIns="0" rIns="0" bIns="0" rtlCol="0" anchor="t"/>
          <a:lstStyle/>
          <a:p>
            <a:pPr marL="0" indent="0">
              <a:spcAft>
                <a:spcPts val="400"/>
              </a:spcAft>
              <a:buNone/>
            </a:pPr>
            <a:r>
              <a:rPr lang="en-US" sz="1150" dirty="0">
                <a:solidFill>
                  <a:srgbClr val="2E3540"/>
                </a:solidFill>
                <a:latin typeface="Calibri" pitchFamily="34" charset="0"/>
                <a:ea typeface="Calibri" pitchFamily="34" charset="-122"/>
                <a:cs typeface="Calibri" pitchFamily="34" charset="-120"/>
              </a:rPr>
              <a:t>Source, dealer, advisor, response time, test drive, discount, price and season all move conversion in the generator. </a:t>
            </a:r>
            <a:r>
              <a:rPr lang="en-US" sz="1150" dirty="0">
                <a:solidFill>
                  <a:srgbClr val="2E3540"/>
                </a:solidFill>
                <a:latin typeface="Calibri" pitchFamily="34" charset="0"/>
                <a:cs typeface="Calibri" pitchFamily="34" charset="-120"/>
              </a:rPr>
              <a:t>So, the lead-scoring model has meaningful patterns to learn, rather than random noise.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1B1F24"/>
                </a:solidFill>
                <a:latin typeface="Cambria" pitchFamily="34" charset="0"/>
                <a:ea typeface="Cambria" pitchFamily="34" charset="-122"/>
                <a:cs typeface="Cambria" pitchFamily="34" charset="-120"/>
              </a:rPr>
              <a:t>Three source systems, three sets of data challenges</a:t>
            </a:r>
            <a:endParaRPr lang="en-US" sz="3200" dirty="0"/>
          </a:p>
        </p:txBody>
      </p:sp>
      <p:sp>
        <p:nvSpPr>
          <p:cNvPr id="3" name="Text 1"/>
          <p:cNvSpPr txBox="1"/>
          <p:nvPr/>
        </p:nvSpPr>
        <p:spPr>
          <a:xfrm>
            <a:off x="548640" y="1097280"/>
            <a:ext cx="11091672" cy="365760"/>
          </a:xfrm>
          <a:prstGeom prst="rect">
            <a:avLst/>
          </a:prstGeom>
          <a:noFill/>
          <a:ln/>
        </p:spPr>
        <p:txBody>
          <a:bodyPr wrap="square" lIns="0" tIns="0" rIns="0" bIns="0" rtlCol="0" anchor="ctr"/>
          <a:lstStyle/>
          <a:p>
            <a:pPr marL="0" indent="0">
              <a:buNone/>
            </a:pPr>
            <a:r>
              <a:rPr lang="en-US" sz="1400" dirty="0">
                <a:solidFill>
                  <a:srgbClr val="5B6573"/>
                </a:solidFill>
                <a:latin typeface="Calibri" pitchFamily="34" charset="0"/>
                <a:ea typeface="Calibri" pitchFamily="34" charset="-122"/>
                <a:cs typeface="Calibri" pitchFamily="34" charset="-120"/>
              </a:rPr>
              <a:t>Bronze lands them as-is; every quirk becomes explicit Silver work</a:t>
            </a:r>
            <a:endParaRPr lang="en-US" sz="1400" dirty="0"/>
          </a:p>
        </p:txBody>
      </p:sp>
      <p:sp>
        <p:nvSpPr>
          <p:cNvPr id="4" name="Shape 2"/>
          <p:cNvSpPr/>
          <p:nvPr/>
        </p:nvSpPr>
        <p:spPr>
          <a:xfrm>
            <a:off x="548640" y="1691640"/>
            <a:ext cx="3566160" cy="2148840"/>
          </a:xfrm>
          <a:prstGeom prst="roundRect">
            <a:avLst>
              <a:gd name="adj" fmla="val 3404"/>
            </a:avLst>
          </a:prstGeom>
          <a:solidFill>
            <a:srgbClr val="EEF1F4"/>
          </a:solidFill>
          <a:ln w="12700">
            <a:solidFill>
              <a:srgbClr val="EEF1F4"/>
            </a:solidFill>
            <a:prstDash val="solid"/>
          </a:ln>
        </p:spPr>
        <p:txBody>
          <a:bodyPr/>
          <a:lstStyle/>
          <a:p>
            <a:endParaRPr lang="en-TR"/>
          </a:p>
        </p:txBody>
      </p:sp>
      <p:sp>
        <p:nvSpPr>
          <p:cNvPr id="5" name="Text 3"/>
          <p:cNvSpPr txBox="1"/>
          <p:nvPr/>
        </p:nvSpPr>
        <p:spPr>
          <a:xfrm>
            <a:off x="731520" y="1828800"/>
            <a:ext cx="3200400" cy="365760"/>
          </a:xfrm>
          <a:prstGeom prst="rect">
            <a:avLst/>
          </a:prstGeom>
          <a:noFill/>
          <a:ln/>
        </p:spPr>
        <p:txBody>
          <a:bodyPr wrap="square" lIns="0" tIns="0" rIns="0" bIns="0" rtlCol="0" anchor="ctr"/>
          <a:lstStyle/>
          <a:p>
            <a:pPr marL="0" indent="0">
              <a:buNone/>
            </a:pPr>
            <a:r>
              <a:rPr lang="en-US" sz="1500" b="1" dirty="0">
                <a:solidFill>
                  <a:srgbClr val="1B9AAA"/>
                </a:solidFill>
                <a:latin typeface="Cambria" pitchFamily="34" charset="0"/>
                <a:ea typeface="Cambria" pitchFamily="34" charset="-122"/>
                <a:cs typeface="Cambria" pitchFamily="34" charset="-120"/>
              </a:rPr>
              <a:t>CRM export</a:t>
            </a:r>
            <a:endParaRPr lang="en-US" sz="1500" dirty="0"/>
          </a:p>
        </p:txBody>
      </p:sp>
      <p:sp>
        <p:nvSpPr>
          <p:cNvPr id="6" name="Text 4"/>
          <p:cNvSpPr txBox="1"/>
          <p:nvPr/>
        </p:nvSpPr>
        <p:spPr>
          <a:xfrm>
            <a:off x="731520" y="2240280"/>
            <a:ext cx="3200400" cy="1463040"/>
          </a:xfrm>
          <a:prstGeom prst="rect">
            <a:avLst/>
          </a:prstGeom>
          <a:noFill/>
          <a:ln/>
        </p:spPr>
        <p:txBody>
          <a:bodyPr wrap="square" lIns="0" tIns="0" rIns="0" bIns="0" rtlCol="0" anchor="t"/>
          <a:lstStyle/>
          <a:p>
            <a:pPr marL="0" indent="0">
              <a:spcAft>
                <a:spcPts val="400"/>
              </a:spcAft>
              <a:buNone/>
            </a:pPr>
            <a:r>
              <a:rPr lang="en-US" sz="1150" dirty="0">
                <a:solidFill>
                  <a:srgbClr val="2E3540"/>
                </a:solidFill>
                <a:latin typeface="Calibri" pitchFamily="34" charset="0"/>
                <a:ea typeface="Calibri" pitchFamily="34" charset="-122"/>
                <a:cs typeface="Calibri" pitchFamily="34" charset="-120"/>
              </a:rPr>
              <a:t>crm_customers, crm_leads, crm_interactions</a:t>
            </a:r>
            <a:endParaRPr lang="en-US" sz="1150" dirty="0"/>
          </a:p>
          <a:p>
            <a:pPr marL="0" indent="0">
              <a:spcAft>
                <a:spcPts val="400"/>
              </a:spcAft>
              <a:buNone/>
            </a:pPr>
            <a:endParaRPr lang="en-US" sz="1150" dirty="0"/>
          </a:p>
          <a:p>
            <a:pPr marL="0" indent="0">
              <a:spcAft>
                <a:spcPts val="400"/>
              </a:spcAft>
              <a:buNone/>
            </a:pPr>
            <a:r>
              <a:rPr lang="en-US" sz="1150" dirty="0">
                <a:solidFill>
                  <a:srgbClr val="2E3540"/>
                </a:solidFill>
                <a:latin typeface="Calibri" pitchFamily="34" charset="0"/>
                <a:ea typeface="Calibri" pitchFamily="34" charset="-122"/>
                <a:cs typeface="Calibri" pitchFamily="34" charset="-120"/>
              </a:rPr>
              <a:t>Comma CSV, ISO timestamps — except ~1% of rows from an older CRM version in dd/MM/yyyy HH:mm. Mixed status casing. Duplicate rows from a re-export.</a:t>
            </a:r>
            <a:endParaRPr lang="en-US" sz="1150" dirty="0"/>
          </a:p>
        </p:txBody>
      </p:sp>
      <p:sp>
        <p:nvSpPr>
          <p:cNvPr id="7" name="Shape 5"/>
          <p:cNvSpPr/>
          <p:nvPr/>
        </p:nvSpPr>
        <p:spPr>
          <a:xfrm>
            <a:off x="4315968" y="1691640"/>
            <a:ext cx="3566160" cy="2148840"/>
          </a:xfrm>
          <a:prstGeom prst="roundRect">
            <a:avLst>
              <a:gd name="adj" fmla="val 3404"/>
            </a:avLst>
          </a:prstGeom>
          <a:solidFill>
            <a:srgbClr val="EEF1F4"/>
          </a:solidFill>
          <a:ln w="12700">
            <a:solidFill>
              <a:srgbClr val="EEF1F4"/>
            </a:solidFill>
            <a:prstDash val="solid"/>
          </a:ln>
        </p:spPr>
        <p:txBody>
          <a:bodyPr/>
          <a:lstStyle/>
          <a:p>
            <a:endParaRPr lang="en-TR"/>
          </a:p>
        </p:txBody>
      </p:sp>
      <p:sp>
        <p:nvSpPr>
          <p:cNvPr id="8" name="Text 6"/>
          <p:cNvSpPr txBox="1"/>
          <p:nvPr/>
        </p:nvSpPr>
        <p:spPr>
          <a:xfrm>
            <a:off x="4498848" y="1828800"/>
            <a:ext cx="3200400" cy="365760"/>
          </a:xfrm>
          <a:prstGeom prst="rect">
            <a:avLst/>
          </a:prstGeom>
          <a:noFill/>
          <a:ln/>
        </p:spPr>
        <p:txBody>
          <a:bodyPr wrap="square" lIns="0" tIns="0" rIns="0" bIns="0" rtlCol="0" anchor="ctr"/>
          <a:lstStyle/>
          <a:p>
            <a:pPr marL="0" indent="0">
              <a:buNone/>
            </a:pPr>
            <a:r>
              <a:rPr lang="en-US" sz="1500" b="1" dirty="0">
                <a:solidFill>
                  <a:srgbClr val="1B9AAA"/>
                </a:solidFill>
                <a:latin typeface="Cambria" pitchFamily="34" charset="0"/>
                <a:ea typeface="Cambria" pitchFamily="34" charset="-122"/>
                <a:cs typeface="Cambria" pitchFamily="34" charset="-120"/>
              </a:rPr>
              <a:t>Web lead forms</a:t>
            </a:r>
            <a:endParaRPr lang="en-US" sz="1500" dirty="0"/>
          </a:p>
        </p:txBody>
      </p:sp>
      <p:sp>
        <p:nvSpPr>
          <p:cNvPr id="9" name="Text 7"/>
          <p:cNvSpPr txBox="1"/>
          <p:nvPr/>
        </p:nvSpPr>
        <p:spPr>
          <a:xfrm>
            <a:off x="4498848" y="2240280"/>
            <a:ext cx="3200400" cy="1463040"/>
          </a:xfrm>
          <a:prstGeom prst="rect">
            <a:avLst/>
          </a:prstGeom>
          <a:noFill/>
          <a:ln/>
        </p:spPr>
        <p:txBody>
          <a:bodyPr wrap="square" lIns="0" tIns="0" rIns="0" bIns="0" rtlCol="0" anchor="t"/>
          <a:lstStyle/>
          <a:p>
            <a:pPr marL="0" indent="0">
              <a:spcAft>
                <a:spcPts val="400"/>
              </a:spcAft>
              <a:buNone/>
            </a:pPr>
            <a:r>
              <a:rPr lang="en-US" sz="1150" dirty="0">
                <a:solidFill>
                  <a:srgbClr val="2E3540"/>
                </a:solidFill>
                <a:latin typeface="Calibri" pitchFamily="34" charset="0"/>
                <a:ea typeface="Calibri" pitchFamily="34" charset="-122"/>
                <a:cs typeface="Calibri" pitchFamily="34" charset="-120"/>
              </a:rPr>
              <a:t>web_leads.json</a:t>
            </a:r>
            <a:endParaRPr lang="en-US" sz="1150" dirty="0"/>
          </a:p>
          <a:p>
            <a:pPr marL="0" indent="0">
              <a:spcAft>
                <a:spcPts val="400"/>
              </a:spcAft>
              <a:buNone/>
            </a:pPr>
            <a:endParaRPr lang="en-US" sz="1150" dirty="0"/>
          </a:p>
          <a:p>
            <a:pPr marL="0" indent="0">
              <a:spcAft>
                <a:spcPts val="400"/>
              </a:spcAft>
              <a:buNone/>
            </a:pPr>
            <a:r>
              <a:rPr lang="en-US" sz="1150" dirty="0">
                <a:solidFill>
                  <a:srgbClr val="2E3540"/>
                </a:solidFill>
                <a:latin typeface="Calibri" pitchFamily="34" charset="0"/>
                <a:ea typeface="Calibri" pitchFamily="34" charset="-122"/>
                <a:cs typeface="Calibri" pitchFamily="34" charset="-120"/>
              </a:rPr>
              <a:t>Nested JSON, </a:t>
            </a:r>
            <a:r>
              <a:rPr lang="en-US" sz="1150" dirty="0">
                <a:solidFill>
                  <a:srgbClr val="2E3540"/>
                </a:solidFill>
                <a:latin typeface="Calibri" pitchFamily="34" charset="0"/>
                <a:cs typeface="Calibri" pitchFamily="34" charset="-120"/>
              </a:rPr>
              <a:t>camelCase keys, +03:00 offsets, UTM fields. Web-sourced leads exist only here —Silver unifies CRM and web leads into one Leads entity</a:t>
            </a:r>
            <a:r>
              <a:rPr lang="en-US" sz="1200" dirty="0"/>
              <a:t>.</a:t>
            </a:r>
            <a:endParaRPr lang="en-US" sz="1150" dirty="0"/>
          </a:p>
        </p:txBody>
      </p:sp>
      <p:sp>
        <p:nvSpPr>
          <p:cNvPr id="10" name="Shape 8"/>
          <p:cNvSpPr/>
          <p:nvPr/>
        </p:nvSpPr>
        <p:spPr>
          <a:xfrm>
            <a:off x="8083296" y="1691640"/>
            <a:ext cx="3566160" cy="2148840"/>
          </a:xfrm>
          <a:prstGeom prst="roundRect">
            <a:avLst>
              <a:gd name="adj" fmla="val 3404"/>
            </a:avLst>
          </a:prstGeom>
          <a:solidFill>
            <a:srgbClr val="EEF1F4"/>
          </a:solidFill>
          <a:ln w="12700">
            <a:solidFill>
              <a:srgbClr val="EEF1F4"/>
            </a:solidFill>
            <a:prstDash val="solid"/>
          </a:ln>
        </p:spPr>
        <p:txBody>
          <a:bodyPr/>
          <a:lstStyle/>
          <a:p>
            <a:endParaRPr lang="en-TR"/>
          </a:p>
        </p:txBody>
      </p:sp>
      <p:sp>
        <p:nvSpPr>
          <p:cNvPr id="11" name="Text 9"/>
          <p:cNvSpPr txBox="1"/>
          <p:nvPr/>
        </p:nvSpPr>
        <p:spPr>
          <a:xfrm>
            <a:off x="8266176" y="1828800"/>
            <a:ext cx="3200400" cy="365760"/>
          </a:xfrm>
          <a:prstGeom prst="rect">
            <a:avLst/>
          </a:prstGeom>
          <a:noFill/>
          <a:ln/>
        </p:spPr>
        <p:txBody>
          <a:bodyPr wrap="square" lIns="0" tIns="0" rIns="0" bIns="0" rtlCol="0" anchor="ctr"/>
          <a:lstStyle/>
          <a:p>
            <a:pPr marL="0" indent="0">
              <a:buNone/>
            </a:pPr>
            <a:r>
              <a:rPr lang="en-US" sz="1500" b="1" dirty="0">
                <a:solidFill>
                  <a:srgbClr val="1B9AAA"/>
                </a:solidFill>
                <a:latin typeface="Cambria" pitchFamily="34" charset="0"/>
                <a:ea typeface="Cambria" pitchFamily="34" charset="-122"/>
                <a:cs typeface="Cambria" pitchFamily="34" charset="-120"/>
              </a:rPr>
              <a:t>Dealer DMS</a:t>
            </a:r>
            <a:endParaRPr lang="en-US" sz="1500" dirty="0"/>
          </a:p>
        </p:txBody>
      </p:sp>
      <p:sp>
        <p:nvSpPr>
          <p:cNvPr id="12" name="Text 10"/>
          <p:cNvSpPr txBox="1"/>
          <p:nvPr/>
        </p:nvSpPr>
        <p:spPr>
          <a:xfrm>
            <a:off x="8266176" y="2240280"/>
            <a:ext cx="3200400" cy="1463040"/>
          </a:xfrm>
          <a:prstGeom prst="rect">
            <a:avLst/>
          </a:prstGeom>
          <a:noFill/>
          <a:ln/>
        </p:spPr>
        <p:txBody>
          <a:bodyPr wrap="square" lIns="0" tIns="0" rIns="0" bIns="0" rtlCol="0" anchor="t"/>
          <a:lstStyle/>
          <a:p>
            <a:pPr marL="0" indent="0">
              <a:spcAft>
                <a:spcPts val="400"/>
              </a:spcAft>
              <a:buNone/>
            </a:pPr>
            <a:r>
              <a:rPr lang="en-US" sz="1150" dirty="0">
                <a:solidFill>
                  <a:srgbClr val="2E3540"/>
                </a:solidFill>
                <a:latin typeface="Calibri" pitchFamily="34" charset="0"/>
                <a:ea typeface="Calibri" pitchFamily="34" charset="-122"/>
                <a:cs typeface="Calibri" pitchFamily="34" charset="-120"/>
              </a:rPr>
              <a:t>dms_test_drives, dms_offers, dms_sales</a:t>
            </a:r>
            <a:endParaRPr lang="en-US" sz="1150" dirty="0"/>
          </a:p>
          <a:p>
            <a:pPr marL="0" indent="0">
              <a:spcAft>
                <a:spcPts val="400"/>
              </a:spcAft>
              <a:buNone/>
            </a:pPr>
            <a:endParaRPr lang="en-US" sz="1150" dirty="0"/>
          </a:p>
          <a:p>
            <a:pPr marL="0" indent="0">
              <a:spcAft>
                <a:spcPts val="400"/>
              </a:spcAft>
              <a:buNone/>
            </a:pPr>
            <a:r>
              <a:rPr lang="en-US" sz="1150" dirty="0">
                <a:solidFill>
                  <a:srgbClr val="2E3540"/>
                </a:solidFill>
                <a:latin typeface="Calibri" pitchFamily="34" charset="0"/>
                <a:ea typeface="Calibri" pitchFamily="34" charset="-122"/>
                <a:cs typeface="Calibri" pitchFamily="34" charset="-120"/>
              </a:rPr>
              <a:t>; separator · decimal comma (4,07) · dd.MM.yyyy · Turkish headers (TEKLIF_NO, ISKONTO_ORANI) · E/H booleans · UTF-8 BOM.</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4069080"/>
          <a:ext cx="11091672" cy="2011680"/>
        </p:xfrm>
        <a:graphic>
          <a:graphicData uri="http://schemas.openxmlformats.org/drawingml/2006/table">
            <a:tbl>
              <a:tblPr/>
              <a:tblGrid>
                <a:gridCol w="4499452">
                  <a:extLst>
                    <a:ext uri="{9D8B030D-6E8A-4147-A177-3AD203B41FA5}">
                      <a16:colId xmlns:a16="http://schemas.microsoft.com/office/drawing/2014/main" val="20000"/>
                    </a:ext>
                  </a:extLst>
                </a:gridCol>
                <a:gridCol w="1046384">
                  <a:extLst>
                    <a:ext uri="{9D8B030D-6E8A-4147-A177-3AD203B41FA5}">
                      <a16:colId xmlns:a16="http://schemas.microsoft.com/office/drawing/2014/main" val="20001"/>
                    </a:ext>
                  </a:extLst>
                </a:gridCol>
                <a:gridCol w="4499452">
                  <a:extLst>
                    <a:ext uri="{9D8B030D-6E8A-4147-A177-3AD203B41FA5}">
                      <a16:colId xmlns:a16="http://schemas.microsoft.com/office/drawing/2014/main" val="20002"/>
                    </a:ext>
                  </a:extLst>
                </a:gridCol>
                <a:gridCol w="1046384">
                  <a:extLst>
                    <a:ext uri="{9D8B030D-6E8A-4147-A177-3AD203B41FA5}">
                      <a16:colId xmlns:a16="http://schemas.microsoft.com/office/drawing/2014/main" val="20003"/>
                    </a:ext>
                  </a:extLst>
                </a:gridCol>
              </a:tblGrid>
              <a:tr h="24688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Injected defect</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2E3540"/>
                    </a:solidFill>
                  </a:tcPr>
                </a:tc>
                <a:tc>
                  <a:txBody>
                    <a:bodyPr/>
                    <a:lstStyle/>
                    <a:p>
                      <a:pPr marL="0" indent="0" algn="r">
                        <a:buNone/>
                      </a:pPr>
                      <a:r>
                        <a:rPr lang="en-US" sz="1050" b="1" dirty="0">
                          <a:solidFill>
                            <a:srgbClr val="FFFFFF"/>
                          </a:solidFill>
                          <a:latin typeface="Calibri" pitchFamily="34" charset="0"/>
                          <a:ea typeface="Calibri" pitchFamily="34" charset="-122"/>
                          <a:cs typeface="Calibri" pitchFamily="34" charset="-120"/>
                        </a:rPr>
                        <a:t>Rows</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2E35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Injected defect</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2E3540"/>
                    </a:solidFill>
                  </a:tcPr>
                </a:tc>
                <a:tc>
                  <a:txBody>
                    <a:bodyPr/>
                    <a:lstStyle/>
                    <a:p>
                      <a:pPr marL="0" indent="0" algn="r">
                        <a:buNone/>
                      </a:pPr>
                      <a:r>
                        <a:rPr lang="en-US" sz="1050" b="1" dirty="0">
                          <a:solidFill>
                            <a:srgbClr val="FFFFFF"/>
                          </a:solidFill>
                          <a:latin typeface="Calibri" pitchFamily="34" charset="0"/>
                          <a:ea typeface="Calibri" pitchFamily="34" charset="-122"/>
                          <a:cs typeface="Calibri" pitchFamily="34" charset="-120"/>
                        </a:rPr>
                        <a:t>Rows</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2E3540"/>
                    </a:solidFill>
                  </a:tcPr>
                </a:tc>
                <a:extLst>
                  <a:ext uri="{0D108BD9-81ED-4DB2-BD59-A6C34878D82A}">
                    <a16:rowId xmlns:a16="http://schemas.microsoft.com/office/drawing/2014/main" val="10000"/>
                  </a:ext>
                </a:extLst>
              </a:tr>
              <a:tr h="246888">
                <a:tc>
                  <a:txBody>
                    <a:bodyPr/>
                    <a:lstStyle/>
                    <a:p>
                      <a:pPr marL="0" indent="0" algn="l">
                        <a:buNone/>
                      </a:pPr>
                      <a:r>
                        <a:rPr lang="en-US" sz="1050" dirty="0">
                          <a:solidFill>
                            <a:srgbClr val="2E3540"/>
                          </a:solidFill>
                          <a:latin typeface="Calibri" pitchFamily="34" charset="0"/>
                          <a:ea typeface="Calibri" pitchFamily="34" charset="-122"/>
                          <a:cs typeface="Calibri" pitchFamily="34" charset="-120"/>
                        </a:rPr>
                        <a:t>Duplicate customer records (different id)</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050" dirty="0">
                          <a:solidFill>
                            <a:srgbClr val="2E3540"/>
                          </a:solidFill>
                          <a:latin typeface="Calibri" pitchFamily="34" charset="0"/>
                          <a:ea typeface="Calibri" pitchFamily="34" charset="-122"/>
                          <a:cs typeface="Calibri" pitchFamily="34" charset="-120"/>
                        </a:rPr>
                        <a:t>180</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050" dirty="0">
                          <a:solidFill>
                            <a:srgbClr val="2E3540"/>
                          </a:solidFill>
                          <a:latin typeface="Calibri" pitchFamily="34" charset="0"/>
                          <a:ea typeface="Calibri" pitchFamily="34" charset="-122"/>
                          <a:cs typeface="Calibri" pitchFamily="34" charset="-120"/>
                        </a:rPr>
                        <a:t>Leads pointing at the duplicate id</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050" dirty="0">
                          <a:solidFill>
                            <a:srgbClr val="2E3540"/>
                          </a:solidFill>
                          <a:latin typeface="Calibri" pitchFamily="34" charset="0"/>
                          <a:ea typeface="Calibri" pitchFamily="34" charset="-122"/>
                          <a:cs typeface="Calibri" pitchFamily="34" charset="-120"/>
                        </a:rPr>
                        <a:t>224</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lang="en-US" sz="1050" dirty="0">
                          <a:solidFill>
                            <a:srgbClr val="2E3540"/>
                          </a:solidFill>
                          <a:latin typeface="Calibri" pitchFamily="34" charset="0"/>
                          <a:ea typeface="Calibri" pitchFamily="34" charset="-122"/>
                          <a:cs typeface="Calibri" pitchFamily="34" charset="-120"/>
                        </a:rPr>
                        <a:t>Phone numbers in non-standard formats</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EF1F4"/>
                    </a:solidFill>
                  </a:tcPr>
                </a:tc>
                <a:tc>
                  <a:txBody>
                    <a:bodyPr/>
                    <a:lstStyle/>
                    <a:p>
                      <a:pPr marL="0" indent="0" algn="r">
                        <a:buNone/>
                      </a:pPr>
                      <a:r>
                        <a:rPr lang="en-US" sz="1050" dirty="0">
                          <a:solidFill>
                            <a:srgbClr val="2E3540"/>
                          </a:solidFill>
                          <a:latin typeface="Calibri" pitchFamily="34" charset="0"/>
                          <a:ea typeface="Calibri" pitchFamily="34" charset="-122"/>
                          <a:cs typeface="Calibri" pitchFamily="34" charset="-120"/>
                        </a:rPr>
                        <a:t>742</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EF1F4"/>
                    </a:solidFill>
                  </a:tcPr>
                </a:tc>
                <a:tc>
                  <a:txBody>
                    <a:bodyPr/>
                    <a:lstStyle/>
                    <a:p>
                      <a:pPr marL="0" indent="0" algn="l">
                        <a:buNone/>
                      </a:pPr>
                      <a:r>
                        <a:rPr lang="en-US" sz="1050" dirty="0">
                          <a:solidFill>
                            <a:srgbClr val="2E3540"/>
                          </a:solidFill>
                          <a:latin typeface="Calibri" pitchFamily="34" charset="0"/>
                          <a:ea typeface="Calibri" pitchFamily="34" charset="-122"/>
                          <a:cs typeface="Calibri" pitchFamily="34" charset="-120"/>
                        </a:rPr>
                        <a:t>Orphan / malformed dealer id</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EF1F4"/>
                    </a:solidFill>
                  </a:tcPr>
                </a:tc>
                <a:tc>
                  <a:txBody>
                    <a:bodyPr/>
                    <a:lstStyle/>
                    <a:p>
                      <a:pPr marL="0" indent="0" algn="r">
                        <a:buNone/>
                      </a:pPr>
                      <a:r>
                        <a:rPr lang="en-US" sz="1050" dirty="0">
                          <a:solidFill>
                            <a:srgbClr val="2E3540"/>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EF1F4"/>
                    </a:solidFill>
                  </a:tcPr>
                </a:tc>
                <a:extLst>
                  <a:ext uri="{0D108BD9-81ED-4DB2-BD59-A6C34878D82A}">
                    <a16:rowId xmlns:a16="http://schemas.microsoft.com/office/drawing/2014/main" val="10002"/>
                  </a:ext>
                </a:extLst>
              </a:tr>
              <a:tr h="246888">
                <a:tc>
                  <a:txBody>
                    <a:bodyPr/>
                    <a:lstStyle/>
                    <a:p>
                      <a:pPr marL="0" indent="0" algn="l">
                        <a:buNone/>
                      </a:pPr>
                      <a:r>
                        <a:rPr lang="en-US" sz="1050" dirty="0">
                          <a:solidFill>
                            <a:srgbClr val="2E3540"/>
                          </a:solidFill>
                          <a:latin typeface="Calibri" pitchFamily="34" charset="0"/>
                          <a:ea typeface="Calibri" pitchFamily="34" charset="-122"/>
                          <a:cs typeface="Calibri" pitchFamily="34" charset="-120"/>
                        </a:rPr>
                        <a:t>City spelling variants (Istanbul/ISTANBUL/…)</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050" dirty="0">
                          <a:solidFill>
                            <a:srgbClr val="2E3540"/>
                          </a:solidFill>
                          <a:latin typeface="Calibri" pitchFamily="34" charset="0"/>
                          <a:ea typeface="Calibri" pitchFamily="34" charset="-122"/>
                          <a:cs typeface="Calibri" pitchFamily="34" charset="-120"/>
                        </a:rPr>
                        <a:t>352</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050" dirty="0">
                          <a:solidFill>
                            <a:srgbClr val="2E3540"/>
                          </a:solidFill>
                          <a:latin typeface="Calibri" pitchFamily="34" charset="0"/>
                          <a:ea typeface="Calibri" pitchFamily="34" charset="-122"/>
                          <a:cs typeface="Calibri" pitchFamily="34" charset="-120"/>
                        </a:rPr>
                        <a:t>Missing vehicle id</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050" dirty="0">
                          <a:solidFill>
                            <a:srgbClr val="2E3540"/>
                          </a:solidFill>
                          <a:latin typeface="Calibri" pitchFamily="34" charset="0"/>
                          <a:ea typeface="Calibri" pitchFamily="34" charset="-122"/>
                          <a:cs typeface="Calibri" pitchFamily="34" charset="-120"/>
                        </a:rPr>
                        <a:t>225</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246888">
                <a:tc>
                  <a:txBody>
                    <a:bodyPr/>
                    <a:lstStyle/>
                    <a:p>
                      <a:pPr marL="0" indent="0" algn="l">
                        <a:buNone/>
                      </a:pPr>
                      <a:r>
                        <a:rPr lang="en-US" sz="1050" dirty="0">
                          <a:solidFill>
                            <a:srgbClr val="2E3540"/>
                          </a:solidFill>
                          <a:latin typeface="Calibri" pitchFamily="34" charset="0"/>
                          <a:ea typeface="Calibri" pitchFamily="34" charset="-122"/>
                          <a:cs typeface="Calibri" pitchFamily="34" charset="-120"/>
                        </a:rPr>
                        <a:t>Missing / invalid e-mail</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EF1F4"/>
                    </a:solidFill>
                  </a:tcPr>
                </a:tc>
                <a:tc>
                  <a:txBody>
                    <a:bodyPr/>
                    <a:lstStyle/>
                    <a:p>
                      <a:pPr marL="0" indent="0" algn="r">
                        <a:buNone/>
                      </a:pPr>
                      <a:r>
                        <a:rPr lang="en-US" sz="1050" dirty="0">
                          <a:solidFill>
                            <a:srgbClr val="2E3540"/>
                          </a:solidFill>
                          <a:latin typeface="Calibri" pitchFamily="34" charset="0"/>
                          <a:ea typeface="Calibri" pitchFamily="34" charset="-122"/>
                          <a:cs typeface="Calibri" pitchFamily="34" charset="-120"/>
                        </a:rPr>
                        <a:t>124 / 62</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EF1F4"/>
                    </a:solidFill>
                  </a:tcPr>
                </a:tc>
                <a:tc>
                  <a:txBody>
                    <a:bodyPr/>
                    <a:lstStyle/>
                    <a:p>
                      <a:pPr marL="0" indent="0" algn="l">
                        <a:buNone/>
                      </a:pPr>
                      <a:r>
                        <a:rPr lang="en-US" sz="1050" dirty="0">
                          <a:solidFill>
                            <a:srgbClr val="2E3540"/>
                          </a:solidFill>
                          <a:latin typeface="Calibri" pitchFamily="34" charset="0"/>
                          <a:ea typeface="Calibri" pitchFamily="34" charset="-122"/>
                          <a:cs typeface="Calibri" pitchFamily="34" charset="-120"/>
                        </a:rPr>
                        <a:t>Status casing variants</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EF1F4"/>
                    </a:solidFill>
                  </a:tcPr>
                </a:tc>
                <a:tc>
                  <a:txBody>
                    <a:bodyPr/>
                    <a:lstStyle/>
                    <a:p>
                      <a:pPr marL="0" indent="0" algn="r">
                        <a:buNone/>
                      </a:pPr>
                      <a:r>
                        <a:rPr lang="en-US" sz="1050" dirty="0">
                          <a:solidFill>
                            <a:srgbClr val="2E3540"/>
                          </a:solidFill>
                          <a:latin typeface="Calibri" pitchFamily="34" charset="0"/>
                          <a:ea typeface="Calibri" pitchFamily="34" charset="-122"/>
                          <a:cs typeface="Calibri" pitchFamily="34" charset="-120"/>
                        </a:rPr>
                        <a:t>750</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EF1F4"/>
                    </a:solidFill>
                  </a:tcPr>
                </a:tc>
                <a:extLst>
                  <a:ext uri="{0D108BD9-81ED-4DB2-BD59-A6C34878D82A}">
                    <a16:rowId xmlns:a16="http://schemas.microsoft.com/office/drawing/2014/main" val="10004"/>
                  </a:ext>
                </a:extLst>
              </a:tr>
              <a:tr h="246888">
                <a:tc>
                  <a:txBody>
                    <a:bodyPr/>
                    <a:lstStyle/>
                    <a:p>
                      <a:pPr marL="0" indent="0" algn="l">
                        <a:buNone/>
                      </a:pPr>
                      <a:r>
                        <a:rPr lang="en-US" sz="1050" dirty="0">
                          <a:solidFill>
                            <a:srgbClr val="2E3540"/>
                          </a:solidFill>
                          <a:latin typeface="Calibri" pitchFamily="34" charset="0"/>
                          <a:ea typeface="Calibri" pitchFamily="34" charset="-122"/>
                          <a:cs typeface="Calibri" pitchFamily="34" charset="-120"/>
                        </a:rPr>
                        <a:t>Impossible discount % (150, −5, 99)</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050" dirty="0">
                          <a:solidFill>
                            <a:srgbClr val="2E3540"/>
                          </a:solidFill>
                          <a:latin typeface="Calibri" pitchFamily="34" charset="0"/>
                          <a:ea typeface="Calibri" pitchFamily="34" charset="-122"/>
                          <a:cs typeface="Calibri" pitchFamily="34" charset="-120"/>
                        </a:rPr>
                        <a:t>42</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050" dirty="0">
                          <a:solidFill>
                            <a:srgbClr val="2E3540"/>
                          </a:solidFill>
                          <a:latin typeface="Calibri" pitchFamily="34" charset="0"/>
                          <a:ea typeface="Calibri" pitchFamily="34" charset="-122"/>
                          <a:cs typeface="Calibri" pitchFamily="34" charset="-120"/>
                        </a:rPr>
                        <a:t>Sale dated before its lead</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050" dirty="0">
                          <a:solidFill>
                            <a:srgbClr val="2E3540"/>
                          </a:solidFill>
                          <a:latin typeface="Calibri" pitchFamily="34" charset="0"/>
                          <a:ea typeface="Calibri" pitchFamily="34" charset="-122"/>
                          <a:cs typeface="Calibri" pitchFamily="34" charset="-120"/>
                        </a:rPr>
                        <a:t>13</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246888">
                <a:tc>
                  <a:txBody>
                    <a:bodyPr/>
                    <a:lstStyle/>
                    <a:p>
                      <a:pPr marL="0" indent="0" algn="l">
                        <a:buNone/>
                      </a:pPr>
                      <a:r>
                        <a:rPr lang="en-US" sz="1050" dirty="0">
                          <a:solidFill>
                            <a:srgbClr val="2E3540"/>
                          </a:solidFill>
                          <a:latin typeface="Calibri" pitchFamily="34" charset="0"/>
                          <a:ea typeface="Calibri" pitchFamily="34" charset="-122"/>
                          <a:cs typeface="Calibri" pitchFamily="34" charset="-120"/>
                        </a:rPr>
                        <a:t>Missing final price</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EF1F4"/>
                    </a:solidFill>
                  </a:tcPr>
                </a:tc>
                <a:tc>
                  <a:txBody>
                    <a:bodyPr/>
                    <a:lstStyle/>
                    <a:p>
                      <a:pPr marL="0" indent="0" algn="r">
                        <a:buNone/>
                      </a:pPr>
                      <a:r>
                        <a:rPr lang="en-US" sz="1050" dirty="0">
                          <a:solidFill>
                            <a:srgbClr val="2E3540"/>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EF1F4"/>
                    </a:solidFill>
                  </a:tcPr>
                </a:tc>
                <a:tc>
                  <a:txBody>
                    <a:bodyPr/>
                    <a:lstStyle/>
                    <a:p>
                      <a:pPr marL="0" indent="0" algn="l">
                        <a:buNone/>
                      </a:pPr>
                      <a:r>
                        <a:rPr lang="en-US" sz="1050" dirty="0">
                          <a:solidFill>
                            <a:srgbClr val="2E3540"/>
                          </a:solidFill>
                          <a:latin typeface="Calibri" pitchFamily="34" charset="0"/>
                          <a:ea typeface="Calibri" pitchFamily="34" charset="-122"/>
                          <a:cs typeface="Calibri" pitchFamily="34" charset="-120"/>
                        </a:rPr>
                        <a:t>Satisfaction score out of 1–5</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EF1F4"/>
                    </a:solidFill>
                  </a:tcPr>
                </a:tc>
                <a:tc>
                  <a:txBody>
                    <a:bodyPr/>
                    <a:lstStyle/>
                    <a:p>
                      <a:pPr marL="0" indent="0" algn="r">
                        <a:buNone/>
                      </a:pPr>
                      <a:r>
                        <a:rPr lang="en-US" sz="1050" dirty="0">
                          <a:solidFill>
                            <a:srgbClr val="2E3540"/>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EEF1F4"/>
                    </a:solidFill>
                  </a:tcPr>
                </a:tc>
                <a:extLst>
                  <a:ext uri="{0D108BD9-81ED-4DB2-BD59-A6C34878D82A}">
                    <a16:rowId xmlns:a16="http://schemas.microsoft.com/office/drawing/2014/main" val="10006"/>
                  </a:ext>
                </a:extLst>
              </a:tr>
              <a:tr h="246888">
                <a:tc>
                  <a:txBody>
                    <a:bodyPr/>
                    <a:lstStyle/>
                    <a:p>
                      <a:pPr marL="0" indent="0" algn="l">
                        <a:buNone/>
                      </a:pPr>
                      <a:r>
                        <a:rPr lang="en-US" sz="1050" dirty="0">
                          <a:solidFill>
                            <a:srgbClr val="2E3540"/>
                          </a:solidFill>
                          <a:latin typeface="Calibri" pitchFamily="34" charset="0"/>
                          <a:ea typeface="Calibri" pitchFamily="34" charset="-122"/>
                          <a:cs typeface="Calibri" pitchFamily="34" charset="-120"/>
                        </a:rPr>
                        <a:t>Interaction with orphan lead id</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050" dirty="0">
                          <a:solidFill>
                            <a:srgbClr val="2E3540"/>
                          </a:solidFill>
                          <a:latin typeface="Calibri" pitchFamily="34" charset="0"/>
                          <a:ea typeface="Calibri" pitchFamily="34" charset="-122"/>
                          <a:cs typeface="Calibri" pitchFamily="34" charset="-120"/>
                        </a:rPr>
                        <a:t>203</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050" dirty="0">
                          <a:solidFill>
                            <a:srgbClr val="2E3540"/>
                          </a:solidFill>
                          <a:latin typeface="Calibri" pitchFamily="34" charset="0"/>
                          <a:ea typeface="Calibri" pitchFamily="34" charset="-122"/>
                          <a:cs typeface="Calibri" pitchFamily="34" charset="-120"/>
                        </a:rPr>
                        <a:t>Mixed timestamp formats (CRM)</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050" dirty="0">
                          <a:solidFill>
                            <a:srgbClr val="2E3540"/>
                          </a:solidFill>
                          <a:latin typeface="Calibri" pitchFamily="34" charset="0"/>
                          <a:ea typeface="Calibri" pitchFamily="34" charset="-122"/>
                          <a:cs typeface="Calibri" pitchFamily="34" charset="-120"/>
                        </a:rPr>
                        <a:t>99 + 676</a:t>
                      </a:r>
                      <a:endParaRPr lang="en-US" sz="105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bl>
          </a:graphicData>
        </a:graphic>
      </p:graphicFrame>
      <p:sp>
        <p:nvSpPr>
          <p:cNvPr id="14" name="Text 11"/>
          <p:cNvSpPr txBox="1"/>
          <p:nvPr/>
        </p:nvSpPr>
        <p:spPr>
          <a:xfrm>
            <a:off x="548640" y="6172200"/>
            <a:ext cx="7315200" cy="274320"/>
          </a:xfrm>
          <a:prstGeom prst="rect">
            <a:avLst/>
          </a:prstGeom>
          <a:noFill/>
          <a:ln/>
        </p:spPr>
        <p:txBody>
          <a:bodyPr wrap="square" lIns="0" tIns="0" rIns="0" bIns="0" rtlCol="0" anchor="ctr"/>
          <a:lstStyle/>
          <a:p>
            <a:pPr marL="0" indent="0">
              <a:buNone/>
            </a:pPr>
            <a:r>
              <a:rPr lang="en-US" sz="1000" i="1" dirty="0">
                <a:solidFill>
                  <a:srgbClr val="5B6573"/>
                </a:solidFill>
                <a:latin typeface="Calibri" pitchFamily="34" charset="0"/>
                <a:ea typeface="Calibri" pitchFamily="34" charset="-122"/>
                <a:cs typeface="Calibri" pitchFamily="34" charset="-120"/>
              </a:rPr>
              <a:t>Full list of 22 defect types with counts: docs/dq_injections.md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1B1F24"/>
                </a:solidFill>
                <a:latin typeface="Cambria" pitchFamily="34" charset="0"/>
                <a:ea typeface="Cambria" pitchFamily="34" charset="-122"/>
                <a:cs typeface="Cambria" pitchFamily="34" charset="-120"/>
              </a:rPr>
              <a:t>Architecture</a:t>
            </a:r>
            <a:endParaRPr lang="en-US" sz="3200" dirty="0"/>
          </a:p>
        </p:txBody>
      </p:sp>
      <p:sp>
        <p:nvSpPr>
          <p:cNvPr id="3" name="Text 1"/>
          <p:cNvSpPr txBox="1"/>
          <p:nvPr/>
        </p:nvSpPr>
        <p:spPr>
          <a:xfrm>
            <a:off x="548640" y="1097280"/>
            <a:ext cx="11091672" cy="365760"/>
          </a:xfrm>
          <a:prstGeom prst="rect">
            <a:avLst/>
          </a:prstGeom>
          <a:noFill/>
          <a:ln/>
        </p:spPr>
        <p:txBody>
          <a:bodyPr wrap="square" lIns="0" tIns="0" rIns="0" bIns="0" rtlCol="0" anchor="ctr"/>
          <a:lstStyle/>
          <a:p>
            <a:pPr marL="0" indent="0">
              <a:buNone/>
            </a:pPr>
            <a:r>
              <a:rPr lang="en-US" sz="1400" dirty="0">
                <a:solidFill>
                  <a:srgbClr val="5B6573"/>
                </a:solidFill>
                <a:latin typeface="Calibri" pitchFamily="34" charset="0"/>
                <a:ea typeface="Calibri" pitchFamily="34" charset="-122"/>
                <a:cs typeface="Calibri" pitchFamily="34" charset="-120"/>
              </a:rPr>
              <a:t>One schema-enabled lakehouse, three schemas, one pipeline, one semantic model, one AI consumer</a:t>
            </a:r>
            <a:endParaRPr lang="en-US" sz="1400" dirty="0"/>
          </a:p>
        </p:txBody>
      </p:sp>
      <p:sp>
        <p:nvSpPr>
          <p:cNvPr id="4" name="Shape 2"/>
          <p:cNvSpPr/>
          <p:nvPr/>
        </p:nvSpPr>
        <p:spPr>
          <a:xfrm>
            <a:off x="548640" y="2011680"/>
            <a:ext cx="1554480" cy="1005840"/>
          </a:xfrm>
          <a:prstGeom prst="roundRect">
            <a:avLst>
              <a:gd name="adj" fmla="val 5455"/>
            </a:avLst>
          </a:prstGeom>
          <a:solidFill>
            <a:srgbClr val="2E3540"/>
          </a:solidFill>
          <a:ln w="12700">
            <a:solidFill>
              <a:srgbClr val="2E3540"/>
            </a:solidFill>
            <a:prstDash val="solid"/>
          </a:ln>
        </p:spPr>
        <p:txBody>
          <a:bodyPr/>
          <a:lstStyle/>
          <a:p>
            <a:endParaRPr lang="en-TR"/>
          </a:p>
        </p:txBody>
      </p:sp>
      <p:sp>
        <p:nvSpPr>
          <p:cNvPr id="5" name="Text 3"/>
          <p:cNvSpPr txBox="1"/>
          <p:nvPr/>
        </p:nvSpPr>
        <p:spPr>
          <a:xfrm>
            <a:off x="548640" y="2011680"/>
            <a:ext cx="1554480" cy="1005840"/>
          </a:xfrm>
          <a:prstGeom prst="rect">
            <a:avLst/>
          </a:prstGeom>
          <a:noFill/>
          <a:ln/>
        </p:spPr>
        <p:txBody>
          <a:bodyPr wrap="square" lIns="635" tIns="635" rIns="635" bIns="635"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Sources</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CRM · Web · DMS · Master</a:t>
            </a:r>
            <a:endParaRPr lang="en-US" sz="1100" dirty="0"/>
          </a:p>
        </p:txBody>
      </p:sp>
      <p:sp>
        <p:nvSpPr>
          <p:cNvPr id="6" name="Shape 4"/>
          <p:cNvSpPr/>
          <p:nvPr/>
        </p:nvSpPr>
        <p:spPr>
          <a:xfrm>
            <a:off x="2176272" y="2386584"/>
            <a:ext cx="411480" cy="256032"/>
          </a:xfrm>
          <a:prstGeom prst="rightArrow">
            <a:avLst/>
          </a:prstGeom>
          <a:solidFill>
            <a:srgbClr val="B8C0CC"/>
          </a:solidFill>
          <a:ln w="12700">
            <a:solidFill>
              <a:srgbClr val="B8C0CC"/>
            </a:solidFill>
            <a:prstDash val="solid"/>
          </a:ln>
        </p:spPr>
        <p:txBody>
          <a:bodyPr/>
          <a:lstStyle/>
          <a:p>
            <a:endParaRPr lang="en-TR"/>
          </a:p>
        </p:txBody>
      </p:sp>
      <p:sp>
        <p:nvSpPr>
          <p:cNvPr id="7" name="Shape 5"/>
          <p:cNvSpPr/>
          <p:nvPr/>
        </p:nvSpPr>
        <p:spPr>
          <a:xfrm>
            <a:off x="2651760" y="2011680"/>
            <a:ext cx="1600200" cy="1005840"/>
          </a:xfrm>
          <a:prstGeom prst="roundRect">
            <a:avLst>
              <a:gd name="adj" fmla="val 5455"/>
            </a:avLst>
          </a:prstGeom>
          <a:solidFill>
            <a:srgbClr val="9C6B3C"/>
          </a:solidFill>
          <a:ln w="12700">
            <a:solidFill>
              <a:srgbClr val="9C6B3C"/>
            </a:solidFill>
            <a:prstDash val="solid"/>
          </a:ln>
        </p:spPr>
        <p:txBody>
          <a:bodyPr/>
          <a:lstStyle/>
          <a:p>
            <a:endParaRPr lang="en-TR"/>
          </a:p>
        </p:txBody>
      </p:sp>
      <p:sp>
        <p:nvSpPr>
          <p:cNvPr id="8" name="Text 6"/>
          <p:cNvSpPr txBox="1"/>
          <p:nvPr/>
        </p:nvSpPr>
        <p:spPr>
          <a:xfrm>
            <a:off x="2651760" y="2011680"/>
            <a:ext cx="1600200" cy="1005840"/>
          </a:xfrm>
          <a:prstGeom prst="rect">
            <a:avLst/>
          </a:prstGeom>
          <a:noFill/>
          <a:ln/>
        </p:spPr>
        <p:txBody>
          <a:bodyPr wrap="square" lIns="635" tIns="635" rIns="635" bIns="635"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Bronze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raw as-is + lineage</a:t>
            </a:r>
            <a:endParaRPr lang="en-US" sz="1100" dirty="0"/>
          </a:p>
        </p:txBody>
      </p:sp>
      <p:sp>
        <p:nvSpPr>
          <p:cNvPr id="9" name="Shape 7"/>
          <p:cNvSpPr/>
          <p:nvPr/>
        </p:nvSpPr>
        <p:spPr>
          <a:xfrm>
            <a:off x="4325112" y="2386584"/>
            <a:ext cx="411480" cy="256032"/>
          </a:xfrm>
          <a:prstGeom prst="rightArrow">
            <a:avLst/>
          </a:prstGeom>
          <a:solidFill>
            <a:srgbClr val="B8C0CC"/>
          </a:solidFill>
          <a:ln w="12700">
            <a:solidFill>
              <a:srgbClr val="B8C0CC"/>
            </a:solidFill>
            <a:prstDash val="solid"/>
          </a:ln>
        </p:spPr>
        <p:txBody>
          <a:bodyPr/>
          <a:lstStyle/>
          <a:p>
            <a:endParaRPr lang="en-TR"/>
          </a:p>
        </p:txBody>
      </p:sp>
      <p:sp>
        <p:nvSpPr>
          <p:cNvPr id="10" name="Shape 8"/>
          <p:cNvSpPr/>
          <p:nvPr/>
        </p:nvSpPr>
        <p:spPr>
          <a:xfrm>
            <a:off x="4800600" y="2011680"/>
            <a:ext cx="1600200" cy="1005840"/>
          </a:xfrm>
          <a:prstGeom prst="roundRect">
            <a:avLst>
              <a:gd name="adj" fmla="val 5455"/>
            </a:avLst>
          </a:prstGeom>
          <a:solidFill>
            <a:srgbClr val="B8C0CC"/>
          </a:solidFill>
          <a:ln w="12700">
            <a:solidFill>
              <a:srgbClr val="B8C0CC"/>
            </a:solidFill>
            <a:prstDash val="solid"/>
          </a:ln>
        </p:spPr>
        <p:txBody>
          <a:bodyPr/>
          <a:lstStyle/>
          <a:p>
            <a:endParaRPr lang="en-TR"/>
          </a:p>
        </p:txBody>
      </p:sp>
      <p:sp>
        <p:nvSpPr>
          <p:cNvPr id="11" name="Text 9"/>
          <p:cNvSpPr txBox="1"/>
          <p:nvPr/>
        </p:nvSpPr>
        <p:spPr>
          <a:xfrm>
            <a:off x="4800600" y="2011680"/>
            <a:ext cx="1600200" cy="1005840"/>
          </a:xfrm>
          <a:prstGeom prst="rect">
            <a:avLst/>
          </a:prstGeom>
          <a:noFill/>
          <a:ln/>
        </p:spPr>
        <p:txBody>
          <a:bodyPr wrap="square" lIns="635" tIns="635" rIns="635" bIns="635" rtlCol="0" anchor="ctr"/>
          <a:lstStyle/>
          <a:p>
            <a:pPr marL="0" indent="0" algn="ctr">
              <a:buNone/>
            </a:pPr>
            <a:r>
              <a:rPr lang="en-US" sz="1100" b="1" dirty="0">
                <a:solidFill>
                  <a:srgbClr val="1B1F24"/>
                </a:solidFill>
                <a:latin typeface="Calibri" pitchFamily="34" charset="0"/>
                <a:ea typeface="Calibri" pitchFamily="34" charset="-122"/>
                <a:cs typeface="Calibri" pitchFamily="34" charset="-120"/>
              </a:rPr>
              <a:t>Silver</a:t>
            </a:r>
            <a:endParaRPr lang="en-US" sz="1100" dirty="0"/>
          </a:p>
          <a:p>
            <a:pPr marL="0" indent="0" algn="ctr">
              <a:buNone/>
            </a:pPr>
            <a:r>
              <a:rPr lang="en-US" sz="1100" b="1" dirty="0">
                <a:solidFill>
                  <a:srgbClr val="1B1F24"/>
                </a:solidFill>
                <a:latin typeface="Calibri" pitchFamily="34" charset="0"/>
                <a:ea typeface="Calibri" pitchFamily="34" charset="-122"/>
                <a:cs typeface="Calibri" pitchFamily="34" charset="-120"/>
              </a:rPr>
              <a:t>clean · conform · validate</a:t>
            </a:r>
            <a:endParaRPr lang="en-US" sz="1100" dirty="0"/>
          </a:p>
        </p:txBody>
      </p:sp>
      <p:sp>
        <p:nvSpPr>
          <p:cNvPr id="12" name="Shape 10"/>
          <p:cNvSpPr/>
          <p:nvPr/>
        </p:nvSpPr>
        <p:spPr>
          <a:xfrm>
            <a:off x="6473952" y="2386584"/>
            <a:ext cx="411480" cy="256032"/>
          </a:xfrm>
          <a:prstGeom prst="rightArrow">
            <a:avLst/>
          </a:prstGeom>
          <a:solidFill>
            <a:srgbClr val="B8C0CC"/>
          </a:solidFill>
          <a:ln w="12700">
            <a:solidFill>
              <a:srgbClr val="B8C0CC"/>
            </a:solidFill>
            <a:prstDash val="solid"/>
          </a:ln>
        </p:spPr>
        <p:txBody>
          <a:bodyPr/>
          <a:lstStyle/>
          <a:p>
            <a:endParaRPr lang="en-TR"/>
          </a:p>
        </p:txBody>
      </p:sp>
      <p:sp>
        <p:nvSpPr>
          <p:cNvPr id="13" name="Shape 11"/>
          <p:cNvSpPr/>
          <p:nvPr/>
        </p:nvSpPr>
        <p:spPr>
          <a:xfrm>
            <a:off x="6949440" y="2011680"/>
            <a:ext cx="1600200" cy="1005840"/>
          </a:xfrm>
          <a:prstGeom prst="roundRect">
            <a:avLst>
              <a:gd name="adj" fmla="val 5455"/>
            </a:avLst>
          </a:prstGeom>
          <a:solidFill>
            <a:srgbClr val="E8A33D"/>
          </a:solidFill>
          <a:ln w="12700">
            <a:solidFill>
              <a:srgbClr val="E8A33D"/>
            </a:solidFill>
            <a:prstDash val="solid"/>
          </a:ln>
        </p:spPr>
        <p:txBody>
          <a:bodyPr/>
          <a:lstStyle/>
          <a:p>
            <a:endParaRPr lang="en-TR"/>
          </a:p>
        </p:txBody>
      </p:sp>
      <p:sp>
        <p:nvSpPr>
          <p:cNvPr id="14" name="Text 12"/>
          <p:cNvSpPr txBox="1"/>
          <p:nvPr/>
        </p:nvSpPr>
        <p:spPr>
          <a:xfrm>
            <a:off x="6949440" y="2011680"/>
            <a:ext cx="1600200" cy="1005840"/>
          </a:xfrm>
          <a:prstGeom prst="rect">
            <a:avLst/>
          </a:prstGeom>
          <a:noFill/>
          <a:ln/>
        </p:spPr>
        <p:txBody>
          <a:bodyPr wrap="square" lIns="635" tIns="635" rIns="635" bIns="635" rtlCol="0" anchor="ctr"/>
          <a:lstStyle/>
          <a:p>
            <a:pPr marL="0" indent="0" algn="ctr">
              <a:buNone/>
            </a:pPr>
            <a:r>
              <a:rPr lang="en-US" sz="1100" b="1" dirty="0">
                <a:solidFill>
                  <a:srgbClr val="1B1F24"/>
                </a:solidFill>
                <a:latin typeface="Calibri" pitchFamily="34" charset="0"/>
                <a:ea typeface="Calibri" pitchFamily="34" charset="-122"/>
                <a:cs typeface="Calibri" pitchFamily="34" charset="-120"/>
              </a:rPr>
              <a:t>Gold</a:t>
            </a:r>
            <a:endParaRPr lang="en-US" sz="1100" dirty="0"/>
          </a:p>
          <a:p>
            <a:pPr marL="0" indent="0" algn="ctr">
              <a:buNone/>
            </a:pPr>
            <a:r>
              <a:rPr lang="en-US" sz="1100" b="1" dirty="0">
                <a:solidFill>
                  <a:srgbClr val="1B1F24"/>
                </a:solidFill>
                <a:latin typeface="Calibri" pitchFamily="34" charset="0"/>
                <a:ea typeface="Calibri" pitchFamily="34" charset="-122"/>
                <a:cs typeface="Calibri" pitchFamily="34" charset="-120"/>
              </a:rPr>
              <a:t>star schema</a:t>
            </a:r>
            <a:endParaRPr lang="en-US" sz="1100" dirty="0"/>
          </a:p>
        </p:txBody>
      </p:sp>
      <p:sp>
        <p:nvSpPr>
          <p:cNvPr id="15" name="Shape 13"/>
          <p:cNvSpPr/>
          <p:nvPr/>
        </p:nvSpPr>
        <p:spPr>
          <a:xfrm>
            <a:off x="8622792" y="2103120"/>
            <a:ext cx="411480" cy="256032"/>
          </a:xfrm>
          <a:prstGeom prst="rightArrow">
            <a:avLst/>
          </a:prstGeom>
          <a:solidFill>
            <a:srgbClr val="B8C0CC"/>
          </a:solidFill>
          <a:ln w="12700">
            <a:solidFill>
              <a:srgbClr val="B8C0CC"/>
            </a:solidFill>
            <a:prstDash val="solid"/>
          </a:ln>
        </p:spPr>
        <p:txBody>
          <a:bodyPr/>
          <a:lstStyle/>
          <a:p>
            <a:endParaRPr lang="en-TR"/>
          </a:p>
        </p:txBody>
      </p:sp>
      <p:sp>
        <p:nvSpPr>
          <p:cNvPr id="16" name="Shape 14"/>
          <p:cNvSpPr/>
          <p:nvPr/>
        </p:nvSpPr>
        <p:spPr>
          <a:xfrm>
            <a:off x="8622792" y="2697480"/>
            <a:ext cx="411480" cy="256032"/>
          </a:xfrm>
          <a:prstGeom prst="rightArrow">
            <a:avLst/>
          </a:prstGeom>
          <a:solidFill>
            <a:srgbClr val="B8C0CC"/>
          </a:solidFill>
          <a:ln w="12700">
            <a:solidFill>
              <a:srgbClr val="B8C0CC"/>
            </a:solidFill>
            <a:prstDash val="solid"/>
          </a:ln>
        </p:spPr>
        <p:txBody>
          <a:bodyPr/>
          <a:lstStyle/>
          <a:p>
            <a:endParaRPr lang="en-TR"/>
          </a:p>
        </p:txBody>
      </p:sp>
      <p:sp>
        <p:nvSpPr>
          <p:cNvPr id="17" name="Shape 15"/>
          <p:cNvSpPr/>
          <p:nvPr/>
        </p:nvSpPr>
        <p:spPr>
          <a:xfrm>
            <a:off x="9098280" y="1691640"/>
            <a:ext cx="2560320" cy="777240"/>
          </a:xfrm>
          <a:prstGeom prst="roundRect">
            <a:avLst>
              <a:gd name="adj" fmla="val 7059"/>
            </a:avLst>
          </a:prstGeom>
          <a:solidFill>
            <a:srgbClr val="1B9AAA"/>
          </a:solidFill>
          <a:ln w="12700">
            <a:solidFill>
              <a:srgbClr val="1B9AAA"/>
            </a:solidFill>
            <a:prstDash val="solid"/>
          </a:ln>
        </p:spPr>
        <p:txBody>
          <a:bodyPr/>
          <a:lstStyle/>
          <a:p>
            <a:endParaRPr lang="en-TR"/>
          </a:p>
        </p:txBody>
      </p:sp>
      <p:sp>
        <p:nvSpPr>
          <p:cNvPr id="18" name="Text 16"/>
          <p:cNvSpPr txBox="1"/>
          <p:nvPr/>
        </p:nvSpPr>
        <p:spPr>
          <a:xfrm>
            <a:off x="9098280" y="1691640"/>
            <a:ext cx="2560320" cy="777240"/>
          </a:xfrm>
          <a:prstGeom prst="rect">
            <a:avLst/>
          </a:prstGeom>
          <a:noFill/>
          <a:ln/>
        </p:spPr>
        <p:txBody>
          <a:bodyPr wrap="square" lIns="635" tIns="635" rIns="635" bIns="635"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Semantic model (Direct Lake)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 Power BI report, 4 pages</a:t>
            </a:r>
            <a:endParaRPr lang="en-US" sz="1100" dirty="0"/>
          </a:p>
        </p:txBody>
      </p:sp>
      <p:sp>
        <p:nvSpPr>
          <p:cNvPr id="19" name="Shape 17"/>
          <p:cNvSpPr/>
          <p:nvPr/>
        </p:nvSpPr>
        <p:spPr>
          <a:xfrm>
            <a:off x="9098280" y="2606040"/>
            <a:ext cx="2560320" cy="777240"/>
          </a:xfrm>
          <a:prstGeom prst="roundRect">
            <a:avLst>
              <a:gd name="adj" fmla="val 7059"/>
            </a:avLst>
          </a:prstGeom>
          <a:solidFill>
            <a:srgbClr val="1B9AAA"/>
          </a:solidFill>
          <a:ln w="12700">
            <a:solidFill>
              <a:srgbClr val="1B9AAA"/>
            </a:solidFill>
            <a:prstDash val="solid"/>
          </a:ln>
        </p:spPr>
        <p:txBody>
          <a:bodyPr/>
          <a:lstStyle/>
          <a:p>
            <a:endParaRPr lang="en-TR"/>
          </a:p>
        </p:txBody>
      </p:sp>
      <p:sp>
        <p:nvSpPr>
          <p:cNvPr id="20" name="Text 18"/>
          <p:cNvSpPr txBox="1"/>
          <p:nvPr/>
        </p:nvSpPr>
        <p:spPr>
          <a:xfrm>
            <a:off x="9098280" y="2606040"/>
            <a:ext cx="2560320" cy="777240"/>
          </a:xfrm>
          <a:prstGeom prst="rect">
            <a:avLst/>
          </a:prstGeom>
          <a:noFill/>
          <a:ln/>
        </p:spPr>
        <p:txBody>
          <a:bodyPr wrap="square" lIns="635" tIns="635" rIns="635" bIns="635"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Lead Intelligence Assistant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scoring model + Streamlit</a:t>
            </a:r>
            <a:endParaRPr lang="en-US" sz="1100" dirty="0"/>
          </a:p>
        </p:txBody>
      </p:sp>
      <p:sp>
        <p:nvSpPr>
          <p:cNvPr id="21" name="Shape 19"/>
          <p:cNvSpPr/>
          <p:nvPr/>
        </p:nvSpPr>
        <p:spPr>
          <a:xfrm>
            <a:off x="2560320" y="3246120"/>
            <a:ext cx="6080760" cy="411480"/>
          </a:xfrm>
          <a:prstGeom prst="roundRect">
            <a:avLst>
              <a:gd name="adj" fmla="val 13333"/>
            </a:avLst>
          </a:prstGeom>
          <a:solidFill>
            <a:srgbClr val="EEF1F4"/>
          </a:solidFill>
          <a:ln w="12700">
            <a:solidFill>
              <a:srgbClr val="EEF1F4"/>
            </a:solidFill>
            <a:prstDash val="solid"/>
          </a:ln>
        </p:spPr>
        <p:txBody>
          <a:bodyPr/>
          <a:lstStyle/>
          <a:p>
            <a:endParaRPr lang="en-TR"/>
          </a:p>
        </p:txBody>
      </p:sp>
      <p:sp>
        <p:nvSpPr>
          <p:cNvPr id="22" name="Text 20"/>
          <p:cNvSpPr txBox="1"/>
          <p:nvPr/>
        </p:nvSpPr>
        <p:spPr>
          <a:xfrm>
            <a:off x="2560320" y="3246120"/>
            <a:ext cx="6080760" cy="411480"/>
          </a:xfrm>
          <a:prstGeom prst="rect">
            <a:avLst/>
          </a:prstGeom>
          <a:noFill/>
          <a:ln/>
        </p:spPr>
        <p:txBody>
          <a:bodyPr wrap="square" lIns="0" tIns="0" rIns="0" bIns="0" rtlCol="0" anchor="ctr"/>
          <a:lstStyle/>
          <a:p>
            <a:pPr marL="0" indent="0" algn="ctr">
              <a:buNone/>
            </a:pPr>
            <a:r>
              <a:rPr lang="en-US" sz="1050" dirty="0">
                <a:solidFill>
                  <a:srgbClr val="2E3540"/>
                </a:solidFill>
                <a:latin typeface="Calibri" pitchFamily="34" charset="0"/>
                <a:ea typeface="Calibri" pitchFamily="34" charset="-122"/>
                <a:cs typeface="Calibri" pitchFamily="34" charset="-120"/>
              </a:rPr>
              <a:t>Data Factory pipeline pl_lead_to_sale_daily: </a:t>
            </a:r>
            <a:r>
              <a:rPr lang="en-US" sz="1050" dirty="0">
                <a:solidFill>
                  <a:srgbClr val="2E3540"/>
                </a:solidFill>
                <a:latin typeface="Calibri" pitchFamily="34" charset="0"/>
                <a:cs typeface="Calibri" pitchFamily="34" charset="-120"/>
              </a:rPr>
              <a:t>notebook 01 → 02 → 03, on-failure alert, daily 06:00. </a:t>
            </a:r>
          </a:p>
          <a:p>
            <a:pPr marL="0" indent="0" algn="ctr">
              <a:buNone/>
            </a:pPr>
            <a:r>
              <a:rPr lang="en-US" sz="1050" dirty="0">
                <a:solidFill>
                  <a:srgbClr val="2E3540"/>
                </a:solidFill>
                <a:latin typeface="Calibri" pitchFamily="34" charset="0"/>
                <a:cs typeface="Calibri" pitchFamily="34" charset="-120"/>
              </a:rPr>
              <a:t>Trainer runs separately (next step: add as a 4th pipeline step)</a:t>
            </a:r>
          </a:p>
        </p:txBody>
      </p:sp>
      <p:sp>
        <p:nvSpPr>
          <p:cNvPr id="23" name="Text 21"/>
          <p:cNvSpPr txBox="1"/>
          <p:nvPr/>
        </p:nvSpPr>
        <p:spPr>
          <a:xfrm>
            <a:off x="525780" y="4069080"/>
            <a:ext cx="5852160" cy="21031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E3540"/>
                </a:solidFill>
                <a:latin typeface="Calibri" pitchFamily="34" charset="0"/>
                <a:ea typeface="Calibri" pitchFamily="34" charset="-122"/>
                <a:cs typeface="Calibri" pitchFamily="34" charset="-120"/>
              </a:rPr>
              <a:t>Lakehouse lh_borusan with schemas bronze / silver / gold — one storage, clear boundaries, no cross-workspace </a:t>
            </a:r>
            <a:r>
              <a:rPr lang="en-US" sz="1200" dirty="0">
                <a:solidFill>
                  <a:srgbClr val="2E3540"/>
                </a:solidFill>
                <a:latin typeface="Calibri" pitchFamily="34" charset="0"/>
                <a:cs typeface="Calibri" pitchFamily="34" charset="-120"/>
              </a:rPr>
              <a:t>plumbing for the case scope</a:t>
            </a:r>
          </a:p>
          <a:p>
            <a:pPr marL="342900" indent="-342900">
              <a:spcAft>
                <a:spcPts val="600"/>
              </a:spcAft>
              <a:buSzPct val="100000"/>
              <a:buChar char="•"/>
            </a:pPr>
            <a:r>
              <a:rPr lang="en-US" sz="1200" dirty="0">
                <a:solidFill>
                  <a:srgbClr val="2E3540"/>
                </a:solidFill>
                <a:latin typeface="Calibri" pitchFamily="34" charset="0"/>
                <a:ea typeface="Calibri" pitchFamily="34" charset="-122"/>
                <a:cs typeface="Calibri" pitchFamily="34" charset="-120"/>
              </a:rPr>
              <a:t>Notebooks run unchanged in Fabric (Delta) and on a laptop (parquet) — the environment is detected, not configured</a:t>
            </a:r>
            <a:endParaRPr lang="en-US" sz="1200" dirty="0"/>
          </a:p>
          <a:p>
            <a:pPr marL="342900" indent="-342900">
              <a:spcAft>
                <a:spcPts val="600"/>
              </a:spcAft>
              <a:buSzPct val="100000"/>
              <a:buChar char="•"/>
            </a:pPr>
            <a:r>
              <a:rPr lang="en-US" sz="1200" dirty="0">
                <a:solidFill>
                  <a:srgbClr val="2E3540"/>
                </a:solidFill>
                <a:latin typeface="Calibri" pitchFamily="34" charset="0"/>
                <a:cs typeface="Calibri" pitchFamily="34" charset="-120"/>
              </a:rPr>
              <a:t>Semantic model in Direct Lake: no scheduled data import; the report reads the Gold Delta tables directly.</a:t>
            </a:r>
          </a:p>
          <a:p>
            <a:pPr marL="342900" indent="-342900">
              <a:spcAft>
                <a:spcPts val="600"/>
              </a:spcAft>
              <a:buSzPct val="100000"/>
              <a:buChar char="•"/>
            </a:pPr>
            <a:r>
              <a:rPr lang="en-US" sz="1200" dirty="0">
                <a:solidFill>
                  <a:srgbClr val="2E3540"/>
                </a:solidFill>
                <a:latin typeface="Calibri" pitchFamily="34" charset="0"/>
                <a:ea typeface="Calibri" pitchFamily="34" charset="-122"/>
                <a:cs typeface="Calibri" pitchFamily="34" charset="-120"/>
              </a:rPr>
              <a:t>The AI product reads Gold only — report and assistant look at the same numbers</a:t>
            </a:r>
            <a:endParaRPr lang="en-US" sz="1200" dirty="0"/>
          </a:p>
        </p:txBody>
      </p:sp>
      <p:sp>
        <p:nvSpPr>
          <p:cNvPr id="31" name="Shape 14">
            <a:extLst>
              <a:ext uri="{FF2B5EF4-FFF2-40B4-BE49-F238E27FC236}">
                <a16:creationId xmlns:a16="http://schemas.microsoft.com/office/drawing/2014/main" id="{C5767061-1DA3-BBAD-69ED-6845EACD4BCC}"/>
              </a:ext>
            </a:extLst>
          </p:cNvPr>
          <p:cNvSpPr/>
          <p:nvPr/>
        </p:nvSpPr>
        <p:spPr>
          <a:xfrm>
            <a:off x="7399779" y="3724284"/>
            <a:ext cx="3958854" cy="2953512"/>
          </a:xfrm>
          <a:prstGeom prst="roundRect">
            <a:avLst>
              <a:gd name="adj" fmla="val 1702"/>
            </a:avLst>
          </a:prstGeom>
          <a:solidFill>
            <a:srgbClr val="EEF1F4"/>
          </a:solidFill>
          <a:ln w="19050">
            <a:solidFill>
              <a:srgbClr val="E8A33D"/>
            </a:solidFill>
            <a:prstDash val="dash"/>
          </a:ln>
        </p:spPr>
        <p:txBody>
          <a:bodyPr/>
          <a:lstStyle/>
          <a:p>
            <a:endParaRPr lang="en-TR"/>
          </a:p>
        </p:txBody>
      </p:sp>
      <p:pic>
        <p:nvPicPr>
          <p:cNvPr id="30" name="Picture 29" descr="A screenshot of a computer&#10;&#10;AI-generated content may be incorrect.">
            <a:extLst>
              <a:ext uri="{FF2B5EF4-FFF2-40B4-BE49-F238E27FC236}">
                <a16:creationId xmlns:a16="http://schemas.microsoft.com/office/drawing/2014/main" id="{034EFB79-FFF6-7807-5B0B-097C64D20A1E}"/>
              </a:ext>
            </a:extLst>
          </p:cNvPr>
          <p:cNvPicPr>
            <a:picLocks noChangeAspect="1"/>
          </p:cNvPicPr>
          <p:nvPr/>
        </p:nvPicPr>
        <p:blipFill>
          <a:blip r:embed="rId3"/>
          <a:stretch>
            <a:fillRect/>
          </a:stretch>
        </p:blipFill>
        <p:spPr>
          <a:xfrm>
            <a:off x="7645192" y="3950208"/>
            <a:ext cx="3468028" cy="257657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7" name="Shape 14">
            <a:extLst>
              <a:ext uri="{FF2B5EF4-FFF2-40B4-BE49-F238E27FC236}">
                <a16:creationId xmlns:a16="http://schemas.microsoft.com/office/drawing/2014/main" id="{C882C6D2-5095-8011-281C-DBBB12DEF0A3}"/>
              </a:ext>
            </a:extLst>
          </p:cNvPr>
          <p:cNvSpPr/>
          <p:nvPr/>
        </p:nvSpPr>
        <p:spPr>
          <a:xfrm>
            <a:off x="6400800" y="1737360"/>
            <a:ext cx="5212080" cy="4297680"/>
          </a:xfrm>
          <a:prstGeom prst="roundRect">
            <a:avLst>
              <a:gd name="adj" fmla="val 1702"/>
            </a:avLst>
          </a:prstGeom>
          <a:solidFill>
            <a:srgbClr val="EEF1F4"/>
          </a:solidFill>
          <a:ln w="19050">
            <a:solidFill>
              <a:srgbClr val="E8A33D"/>
            </a:solidFill>
            <a:prstDash val="dash"/>
          </a:ln>
        </p:spPr>
        <p:txBody>
          <a:bodyPr/>
          <a:lstStyle/>
          <a:p>
            <a:endParaRPr lang="en-TR"/>
          </a:p>
        </p:txBody>
      </p:sp>
      <p:sp>
        <p:nvSpPr>
          <p:cNvPr id="2" name="Text 0"/>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1B1F24"/>
                </a:solidFill>
                <a:latin typeface="Cambria" pitchFamily="34" charset="0"/>
                <a:ea typeface="Cambria" pitchFamily="34" charset="-122"/>
                <a:cs typeface="Cambria" pitchFamily="34" charset="-120"/>
              </a:rPr>
              <a:t>Bronze — land it exactly as received</a:t>
            </a:r>
            <a:endParaRPr lang="en-US" sz="3200" dirty="0"/>
          </a:p>
        </p:txBody>
      </p:sp>
      <p:sp>
        <p:nvSpPr>
          <p:cNvPr id="3" name="Text 1"/>
          <p:cNvSpPr txBox="1"/>
          <p:nvPr/>
        </p:nvSpPr>
        <p:spPr>
          <a:xfrm>
            <a:off x="548640" y="1097280"/>
            <a:ext cx="11091672" cy="365760"/>
          </a:xfrm>
          <a:prstGeom prst="rect">
            <a:avLst/>
          </a:prstGeom>
          <a:noFill/>
          <a:ln/>
        </p:spPr>
        <p:txBody>
          <a:bodyPr wrap="square" lIns="0" tIns="0" rIns="0" bIns="0" rtlCol="0" anchor="ctr"/>
          <a:lstStyle/>
          <a:p>
            <a:pPr marL="0" indent="0">
              <a:buNone/>
            </a:pPr>
            <a:r>
              <a:rPr lang="en-US" sz="1400" dirty="0">
                <a:solidFill>
                  <a:srgbClr val="5B6573"/>
                </a:solidFill>
                <a:latin typeface="Calibri" pitchFamily="34" charset="0"/>
                <a:ea typeface="Calibri" pitchFamily="34" charset="-122"/>
                <a:cs typeface="Calibri" pitchFamily="34" charset="-120"/>
              </a:rPr>
              <a:t>The audit trail: if a Silver number is ever wrong, Bronze shows what the source actually sent</a:t>
            </a:r>
            <a:endParaRPr lang="en-US" sz="1400" dirty="0"/>
          </a:p>
        </p:txBody>
      </p:sp>
      <p:pic>
        <p:nvPicPr>
          <p:cNvPr id="22" name="Picture 21" descr="A screenshot of a computer&#10;&#10;AI-generated content may be incorrect.">
            <a:extLst>
              <a:ext uri="{FF2B5EF4-FFF2-40B4-BE49-F238E27FC236}">
                <a16:creationId xmlns:a16="http://schemas.microsoft.com/office/drawing/2014/main" id="{011A8F67-9719-EBAA-7839-DA39A48B2D37}"/>
              </a:ext>
            </a:extLst>
          </p:cNvPr>
          <p:cNvPicPr>
            <a:picLocks noChangeAspect="1"/>
          </p:cNvPicPr>
          <p:nvPr/>
        </p:nvPicPr>
        <p:blipFill>
          <a:blip r:embed="rId3"/>
          <a:stretch>
            <a:fillRect/>
          </a:stretch>
        </p:blipFill>
        <p:spPr>
          <a:xfrm>
            <a:off x="6904093" y="1994987"/>
            <a:ext cx="4282067" cy="3562969"/>
          </a:xfrm>
          <a:prstGeom prst="rect">
            <a:avLst/>
          </a:prstGeom>
        </p:spPr>
      </p:pic>
      <p:sp>
        <p:nvSpPr>
          <p:cNvPr id="35" name="Shape 2">
            <a:extLst>
              <a:ext uri="{FF2B5EF4-FFF2-40B4-BE49-F238E27FC236}">
                <a16:creationId xmlns:a16="http://schemas.microsoft.com/office/drawing/2014/main" id="{A7944087-04B7-1A51-DD49-3EC4B4882075}"/>
              </a:ext>
            </a:extLst>
          </p:cNvPr>
          <p:cNvSpPr/>
          <p:nvPr/>
        </p:nvSpPr>
        <p:spPr>
          <a:xfrm>
            <a:off x="548640" y="1783080"/>
            <a:ext cx="347472" cy="347472"/>
          </a:xfrm>
          <a:prstGeom prst="ellipse">
            <a:avLst/>
          </a:prstGeom>
          <a:solidFill>
            <a:srgbClr val="E8A33D"/>
          </a:solidFill>
          <a:ln w="12700">
            <a:solidFill>
              <a:srgbClr val="E8A33D"/>
            </a:solidFill>
            <a:prstDash val="solid"/>
          </a:ln>
        </p:spPr>
        <p:txBody>
          <a:bodyPr/>
          <a:lstStyle/>
          <a:p>
            <a:endParaRPr lang="en-TR"/>
          </a:p>
        </p:txBody>
      </p:sp>
      <p:sp>
        <p:nvSpPr>
          <p:cNvPr id="36" name="Text 3">
            <a:extLst>
              <a:ext uri="{FF2B5EF4-FFF2-40B4-BE49-F238E27FC236}">
                <a16:creationId xmlns:a16="http://schemas.microsoft.com/office/drawing/2014/main" id="{451CA349-81E8-9B93-5B47-2E986020FA7C}"/>
              </a:ext>
            </a:extLst>
          </p:cNvPr>
          <p:cNvSpPr txBox="1"/>
          <p:nvPr/>
        </p:nvSpPr>
        <p:spPr>
          <a:xfrm>
            <a:off x="548640" y="178308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7" name="Text 4">
            <a:extLst>
              <a:ext uri="{FF2B5EF4-FFF2-40B4-BE49-F238E27FC236}">
                <a16:creationId xmlns:a16="http://schemas.microsoft.com/office/drawing/2014/main" id="{B975215B-ACF0-93F5-516E-9BAB5034A0ED}"/>
              </a:ext>
            </a:extLst>
          </p:cNvPr>
          <p:cNvSpPr txBox="1"/>
          <p:nvPr/>
        </p:nvSpPr>
        <p:spPr>
          <a:xfrm>
            <a:off x="1005840" y="1764792"/>
            <a:ext cx="5120640" cy="365760"/>
          </a:xfrm>
          <a:prstGeom prst="rect">
            <a:avLst/>
          </a:prstGeom>
          <a:noFill/>
          <a:ln/>
        </p:spPr>
        <p:txBody>
          <a:bodyPr wrap="square" lIns="0" tIns="0" rIns="0" bIns="0" rtlCol="0" anchor="ctr"/>
          <a:lstStyle/>
          <a:p>
            <a:pPr marL="0" indent="0">
              <a:buNone/>
            </a:pPr>
            <a:r>
              <a:rPr lang="en-US" sz="1500" b="1" dirty="0">
                <a:solidFill>
                  <a:srgbClr val="1B1F24"/>
                </a:solidFill>
                <a:latin typeface="Cambria" pitchFamily="34" charset="0"/>
                <a:ea typeface="Cambria" pitchFamily="34" charset="-122"/>
                <a:cs typeface="Cambria" pitchFamily="34" charset="-120"/>
              </a:rPr>
              <a:t>Everything read as string</a:t>
            </a:r>
            <a:endParaRPr lang="en-US" sz="1500" dirty="0"/>
          </a:p>
        </p:txBody>
      </p:sp>
      <p:sp>
        <p:nvSpPr>
          <p:cNvPr id="38" name="Text 5">
            <a:extLst>
              <a:ext uri="{FF2B5EF4-FFF2-40B4-BE49-F238E27FC236}">
                <a16:creationId xmlns:a16="http://schemas.microsoft.com/office/drawing/2014/main" id="{FEDBF8F7-BBF6-440F-1125-611F6D34D6E5}"/>
              </a:ext>
            </a:extLst>
          </p:cNvPr>
          <p:cNvSpPr txBox="1"/>
          <p:nvPr/>
        </p:nvSpPr>
        <p:spPr>
          <a:xfrm>
            <a:off x="1005840" y="2130552"/>
            <a:ext cx="5120640" cy="731520"/>
          </a:xfrm>
          <a:prstGeom prst="rect">
            <a:avLst/>
          </a:prstGeom>
          <a:noFill/>
          <a:ln/>
        </p:spPr>
        <p:txBody>
          <a:bodyPr wrap="square" lIns="0" tIns="0" rIns="0" bIns="0" rtlCol="0" anchor="ctr"/>
          <a:lstStyle/>
          <a:p>
            <a:pPr marL="0" indent="0">
              <a:buNone/>
            </a:pPr>
            <a:r>
              <a:rPr lang="en-US" sz="1200" dirty="0">
                <a:solidFill>
                  <a:srgbClr val="2E3540"/>
                </a:solidFill>
                <a:latin typeface="Calibri" pitchFamily="34" charset="0"/>
                <a:ea typeface="Calibri" pitchFamily="34" charset="-122"/>
                <a:cs typeface="Calibri" pitchFamily="34" charset="-120"/>
              </a:rPr>
              <a:t>No type casting, no decimal-comma fix, no date parsing. A parse failure in Bronze would silently become null; in Silver it becomes a counted DQ issue.</a:t>
            </a:r>
            <a:endParaRPr lang="en-US" sz="1200" dirty="0"/>
          </a:p>
        </p:txBody>
      </p:sp>
      <p:sp>
        <p:nvSpPr>
          <p:cNvPr id="39" name="Shape 6">
            <a:extLst>
              <a:ext uri="{FF2B5EF4-FFF2-40B4-BE49-F238E27FC236}">
                <a16:creationId xmlns:a16="http://schemas.microsoft.com/office/drawing/2014/main" id="{9D58AC93-2CFF-921B-D324-3079D60AB435}"/>
              </a:ext>
            </a:extLst>
          </p:cNvPr>
          <p:cNvSpPr/>
          <p:nvPr/>
        </p:nvSpPr>
        <p:spPr>
          <a:xfrm>
            <a:off x="548640" y="3063240"/>
            <a:ext cx="347472" cy="347472"/>
          </a:xfrm>
          <a:prstGeom prst="ellipse">
            <a:avLst/>
          </a:prstGeom>
          <a:solidFill>
            <a:srgbClr val="E8A33D"/>
          </a:solidFill>
          <a:ln w="12700">
            <a:solidFill>
              <a:srgbClr val="E8A33D"/>
            </a:solidFill>
            <a:prstDash val="solid"/>
          </a:ln>
        </p:spPr>
        <p:txBody>
          <a:bodyPr/>
          <a:lstStyle/>
          <a:p>
            <a:endParaRPr lang="en-TR"/>
          </a:p>
        </p:txBody>
      </p:sp>
      <p:sp>
        <p:nvSpPr>
          <p:cNvPr id="40" name="Text 7">
            <a:extLst>
              <a:ext uri="{FF2B5EF4-FFF2-40B4-BE49-F238E27FC236}">
                <a16:creationId xmlns:a16="http://schemas.microsoft.com/office/drawing/2014/main" id="{C3090F61-51C9-886D-2AD3-7A4DF4EC5800}"/>
              </a:ext>
            </a:extLst>
          </p:cNvPr>
          <p:cNvSpPr txBox="1"/>
          <p:nvPr/>
        </p:nvSpPr>
        <p:spPr>
          <a:xfrm>
            <a:off x="548640" y="306324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1" name="Text 8">
            <a:extLst>
              <a:ext uri="{FF2B5EF4-FFF2-40B4-BE49-F238E27FC236}">
                <a16:creationId xmlns:a16="http://schemas.microsoft.com/office/drawing/2014/main" id="{33BDD5ED-155A-C900-8A73-E6752205ADA8}"/>
              </a:ext>
            </a:extLst>
          </p:cNvPr>
          <p:cNvSpPr txBox="1"/>
          <p:nvPr/>
        </p:nvSpPr>
        <p:spPr>
          <a:xfrm>
            <a:off x="1005840" y="3044952"/>
            <a:ext cx="5120640" cy="365760"/>
          </a:xfrm>
          <a:prstGeom prst="rect">
            <a:avLst/>
          </a:prstGeom>
          <a:noFill/>
          <a:ln/>
        </p:spPr>
        <p:txBody>
          <a:bodyPr wrap="square" lIns="0" tIns="0" rIns="0" bIns="0" rtlCol="0" anchor="ctr"/>
          <a:lstStyle/>
          <a:p>
            <a:pPr marL="0" indent="0">
              <a:buNone/>
            </a:pPr>
            <a:r>
              <a:rPr lang="en-US" sz="1500" b="1" dirty="0">
                <a:solidFill>
                  <a:srgbClr val="1B1F24"/>
                </a:solidFill>
                <a:latin typeface="Cambria" pitchFamily="34" charset="0"/>
                <a:ea typeface="Cambria" pitchFamily="34" charset="-122"/>
                <a:cs typeface="Cambria" pitchFamily="34" charset="-120"/>
              </a:rPr>
              <a:t>Three lineage columns on every table</a:t>
            </a:r>
            <a:endParaRPr lang="en-US" sz="1500" dirty="0"/>
          </a:p>
        </p:txBody>
      </p:sp>
      <p:sp>
        <p:nvSpPr>
          <p:cNvPr id="42" name="Text 9">
            <a:extLst>
              <a:ext uri="{FF2B5EF4-FFF2-40B4-BE49-F238E27FC236}">
                <a16:creationId xmlns:a16="http://schemas.microsoft.com/office/drawing/2014/main" id="{339AC84A-A797-DEAB-7CC9-9E8D56C4C7C8}"/>
              </a:ext>
            </a:extLst>
          </p:cNvPr>
          <p:cNvSpPr txBox="1"/>
          <p:nvPr/>
        </p:nvSpPr>
        <p:spPr>
          <a:xfrm>
            <a:off x="1005840" y="3410712"/>
            <a:ext cx="5120640" cy="731520"/>
          </a:xfrm>
          <a:prstGeom prst="rect">
            <a:avLst/>
          </a:prstGeom>
          <a:noFill/>
          <a:ln/>
        </p:spPr>
        <p:txBody>
          <a:bodyPr wrap="square" lIns="0" tIns="0" rIns="0" bIns="0" rtlCol="0" anchor="ctr"/>
          <a:lstStyle/>
          <a:p>
            <a:pPr marL="0" indent="0">
              <a:buNone/>
            </a:pPr>
            <a:r>
              <a:rPr lang="en-US" sz="1200" dirty="0">
                <a:solidFill>
                  <a:srgbClr val="2E3540"/>
                </a:solidFill>
                <a:latin typeface="Calibri" pitchFamily="34" charset="0"/>
                <a:ea typeface="Calibri" pitchFamily="34" charset="-122"/>
                <a:cs typeface="Calibri" pitchFamily="34" charset="-120"/>
              </a:rPr>
              <a:t>_source_system · _source_file · _ingest_ts. Full-extract overwrite today; daily files would switch to append partitioned by ingest date.</a:t>
            </a:r>
            <a:endParaRPr lang="en-US" sz="1200" dirty="0"/>
          </a:p>
        </p:txBody>
      </p:sp>
      <p:sp>
        <p:nvSpPr>
          <p:cNvPr id="43" name="Shape 10">
            <a:extLst>
              <a:ext uri="{FF2B5EF4-FFF2-40B4-BE49-F238E27FC236}">
                <a16:creationId xmlns:a16="http://schemas.microsoft.com/office/drawing/2014/main" id="{64E7EF08-6362-4178-0C57-2E11DECDD039}"/>
              </a:ext>
            </a:extLst>
          </p:cNvPr>
          <p:cNvSpPr/>
          <p:nvPr/>
        </p:nvSpPr>
        <p:spPr>
          <a:xfrm>
            <a:off x="548640" y="4343400"/>
            <a:ext cx="347472" cy="347472"/>
          </a:xfrm>
          <a:prstGeom prst="ellipse">
            <a:avLst/>
          </a:prstGeom>
          <a:solidFill>
            <a:srgbClr val="E8A33D"/>
          </a:solidFill>
          <a:ln w="12700">
            <a:solidFill>
              <a:srgbClr val="E8A33D"/>
            </a:solidFill>
            <a:prstDash val="solid"/>
          </a:ln>
        </p:spPr>
        <p:txBody>
          <a:bodyPr/>
          <a:lstStyle/>
          <a:p>
            <a:endParaRPr lang="en-TR"/>
          </a:p>
        </p:txBody>
      </p:sp>
      <p:sp>
        <p:nvSpPr>
          <p:cNvPr id="44" name="Text 11">
            <a:extLst>
              <a:ext uri="{FF2B5EF4-FFF2-40B4-BE49-F238E27FC236}">
                <a16:creationId xmlns:a16="http://schemas.microsoft.com/office/drawing/2014/main" id="{5F706C21-929A-F4E6-FCC1-DC224CEE0CF3}"/>
              </a:ext>
            </a:extLst>
          </p:cNvPr>
          <p:cNvSpPr txBox="1"/>
          <p:nvPr/>
        </p:nvSpPr>
        <p:spPr>
          <a:xfrm>
            <a:off x="548640" y="43434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5" name="Text 12">
            <a:extLst>
              <a:ext uri="{FF2B5EF4-FFF2-40B4-BE49-F238E27FC236}">
                <a16:creationId xmlns:a16="http://schemas.microsoft.com/office/drawing/2014/main" id="{78D96275-A993-8C42-5AA7-94D5D320386A}"/>
              </a:ext>
            </a:extLst>
          </p:cNvPr>
          <p:cNvSpPr txBox="1"/>
          <p:nvPr/>
        </p:nvSpPr>
        <p:spPr>
          <a:xfrm>
            <a:off x="1005840" y="4325112"/>
            <a:ext cx="5120640" cy="365760"/>
          </a:xfrm>
          <a:prstGeom prst="rect">
            <a:avLst/>
          </a:prstGeom>
          <a:noFill/>
          <a:ln/>
        </p:spPr>
        <p:txBody>
          <a:bodyPr wrap="square" lIns="0" tIns="0" rIns="0" bIns="0" rtlCol="0" anchor="ctr"/>
          <a:lstStyle/>
          <a:p>
            <a:pPr marL="0" indent="0">
              <a:buNone/>
            </a:pPr>
            <a:r>
              <a:rPr lang="en-US" sz="1500" b="1" dirty="0">
                <a:solidFill>
                  <a:srgbClr val="1B1F24"/>
                </a:solidFill>
                <a:latin typeface="Cambria" pitchFamily="34" charset="0"/>
                <a:ea typeface="Cambria" pitchFamily="34" charset="-122"/>
                <a:cs typeface="Cambria" pitchFamily="34" charset="-120"/>
              </a:rPr>
              <a:t>Nested JSON kept nested</a:t>
            </a:r>
            <a:endParaRPr lang="en-US" sz="1500" dirty="0"/>
          </a:p>
        </p:txBody>
      </p:sp>
      <p:sp>
        <p:nvSpPr>
          <p:cNvPr id="46" name="Text 13">
            <a:extLst>
              <a:ext uri="{FF2B5EF4-FFF2-40B4-BE49-F238E27FC236}">
                <a16:creationId xmlns:a16="http://schemas.microsoft.com/office/drawing/2014/main" id="{AE86E423-274B-F8ED-4798-E4435FB2AFDF}"/>
              </a:ext>
            </a:extLst>
          </p:cNvPr>
          <p:cNvSpPr txBox="1"/>
          <p:nvPr/>
        </p:nvSpPr>
        <p:spPr>
          <a:xfrm>
            <a:off x="1005840" y="4690872"/>
            <a:ext cx="5120640" cy="822960"/>
          </a:xfrm>
          <a:prstGeom prst="rect">
            <a:avLst/>
          </a:prstGeom>
          <a:noFill/>
          <a:ln/>
        </p:spPr>
        <p:txBody>
          <a:bodyPr wrap="square" lIns="0" tIns="0" rIns="0" bIns="0" rtlCol="0" anchor="ctr"/>
          <a:lstStyle/>
          <a:p>
            <a:pPr marL="0" indent="0">
              <a:buNone/>
            </a:pPr>
            <a:r>
              <a:rPr lang="en-US" sz="1200" dirty="0">
                <a:solidFill>
                  <a:srgbClr val="2E3540"/>
                </a:solidFill>
                <a:latin typeface="Calibri" pitchFamily="34" charset="0"/>
                <a:ea typeface="Calibri" pitchFamily="34" charset="-122"/>
                <a:cs typeface="Calibri" pitchFamily="34" charset="-120"/>
              </a:rPr>
              <a:t>web_leads.json is exploded to one row per lead but the struct stays intact. Flattening is a Silver decision. 10 Bronze tables, ~100k rows, one notebook.</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1B1F24"/>
                </a:solidFill>
                <a:latin typeface="Cambria" pitchFamily="34" charset="0"/>
                <a:ea typeface="Cambria" pitchFamily="34" charset="-122"/>
                <a:cs typeface="Cambria" pitchFamily="34" charset="-120"/>
              </a:rPr>
              <a:t>Silver — clean, conform, validate</a:t>
            </a:r>
            <a:endParaRPr lang="en-US" sz="3200" dirty="0"/>
          </a:p>
        </p:txBody>
      </p:sp>
      <p:sp>
        <p:nvSpPr>
          <p:cNvPr id="3" name="Text 1"/>
          <p:cNvSpPr txBox="1"/>
          <p:nvPr/>
        </p:nvSpPr>
        <p:spPr>
          <a:xfrm>
            <a:off x="548640" y="1097280"/>
            <a:ext cx="11091672" cy="365760"/>
          </a:xfrm>
          <a:prstGeom prst="rect">
            <a:avLst/>
          </a:prstGeom>
          <a:noFill/>
          <a:ln/>
        </p:spPr>
        <p:txBody>
          <a:bodyPr wrap="square" lIns="0" tIns="0" rIns="0" bIns="0" rtlCol="0" anchor="ctr"/>
          <a:lstStyle/>
          <a:p>
            <a:pPr marL="0" indent="0">
              <a:buNone/>
            </a:pPr>
            <a:r>
              <a:rPr lang="en-US" sz="1400" dirty="0">
                <a:solidFill>
                  <a:srgbClr val="5B6573"/>
                </a:solidFill>
                <a:latin typeface="Calibri" pitchFamily="34" charset="0"/>
                <a:ea typeface="Calibri" pitchFamily="34" charset="-122"/>
                <a:cs typeface="Calibri" pitchFamily="34" charset="-120"/>
              </a:rPr>
              <a:t>Every data-quality decision is explicit, logged, and — here — verified against ground truth</a:t>
            </a:r>
            <a:endParaRPr lang="en-US" sz="1400" dirty="0"/>
          </a:p>
        </p:txBody>
      </p:sp>
      <p:sp>
        <p:nvSpPr>
          <p:cNvPr id="4" name="Shape 2"/>
          <p:cNvSpPr/>
          <p:nvPr/>
        </p:nvSpPr>
        <p:spPr>
          <a:xfrm>
            <a:off x="548640" y="1691640"/>
            <a:ext cx="2743200" cy="1280160"/>
          </a:xfrm>
          <a:prstGeom prst="roundRect">
            <a:avLst>
              <a:gd name="adj" fmla="val 5714"/>
            </a:avLst>
          </a:prstGeom>
          <a:solidFill>
            <a:srgbClr val="EEF1F4"/>
          </a:solidFill>
          <a:ln w="12700">
            <a:solidFill>
              <a:srgbClr val="EEF1F4"/>
            </a:solidFill>
            <a:prstDash val="solid"/>
          </a:ln>
        </p:spPr>
        <p:txBody>
          <a:bodyPr/>
          <a:lstStyle/>
          <a:p>
            <a:endParaRPr lang="en-TR"/>
          </a:p>
        </p:txBody>
      </p:sp>
      <p:sp>
        <p:nvSpPr>
          <p:cNvPr id="5" name="Text 3"/>
          <p:cNvSpPr txBox="1"/>
          <p:nvPr/>
        </p:nvSpPr>
        <p:spPr>
          <a:xfrm>
            <a:off x="731520" y="1828800"/>
            <a:ext cx="2377440" cy="365760"/>
          </a:xfrm>
          <a:prstGeom prst="rect">
            <a:avLst/>
          </a:prstGeom>
          <a:noFill/>
          <a:ln/>
        </p:spPr>
        <p:txBody>
          <a:bodyPr wrap="square" lIns="0" tIns="0" rIns="0" bIns="0" rtlCol="0" anchor="ctr"/>
          <a:lstStyle/>
          <a:p>
            <a:pPr marL="0" indent="0">
              <a:buNone/>
            </a:pPr>
            <a:r>
              <a:rPr lang="en-US" sz="1300" b="1" dirty="0">
                <a:solidFill>
                  <a:srgbClr val="1B1F24"/>
                </a:solidFill>
                <a:latin typeface="Cambria" pitchFamily="34" charset="0"/>
                <a:ea typeface="Cambria" pitchFamily="34" charset="-122"/>
                <a:cs typeface="Cambria" pitchFamily="34" charset="-120"/>
              </a:rPr>
              <a:t>Never drop a row</a:t>
            </a:r>
            <a:endParaRPr lang="en-US" sz="1300" dirty="0"/>
          </a:p>
        </p:txBody>
      </p:sp>
      <p:sp>
        <p:nvSpPr>
          <p:cNvPr id="6" name="Text 4"/>
          <p:cNvSpPr txBox="1"/>
          <p:nvPr/>
        </p:nvSpPr>
        <p:spPr>
          <a:xfrm>
            <a:off x="731520" y="2240280"/>
            <a:ext cx="2377440" cy="594360"/>
          </a:xfrm>
          <a:prstGeom prst="rect">
            <a:avLst/>
          </a:prstGeom>
          <a:noFill/>
          <a:ln/>
        </p:spPr>
        <p:txBody>
          <a:bodyPr wrap="square" lIns="0" tIns="0" rIns="0" bIns="0" rtlCol="0" anchor="t"/>
          <a:lstStyle/>
          <a:p>
            <a:pPr marL="0" indent="0">
              <a:spcAft>
                <a:spcPts val="400"/>
              </a:spcAft>
              <a:buNone/>
            </a:pPr>
            <a:r>
              <a:rPr lang="en-US" sz="1100" dirty="0">
                <a:solidFill>
                  <a:srgbClr val="2E3540"/>
                </a:solidFill>
                <a:latin typeface="Calibri" pitchFamily="34" charset="0"/>
                <a:ea typeface="Calibri" pitchFamily="34" charset="-122"/>
                <a:cs typeface="Calibri" pitchFamily="34" charset="-120"/>
              </a:rPr>
              <a:t>except exact duplicates. Problem rows keep a dq_flags entry; Gold decides.</a:t>
            </a:r>
            <a:endParaRPr lang="en-US" sz="1100" dirty="0"/>
          </a:p>
        </p:txBody>
      </p:sp>
      <p:sp>
        <p:nvSpPr>
          <p:cNvPr id="7" name="Shape 5"/>
          <p:cNvSpPr/>
          <p:nvPr/>
        </p:nvSpPr>
        <p:spPr>
          <a:xfrm>
            <a:off x="3429000" y="1691640"/>
            <a:ext cx="2743200" cy="1280160"/>
          </a:xfrm>
          <a:prstGeom prst="roundRect">
            <a:avLst>
              <a:gd name="adj" fmla="val 5714"/>
            </a:avLst>
          </a:prstGeom>
          <a:solidFill>
            <a:srgbClr val="EEF1F4"/>
          </a:solidFill>
          <a:ln w="12700">
            <a:solidFill>
              <a:srgbClr val="EEF1F4"/>
            </a:solidFill>
            <a:prstDash val="solid"/>
          </a:ln>
        </p:spPr>
        <p:txBody>
          <a:bodyPr/>
          <a:lstStyle/>
          <a:p>
            <a:endParaRPr lang="en-TR"/>
          </a:p>
        </p:txBody>
      </p:sp>
      <p:sp>
        <p:nvSpPr>
          <p:cNvPr id="8" name="Text 6"/>
          <p:cNvSpPr txBox="1"/>
          <p:nvPr/>
        </p:nvSpPr>
        <p:spPr>
          <a:xfrm>
            <a:off x="3611880" y="1828800"/>
            <a:ext cx="2377440" cy="365760"/>
          </a:xfrm>
          <a:prstGeom prst="rect">
            <a:avLst/>
          </a:prstGeom>
          <a:noFill/>
          <a:ln/>
        </p:spPr>
        <p:txBody>
          <a:bodyPr wrap="square" lIns="0" tIns="0" rIns="0" bIns="0" rtlCol="0" anchor="ctr"/>
          <a:lstStyle/>
          <a:p>
            <a:pPr marL="0" indent="0">
              <a:buNone/>
            </a:pPr>
            <a:r>
              <a:rPr lang="en-US" sz="1300" b="1" dirty="0">
                <a:solidFill>
                  <a:srgbClr val="1B1F24"/>
                </a:solidFill>
                <a:latin typeface="Cambria" pitchFamily="34" charset="0"/>
                <a:ea typeface="Cambria" pitchFamily="34" charset="-122"/>
                <a:cs typeface="Cambria" pitchFamily="34" charset="-120"/>
              </a:rPr>
              <a:t>Never null silently</a:t>
            </a:r>
            <a:endParaRPr lang="en-US" sz="1300" dirty="0"/>
          </a:p>
        </p:txBody>
      </p:sp>
      <p:sp>
        <p:nvSpPr>
          <p:cNvPr id="9" name="Text 7"/>
          <p:cNvSpPr txBox="1"/>
          <p:nvPr/>
        </p:nvSpPr>
        <p:spPr>
          <a:xfrm>
            <a:off x="3611880" y="2240280"/>
            <a:ext cx="2377440" cy="594360"/>
          </a:xfrm>
          <a:prstGeom prst="rect">
            <a:avLst/>
          </a:prstGeom>
          <a:noFill/>
          <a:ln/>
        </p:spPr>
        <p:txBody>
          <a:bodyPr wrap="square" lIns="0" tIns="0" rIns="0" bIns="0" rtlCol="0" anchor="t"/>
          <a:lstStyle/>
          <a:p>
            <a:pPr marL="0" indent="0">
              <a:spcAft>
                <a:spcPts val="400"/>
              </a:spcAft>
              <a:buNone/>
            </a:pPr>
            <a:r>
              <a:rPr lang="en-US" sz="1100" dirty="0">
                <a:solidFill>
                  <a:srgbClr val="2E3540"/>
                </a:solidFill>
                <a:latin typeface="Calibri" pitchFamily="34" charset="0"/>
                <a:ea typeface="Calibri" pitchFamily="34" charset="-122"/>
                <a:cs typeface="Calibri" pitchFamily="34" charset="-120"/>
              </a:rPr>
              <a:t>every nulled or imputed value is a row in silver.dq_results with severity and action.</a:t>
            </a:r>
            <a:endParaRPr lang="en-US" sz="1100" dirty="0"/>
          </a:p>
        </p:txBody>
      </p:sp>
      <p:sp>
        <p:nvSpPr>
          <p:cNvPr id="10" name="Shape 8"/>
          <p:cNvSpPr/>
          <p:nvPr/>
        </p:nvSpPr>
        <p:spPr>
          <a:xfrm>
            <a:off x="548640" y="3108960"/>
            <a:ext cx="2743200" cy="1280160"/>
          </a:xfrm>
          <a:prstGeom prst="roundRect">
            <a:avLst>
              <a:gd name="adj" fmla="val 5714"/>
            </a:avLst>
          </a:prstGeom>
          <a:solidFill>
            <a:srgbClr val="EEF1F4"/>
          </a:solidFill>
          <a:ln w="12700">
            <a:solidFill>
              <a:srgbClr val="EEF1F4"/>
            </a:solidFill>
            <a:prstDash val="solid"/>
          </a:ln>
        </p:spPr>
        <p:txBody>
          <a:bodyPr/>
          <a:lstStyle/>
          <a:p>
            <a:endParaRPr lang="en-TR"/>
          </a:p>
        </p:txBody>
      </p:sp>
      <p:sp>
        <p:nvSpPr>
          <p:cNvPr id="11" name="Text 9"/>
          <p:cNvSpPr txBox="1"/>
          <p:nvPr/>
        </p:nvSpPr>
        <p:spPr>
          <a:xfrm>
            <a:off x="731520" y="3246120"/>
            <a:ext cx="2377440" cy="365760"/>
          </a:xfrm>
          <a:prstGeom prst="rect">
            <a:avLst/>
          </a:prstGeom>
          <a:noFill/>
          <a:ln/>
        </p:spPr>
        <p:txBody>
          <a:bodyPr wrap="square" lIns="0" tIns="0" rIns="0" bIns="0" rtlCol="0" anchor="ctr"/>
          <a:lstStyle/>
          <a:p>
            <a:pPr marL="0" indent="0">
              <a:buNone/>
            </a:pPr>
            <a:r>
              <a:rPr lang="en-US" sz="1300" b="1" dirty="0">
                <a:solidFill>
                  <a:srgbClr val="1B1F24"/>
                </a:solidFill>
                <a:latin typeface="Cambria" pitchFamily="34" charset="0"/>
                <a:ea typeface="Cambria" pitchFamily="34" charset="-122"/>
                <a:cs typeface="Cambria" pitchFamily="34" charset="-120"/>
              </a:rPr>
              <a:t>One entity, one schema</a:t>
            </a:r>
            <a:endParaRPr lang="en-US" sz="1300" dirty="0"/>
          </a:p>
        </p:txBody>
      </p:sp>
      <p:sp>
        <p:nvSpPr>
          <p:cNvPr id="12" name="Text 10"/>
          <p:cNvSpPr txBox="1"/>
          <p:nvPr/>
        </p:nvSpPr>
        <p:spPr>
          <a:xfrm>
            <a:off x="731520" y="3657600"/>
            <a:ext cx="2377440" cy="594360"/>
          </a:xfrm>
          <a:prstGeom prst="rect">
            <a:avLst/>
          </a:prstGeom>
          <a:noFill/>
          <a:ln/>
        </p:spPr>
        <p:txBody>
          <a:bodyPr wrap="square" lIns="0" tIns="0" rIns="0" bIns="0" rtlCol="0" anchor="t"/>
          <a:lstStyle/>
          <a:p>
            <a:pPr marL="0" indent="0">
              <a:spcAft>
                <a:spcPts val="400"/>
              </a:spcAft>
              <a:buNone/>
            </a:pPr>
            <a:r>
              <a:rPr lang="en-US" sz="1100" dirty="0">
                <a:solidFill>
                  <a:srgbClr val="2E3540"/>
                </a:solidFill>
                <a:latin typeface="Calibri" pitchFamily="34" charset="0"/>
                <a:ea typeface="Calibri" pitchFamily="34" charset="-122"/>
                <a:cs typeface="Calibri" pitchFamily="34" charset="-120"/>
              </a:rPr>
              <a:t>CRM leads ∪ web leads → silver.leads; DMS Turkish headers → English names.</a:t>
            </a:r>
            <a:endParaRPr lang="en-US" sz="1100" dirty="0"/>
          </a:p>
        </p:txBody>
      </p:sp>
      <p:sp>
        <p:nvSpPr>
          <p:cNvPr id="13" name="Shape 11"/>
          <p:cNvSpPr/>
          <p:nvPr/>
        </p:nvSpPr>
        <p:spPr>
          <a:xfrm>
            <a:off x="3429000" y="3108960"/>
            <a:ext cx="2743200" cy="1280160"/>
          </a:xfrm>
          <a:prstGeom prst="roundRect">
            <a:avLst>
              <a:gd name="adj" fmla="val 5714"/>
            </a:avLst>
          </a:prstGeom>
          <a:solidFill>
            <a:srgbClr val="EEF1F4"/>
          </a:solidFill>
          <a:ln w="12700">
            <a:solidFill>
              <a:srgbClr val="EEF1F4"/>
            </a:solidFill>
            <a:prstDash val="solid"/>
          </a:ln>
        </p:spPr>
        <p:txBody>
          <a:bodyPr/>
          <a:lstStyle/>
          <a:p>
            <a:endParaRPr lang="en-TR"/>
          </a:p>
        </p:txBody>
      </p:sp>
      <p:sp>
        <p:nvSpPr>
          <p:cNvPr id="14" name="Text 12"/>
          <p:cNvSpPr txBox="1"/>
          <p:nvPr/>
        </p:nvSpPr>
        <p:spPr>
          <a:xfrm>
            <a:off x="3611880" y="3246120"/>
            <a:ext cx="2377440" cy="365760"/>
          </a:xfrm>
          <a:prstGeom prst="rect">
            <a:avLst/>
          </a:prstGeom>
          <a:noFill/>
          <a:ln/>
        </p:spPr>
        <p:txBody>
          <a:bodyPr wrap="square" lIns="0" tIns="0" rIns="0" bIns="0" rtlCol="0" anchor="ctr"/>
          <a:lstStyle/>
          <a:p>
            <a:pPr marL="0" indent="0">
              <a:buNone/>
            </a:pPr>
            <a:r>
              <a:rPr lang="en-US" sz="1300" b="1" dirty="0">
                <a:solidFill>
                  <a:srgbClr val="1B1F24"/>
                </a:solidFill>
                <a:latin typeface="Cambria" pitchFamily="34" charset="0"/>
                <a:ea typeface="Cambria" pitchFamily="34" charset="-122"/>
                <a:cs typeface="Cambria" pitchFamily="34" charset="-120"/>
              </a:rPr>
              <a:t>Golden record</a:t>
            </a:r>
            <a:endParaRPr lang="en-US" sz="1300" dirty="0"/>
          </a:p>
        </p:txBody>
      </p:sp>
      <p:sp>
        <p:nvSpPr>
          <p:cNvPr id="15" name="Text 13"/>
          <p:cNvSpPr txBox="1"/>
          <p:nvPr/>
        </p:nvSpPr>
        <p:spPr>
          <a:xfrm>
            <a:off x="3611880" y="3657600"/>
            <a:ext cx="2377440" cy="594360"/>
          </a:xfrm>
          <a:prstGeom prst="rect">
            <a:avLst/>
          </a:prstGeom>
          <a:noFill/>
          <a:ln/>
        </p:spPr>
        <p:txBody>
          <a:bodyPr wrap="square" lIns="0" tIns="0" rIns="0" bIns="0" rtlCol="0" anchor="t"/>
          <a:lstStyle/>
          <a:p>
            <a:pPr marL="0" indent="0">
              <a:spcAft>
                <a:spcPts val="400"/>
              </a:spcAft>
              <a:buNone/>
            </a:pPr>
            <a:r>
              <a:rPr lang="en-US" sz="1100" dirty="0">
                <a:solidFill>
                  <a:srgbClr val="2E3540"/>
                </a:solidFill>
                <a:latin typeface="Calibri" pitchFamily="34" charset="0"/>
                <a:ea typeface="Calibri" pitchFamily="34" charset="-122"/>
                <a:cs typeface="Calibri" pitchFamily="34" charset="-120"/>
              </a:rPr>
              <a:t>same normalised phone ⇒ same person; earliest record wins; customer_xref re-points leads and sales.</a:t>
            </a:r>
            <a:endParaRPr lang="en-US" sz="1100" dirty="0"/>
          </a:p>
        </p:txBody>
      </p:sp>
      <p:sp>
        <p:nvSpPr>
          <p:cNvPr id="16" name="Text 14"/>
          <p:cNvSpPr txBox="1"/>
          <p:nvPr/>
        </p:nvSpPr>
        <p:spPr>
          <a:xfrm>
            <a:off x="548640" y="4709160"/>
            <a:ext cx="1828800" cy="822960"/>
          </a:xfrm>
          <a:prstGeom prst="rect">
            <a:avLst/>
          </a:prstGeom>
          <a:noFill/>
          <a:ln/>
        </p:spPr>
        <p:txBody>
          <a:bodyPr wrap="square" lIns="0" tIns="0" rIns="0" bIns="0" rtlCol="0" anchor="ctr"/>
          <a:lstStyle/>
          <a:p>
            <a:pPr marL="0" indent="0">
              <a:buNone/>
            </a:pPr>
            <a:r>
              <a:rPr lang="en-US" sz="4000" b="1" dirty="0">
                <a:solidFill>
                  <a:srgbClr val="1B1F24"/>
                </a:solidFill>
                <a:latin typeface="Cambria" pitchFamily="34" charset="0"/>
                <a:ea typeface="Cambria" pitchFamily="34" charset="-122"/>
                <a:cs typeface="Cambria" pitchFamily="34" charset="-120"/>
              </a:rPr>
              <a:t>25</a:t>
            </a:r>
            <a:endParaRPr lang="en-US" sz="4000" dirty="0"/>
          </a:p>
        </p:txBody>
      </p:sp>
      <p:sp>
        <p:nvSpPr>
          <p:cNvPr id="17" name="Text 15"/>
          <p:cNvSpPr txBox="1"/>
          <p:nvPr/>
        </p:nvSpPr>
        <p:spPr>
          <a:xfrm>
            <a:off x="548640" y="5532120"/>
            <a:ext cx="1828800" cy="457200"/>
          </a:xfrm>
          <a:prstGeom prst="rect">
            <a:avLst/>
          </a:prstGeom>
          <a:noFill/>
          <a:ln/>
        </p:spPr>
        <p:txBody>
          <a:bodyPr wrap="square" lIns="0" tIns="0" rIns="0" bIns="0" rtlCol="0" anchor="ctr"/>
          <a:lstStyle/>
          <a:p>
            <a:pPr marL="0" indent="0">
              <a:buNone/>
            </a:pPr>
            <a:r>
              <a:rPr lang="en-US" sz="1150" dirty="0">
                <a:solidFill>
                  <a:srgbClr val="5B6573"/>
                </a:solidFill>
                <a:latin typeface="Calibri" pitchFamily="34" charset="0"/>
                <a:ea typeface="Calibri" pitchFamily="34" charset="-122"/>
                <a:cs typeface="Calibri" pitchFamily="34" charset="-120"/>
              </a:rPr>
              <a:t>DQ checks logged</a:t>
            </a:r>
            <a:endParaRPr lang="en-US" sz="1150" dirty="0"/>
          </a:p>
        </p:txBody>
      </p:sp>
      <p:sp>
        <p:nvSpPr>
          <p:cNvPr id="18" name="Text 16"/>
          <p:cNvSpPr txBox="1"/>
          <p:nvPr/>
        </p:nvSpPr>
        <p:spPr>
          <a:xfrm>
            <a:off x="2468880" y="4709160"/>
            <a:ext cx="1828800" cy="822960"/>
          </a:xfrm>
          <a:prstGeom prst="rect">
            <a:avLst/>
          </a:prstGeom>
          <a:noFill/>
          <a:ln/>
        </p:spPr>
        <p:txBody>
          <a:bodyPr wrap="square" lIns="0" tIns="0" rIns="0" bIns="0" rtlCol="0" anchor="ctr"/>
          <a:lstStyle/>
          <a:p>
            <a:pPr marL="0" indent="0">
              <a:buNone/>
            </a:pPr>
            <a:r>
              <a:rPr lang="en-US" sz="4000" b="1" dirty="0">
                <a:solidFill>
                  <a:srgbClr val="1B1F24"/>
                </a:solidFill>
                <a:latin typeface="Cambria" pitchFamily="34" charset="0"/>
                <a:ea typeface="Cambria" pitchFamily="34" charset="-122"/>
                <a:cs typeface="Cambria" pitchFamily="34" charset="-120"/>
              </a:rPr>
              <a:t>180</a:t>
            </a:r>
            <a:endParaRPr lang="en-US" sz="4000" dirty="0"/>
          </a:p>
        </p:txBody>
      </p:sp>
      <p:sp>
        <p:nvSpPr>
          <p:cNvPr id="19" name="Text 17"/>
          <p:cNvSpPr txBox="1"/>
          <p:nvPr/>
        </p:nvSpPr>
        <p:spPr>
          <a:xfrm>
            <a:off x="2468880" y="5532120"/>
            <a:ext cx="1828800" cy="457200"/>
          </a:xfrm>
          <a:prstGeom prst="rect">
            <a:avLst/>
          </a:prstGeom>
          <a:noFill/>
          <a:ln/>
        </p:spPr>
        <p:txBody>
          <a:bodyPr wrap="square" lIns="0" tIns="0" rIns="0" bIns="0" rtlCol="0" anchor="ctr"/>
          <a:lstStyle/>
          <a:p>
            <a:pPr marL="0" indent="0">
              <a:buNone/>
            </a:pPr>
            <a:r>
              <a:rPr lang="en-US" sz="1150" dirty="0">
                <a:solidFill>
                  <a:srgbClr val="5B6573"/>
                </a:solidFill>
                <a:latin typeface="Calibri" pitchFamily="34" charset="0"/>
                <a:ea typeface="Calibri" pitchFamily="34" charset="-122"/>
                <a:cs typeface="Calibri" pitchFamily="34" charset="-120"/>
              </a:rPr>
              <a:t>duplicate customers merged</a:t>
            </a:r>
            <a:endParaRPr lang="en-US" sz="1150" dirty="0"/>
          </a:p>
        </p:txBody>
      </p:sp>
      <p:sp>
        <p:nvSpPr>
          <p:cNvPr id="20" name="Text 18"/>
          <p:cNvSpPr txBox="1"/>
          <p:nvPr/>
        </p:nvSpPr>
        <p:spPr>
          <a:xfrm>
            <a:off x="4389120" y="4709160"/>
            <a:ext cx="2011680" cy="822960"/>
          </a:xfrm>
          <a:prstGeom prst="rect">
            <a:avLst/>
          </a:prstGeom>
          <a:noFill/>
          <a:ln/>
        </p:spPr>
        <p:txBody>
          <a:bodyPr wrap="square" lIns="0" tIns="0" rIns="0" bIns="0" rtlCol="0" anchor="ctr"/>
          <a:lstStyle/>
          <a:p>
            <a:pPr marL="0" indent="0">
              <a:buNone/>
            </a:pPr>
            <a:r>
              <a:rPr lang="en-US" sz="4000" b="1" dirty="0">
                <a:solidFill>
                  <a:srgbClr val="1B1F24"/>
                </a:solidFill>
                <a:latin typeface="Cambria" pitchFamily="34" charset="0"/>
                <a:ea typeface="Cambria" pitchFamily="34" charset="-122"/>
                <a:cs typeface="Cambria" pitchFamily="34" charset="-120"/>
              </a:rPr>
              <a:t>12 / 18</a:t>
            </a:r>
            <a:endParaRPr lang="en-US" sz="4000" dirty="0"/>
          </a:p>
        </p:txBody>
      </p:sp>
      <p:sp>
        <p:nvSpPr>
          <p:cNvPr id="21" name="Text 19"/>
          <p:cNvSpPr txBox="1"/>
          <p:nvPr/>
        </p:nvSpPr>
        <p:spPr>
          <a:xfrm>
            <a:off x="4389120" y="5532120"/>
            <a:ext cx="2011680" cy="457200"/>
          </a:xfrm>
          <a:prstGeom prst="rect">
            <a:avLst/>
          </a:prstGeom>
          <a:noFill/>
          <a:ln/>
        </p:spPr>
        <p:txBody>
          <a:bodyPr wrap="square" lIns="0" tIns="0" rIns="0" bIns="0" rtlCol="0" anchor="ctr"/>
          <a:lstStyle/>
          <a:p>
            <a:pPr marL="0" indent="0">
              <a:buNone/>
            </a:pPr>
            <a:r>
              <a:rPr lang="en-US" sz="1150" dirty="0">
                <a:solidFill>
                  <a:srgbClr val="5B6573"/>
                </a:solidFill>
                <a:latin typeface="Calibri" pitchFamily="34" charset="0"/>
                <a:ea typeface="Calibri" pitchFamily="34" charset="-122"/>
                <a:cs typeface="Calibri" pitchFamily="34" charset="-120"/>
              </a:rPr>
              <a:t>checks matching ground truth exactly; rest within ±8</a:t>
            </a:r>
            <a:endParaRPr lang="en-US" sz="1150" dirty="0"/>
          </a:p>
        </p:txBody>
      </p:sp>
      <p:sp>
        <p:nvSpPr>
          <p:cNvPr id="22" name="Shape 20"/>
          <p:cNvSpPr/>
          <p:nvPr/>
        </p:nvSpPr>
        <p:spPr>
          <a:xfrm>
            <a:off x="6400800" y="1691640"/>
            <a:ext cx="5212080" cy="4389120"/>
          </a:xfrm>
          <a:prstGeom prst="roundRect">
            <a:avLst>
              <a:gd name="adj" fmla="val 1667"/>
            </a:avLst>
          </a:prstGeom>
          <a:solidFill>
            <a:srgbClr val="EEF1F4"/>
          </a:solidFill>
          <a:ln w="19050">
            <a:solidFill>
              <a:srgbClr val="E8A33D"/>
            </a:solidFill>
            <a:prstDash val="dash"/>
          </a:ln>
        </p:spPr>
        <p:txBody>
          <a:bodyPr/>
          <a:lstStyle/>
          <a:p>
            <a:endParaRPr lang="en-TR" dirty="0"/>
          </a:p>
        </p:txBody>
      </p:sp>
      <p:sp>
        <p:nvSpPr>
          <p:cNvPr id="24" name="Text 22"/>
          <p:cNvSpPr txBox="1"/>
          <p:nvPr/>
        </p:nvSpPr>
        <p:spPr>
          <a:xfrm>
            <a:off x="548640" y="6400800"/>
            <a:ext cx="11091672" cy="274320"/>
          </a:xfrm>
          <a:prstGeom prst="rect">
            <a:avLst/>
          </a:prstGeom>
          <a:noFill/>
          <a:ln/>
        </p:spPr>
        <p:txBody>
          <a:bodyPr wrap="square" lIns="0" tIns="0" rIns="0" bIns="0" rtlCol="0" anchor="ctr"/>
          <a:lstStyle/>
          <a:p>
            <a:pPr marL="0" indent="0" algn="r">
              <a:buNone/>
            </a:pPr>
            <a:r>
              <a:rPr lang="en-US" sz="900" dirty="0">
                <a:solidFill>
                  <a:srgbClr val="9AA3AE"/>
                </a:solidFill>
                <a:latin typeface="Calibri" pitchFamily="34" charset="0"/>
                <a:ea typeface="Calibri" pitchFamily="34" charset="-122"/>
                <a:cs typeface="Calibri" pitchFamily="34" charset="-120"/>
              </a:rPr>
              <a:t>Sude Bozkurt · Borusan Otomotiv case study · 7</a:t>
            </a:r>
            <a:endParaRPr lang="en-US" sz="900" dirty="0"/>
          </a:p>
        </p:txBody>
      </p:sp>
      <p:pic>
        <p:nvPicPr>
          <p:cNvPr id="26" name="Picture 25" descr="A screenshot of a computer program&#10;&#10;AI-generated content may be incorrect.">
            <a:extLst>
              <a:ext uri="{FF2B5EF4-FFF2-40B4-BE49-F238E27FC236}">
                <a16:creationId xmlns:a16="http://schemas.microsoft.com/office/drawing/2014/main" id="{E76C905D-AF71-65B4-CD45-96722EB5C283}"/>
              </a:ext>
            </a:extLst>
          </p:cNvPr>
          <p:cNvPicPr>
            <a:picLocks noChangeAspect="1"/>
          </p:cNvPicPr>
          <p:nvPr/>
        </p:nvPicPr>
        <p:blipFill>
          <a:blip r:embed="rId3"/>
          <a:stretch>
            <a:fillRect/>
          </a:stretch>
        </p:blipFill>
        <p:spPr>
          <a:xfrm>
            <a:off x="6634034" y="2177912"/>
            <a:ext cx="4745612" cy="34165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1B1F24"/>
                </a:solidFill>
                <a:latin typeface="Cambria" pitchFamily="34" charset="0"/>
                <a:ea typeface="Cambria" pitchFamily="34" charset="-122"/>
                <a:cs typeface="Cambria" pitchFamily="34" charset="-120"/>
              </a:rPr>
              <a:t>Gold — a star schema Power BI reads as-is</a:t>
            </a:r>
            <a:endParaRPr lang="en-US" sz="3200" dirty="0"/>
          </a:p>
        </p:txBody>
      </p:sp>
      <p:sp>
        <p:nvSpPr>
          <p:cNvPr id="3" name="Text 1"/>
          <p:cNvSpPr txBox="1"/>
          <p:nvPr/>
        </p:nvSpPr>
        <p:spPr>
          <a:xfrm>
            <a:off x="548640" y="1097280"/>
            <a:ext cx="11091672" cy="365760"/>
          </a:xfrm>
          <a:prstGeom prst="rect">
            <a:avLst/>
          </a:prstGeom>
          <a:noFill/>
          <a:ln/>
        </p:spPr>
        <p:txBody>
          <a:bodyPr wrap="square" lIns="0" tIns="0" rIns="0" bIns="0" rtlCol="0" anchor="ctr"/>
          <a:lstStyle/>
          <a:p>
            <a:pPr marL="0" indent="0">
              <a:buNone/>
            </a:pPr>
            <a:r>
              <a:rPr lang="en-US" sz="1400" dirty="0">
                <a:solidFill>
                  <a:srgbClr val="5B6573"/>
                </a:solidFill>
                <a:latin typeface="Calibri" pitchFamily="34" charset="0"/>
                <a:ea typeface="Calibri" pitchFamily="34" charset="-122"/>
                <a:cs typeface="Calibri" pitchFamily="34" charset="-120"/>
              </a:rPr>
              <a:t>fact_leads is one row per lead with the whole funnel pre-joined; every dimension has an UNK member</a:t>
            </a:r>
            <a:endParaRPr lang="en-US" sz="1400" dirty="0"/>
          </a:p>
        </p:txBody>
      </p:sp>
      <p:sp>
        <p:nvSpPr>
          <p:cNvPr id="4" name="Shape 2"/>
          <p:cNvSpPr/>
          <p:nvPr/>
        </p:nvSpPr>
        <p:spPr>
          <a:xfrm>
            <a:off x="1463040" y="2446020"/>
            <a:ext cx="2286000" cy="1595628"/>
          </a:xfrm>
          <a:prstGeom prst="line">
            <a:avLst/>
          </a:prstGeom>
          <a:noFill/>
          <a:ln w="15875">
            <a:solidFill>
              <a:srgbClr val="B8C0CC"/>
            </a:solidFill>
            <a:prstDash val="solid"/>
          </a:ln>
        </p:spPr>
        <p:txBody>
          <a:bodyPr/>
          <a:lstStyle/>
          <a:p>
            <a:endParaRPr lang="en-TR"/>
          </a:p>
        </p:txBody>
      </p:sp>
      <p:sp>
        <p:nvSpPr>
          <p:cNvPr id="5" name="Shape 3"/>
          <p:cNvSpPr/>
          <p:nvPr/>
        </p:nvSpPr>
        <p:spPr>
          <a:xfrm>
            <a:off x="3749040" y="2263140"/>
            <a:ext cx="0" cy="1778508"/>
          </a:xfrm>
          <a:prstGeom prst="line">
            <a:avLst/>
          </a:prstGeom>
          <a:noFill/>
          <a:ln w="15875">
            <a:solidFill>
              <a:srgbClr val="B8C0CC"/>
            </a:solidFill>
            <a:prstDash val="solid"/>
          </a:ln>
        </p:spPr>
        <p:txBody>
          <a:bodyPr/>
          <a:lstStyle/>
          <a:p>
            <a:endParaRPr lang="en-TR"/>
          </a:p>
        </p:txBody>
      </p:sp>
      <p:sp>
        <p:nvSpPr>
          <p:cNvPr id="6" name="Shape 4"/>
          <p:cNvSpPr/>
          <p:nvPr/>
        </p:nvSpPr>
        <p:spPr>
          <a:xfrm flipH="1">
            <a:off x="3749040" y="2446020"/>
            <a:ext cx="2286000" cy="1595628"/>
          </a:xfrm>
          <a:prstGeom prst="line">
            <a:avLst/>
          </a:prstGeom>
          <a:noFill/>
          <a:ln w="15875">
            <a:solidFill>
              <a:srgbClr val="B8C0CC"/>
            </a:solidFill>
            <a:prstDash val="solid"/>
          </a:ln>
        </p:spPr>
        <p:txBody>
          <a:bodyPr/>
          <a:lstStyle/>
          <a:p>
            <a:endParaRPr lang="en-TR"/>
          </a:p>
        </p:txBody>
      </p:sp>
      <p:sp>
        <p:nvSpPr>
          <p:cNvPr id="7" name="Shape 5"/>
          <p:cNvSpPr/>
          <p:nvPr/>
        </p:nvSpPr>
        <p:spPr>
          <a:xfrm flipH="1">
            <a:off x="1463040" y="4041648"/>
            <a:ext cx="2286000" cy="1147572"/>
          </a:xfrm>
          <a:prstGeom prst="line">
            <a:avLst/>
          </a:prstGeom>
          <a:noFill/>
          <a:ln w="15875">
            <a:solidFill>
              <a:srgbClr val="B8C0CC"/>
            </a:solidFill>
            <a:prstDash val="solid"/>
          </a:ln>
        </p:spPr>
        <p:txBody>
          <a:bodyPr/>
          <a:lstStyle/>
          <a:p>
            <a:endParaRPr lang="en-TR"/>
          </a:p>
        </p:txBody>
      </p:sp>
      <p:sp>
        <p:nvSpPr>
          <p:cNvPr id="8" name="Shape 6"/>
          <p:cNvSpPr/>
          <p:nvPr/>
        </p:nvSpPr>
        <p:spPr>
          <a:xfrm>
            <a:off x="3749040" y="4041648"/>
            <a:ext cx="0" cy="1330452"/>
          </a:xfrm>
          <a:prstGeom prst="line">
            <a:avLst/>
          </a:prstGeom>
          <a:noFill/>
          <a:ln w="15875">
            <a:solidFill>
              <a:srgbClr val="B8C0CC"/>
            </a:solidFill>
            <a:prstDash val="solid"/>
          </a:ln>
        </p:spPr>
        <p:txBody>
          <a:bodyPr/>
          <a:lstStyle/>
          <a:p>
            <a:endParaRPr lang="en-TR"/>
          </a:p>
        </p:txBody>
      </p:sp>
      <p:sp>
        <p:nvSpPr>
          <p:cNvPr id="9" name="Shape 7"/>
          <p:cNvSpPr/>
          <p:nvPr/>
        </p:nvSpPr>
        <p:spPr>
          <a:xfrm>
            <a:off x="3749040" y="4041648"/>
            <a:ext cx="2286000" cy="1147572"/>
          </a:xfrm>
          <a:prstGeom prst="line">
            <a:avLst/>
          </a:prstGeom>
          <a:noFill/>
          <a:ln w="15875">
            <a:solidFill>
              <a:srgbClr val="B8C0CC"/>
            </a:solidFill>
            <a:prstDash val="solid"/>
          </a:ln>
        </p:spPr>
        <p:txBody>
          <a:bodyPr/>
          <a:lstStyle/>
          <a:p>
            <a:endParaRPr lang="en-TR"/>
          </a:p>
        </p:txBody>
      </p:sp>
      <p:sp>
        <p:nvSpPr>
          <p:cNvPr id="10" name="Shape 8"/>
          <p:cNvSpPr/>
          <p:nvPr/>
        </p:nvSpPr>
        <p:spPr>
          <a:xfrm>
            <a:off x="731520" y="2240280"/>
            <a:ext cx="1463040" cy="411480"/>
          </a:xfrm>
          <a:prstGeom prst="roundRect">
            <a:avLst>
              <a:gd name="adj" fmla="val 13333"/>
            </a:avLst>
          </a:prstGeom>
          <a:solidFill>
            <a:srgbClr val="B8C0CC"/>
          </a:solidFill>
          <a:ln w="12700">
            <a:solidFill>
              <a:srgbClr val="B8C0CC"/>
            </a:solidFill>
            <a:prstDash val="solid"/>
          </a:ln>
        </p:spPr>
        <p:txBody>
          <a:bodyPr/>
          <a:lstStyle/>
          <a:p>
            <a:endParaRPr lang="en-TR"/>
          </a:p>
        </p:txBody>
      </p:sp>
      <p:sp>
        <p:nvSpPr>
          <p:cNvPr id="11" name="Text 9"/>
          <p:cNvSpPr txBox="1"/>
          <p:nvPr/>
        </p:nvSpPr>
        <p:spPr>
          <a:xfrm>
            <a:off x="731520" y="2240280"/>
            <a:ext cx="1463040" cy="411480"/>
          </a:xfrm>
          <a:prstGeom prst="rect">
            <a:avLst/>
          </a:prstGeom>
          <a:noFill/>
          <a:ln/>
        </p:spPr>
        <p:txBody>
          <a:bodyPr wrap="square" lIns="635" tIns="635" rIns="635" bIns="635" rtlCol="0" anchor="ctr"/>
          <a:lstStyle/>
          <a:p>
            <a:pPr marL="0" indent="0" algn="ctr">
              <a:buNone/>
            </a:pPr>
            <a:r>
              <a:rPr lang="en-US" sz="1050" b="1" dirty="0">
                <a:solidFill>
                  <a:srgbClr val="1B1F24"/>
                </a:solidFill>
                <a:latin typeface="Calibri" pitchFamily="34" charset="0"/>
                <a:ea typeface="Calibri" pitchFamily="34" charset="-122"/>
                <a:cs typeface="Calibri" pitchFamily="34" charset="-120"/>
              </a:rPr>
              <a:t>dim_date</a:t>
            </a:r>
            <a:endParaRPr lang="en-US" sz="1050" dirty="0"/>
          </a:p>
        </p:txBody>
      </p:sp>
      <p:sp>
        <p:nvSpPr>
          <p:cNvPr id="12" name="Shape 10"/>
          <p:cNvSpPr/>
          <p:nvPr/>
        </p:nvSpPr>
        <p:spPr>
          <a:xfrm>
            <a:off x="3017520" y="2057400"/>
            <a:ext cx="1463040" cy="411480"/>
          </a:xfrm>
          <a:prstGeom prst="roundRect">
            <a:avLst>
              <a:gd name="adj" fmla="val 13333"/>
            </a:avLst>
          </a:prstGeom>
          <a:solidFill>
            <a:srgbClr val="B8C0CC"/>
          </a:solidFill>
          <a:ln w="12700">
            <a:solidFill>
              <a:srgbClr val="B8C0CC"/>
            </a:solidFill>
            <a:prstDash val="solid"/>
          </a:ln>
        </p:spPr>
        <p:txBody>
          <a:bodyPr/>
          <a:lstStyle/>
          <a:p>
            <a:endParaRPr lang="en-TR"/>
          </a:p>
        </p:txBody>
      </p:sp>
      <p:sp>
        <p:nvSpPr>
          <p:cNvPr id="13" name="Text 11"/>
          <p:cNvSpPr txBox="1"/>
          <p:nvPr/>
        </p:nvSpPr>
        <p:spPr>
          <a:xfrm>
            <a:off x="3017520" y="2057400"/>
            <a:ext cx="1463040" cy="411480"/>
          </a:xfrm>
          <a:prstGeom prst="rect">
            <a:avLst/>
          </a:prstGeom>
          <a:noFill/>
          <a:ln/>
        </p:spPr>
        <p:txBody>
          <a:bodyPr wrap="square" lIns="635" tIns="635" rIns="635" bIns="635" rtlCol="0" anchor="ctr"/>
          <a:lstStyle/>
          <a:p>
            <a:pPr marL="0" indent="0" algn="ctr">
              <a:buNone/>
            </a:pPr>
            <a:r>
              <a:rPr lang="en-US" sz="1050" b="1" dirty="0">
                <a:solidFill>
                  <a:srgbClr val="1B1F24"/>
                </a:solidFill>
                <a:latin typeface="Calibri" pitchFamily="34" charset="0"/>
                <a:ea typeface="Calibri" pitchFamily="34" charset="-122"/>
                <a:cs typeface="Calibri" pitchFamily="34" charset="-120"/>
              </a:rPr>
              <a:t>dim_dealer</a:t>
            </a:r>
            <a:endParaRPr lang="en-US" sz="1050" dirty="0"/>
          </a:p>
        </p:txBody>
      </p:sp>
      <p:sp>
        <p:nvSpPr>
          <p:cNvPr id="14" name="Shape 12"/>
          <p:cNvSpPr/>
          <p:nvPr/>
        </p:nvSpPr>
        <p:spPr>
          <a:xfrm>
            <a:off x="5303520" y="2240280"/>
            <a:ext cx="1463040" cy="411480"/>
          </a:xfrm>
          <a:prstGeom prst="roundRect">
            <a:avLst>
              <a:gd name="adj" fmla="val 13333"/>
            </a:avLst>
          </a:prstGeom>
          <a:solidFill>
            <a:srgbClr val="B8C0CC"/>
          </a:solidFill>
          <a:ln w="12700">
            <a:solidFill>
              <a:srgbClr val="B8C0CC"/>
            </a:solidFill>
            <a:prstDash val="solid"/>
          </a:ln>
        </p:spPr>
        <p:txBody>
          <a:bodyPr/>
          <a:lstStyle/>
          <a:p>
            <a:endParaRPr lang="en-TR"/>
          </a:p>
        </p:txBody>
      </p:sp>
      <p:sp>
        <p:nvSpPr>
          <p:cNvPr id="15" name="Text 13"/>
          <p:cNvSpPr txBox="1"/>
          <p:nvPr/>
        </p:nvSpPr>
        <p:spPr>
          <a:xfrm>
            <a:off x="5303520" y="2240280"/>
            <a:ext cx="1463040" cy="411480"/>
          </a:xfrm>
          <a:prstGeom prst="rect">
            <a:avLst/>
          </a:prstGeom>
          <a:noFill/>
          <a:ln/>
        </p:spPr>
        <p:txBody>
          <a:bodyPr wrap="square" lIns="635" tIns="635" rIns="635" bIns="635" rtlCol="0" anchor="ctr"/>
          <a:lstStyle/>
          <a:p>
            <a:pPr marL="0" indent="0" algn="ctr">
              <a:buNone/>
            </a:pPr>
            <a:r>
              <a:rPr lang="en-US" sz="1050" b="1" dirty="0">
                <a:solidFill>
                  <a:srgbClr val="1B1F24"/>
                </a:solidFill>
                <a:latin typeface="Calibri" pitchFamily="34" charset="0"/>
                <a:ea typeface="Calibri" pitchFamily="34" charset="-122"/>
                <a:cs typeface="Calibri" pitchFamily="34" charset="-120"/>
              </a:rPr>
              <a:t>dim_vehicle</a:t>
            </a:r>
            <a:endParaRPr lang="en-US" sz="1050" dirty="0"/>
          </a:p>
        </p:txBody>
      </p:sp>
      <p:sp>
        <p:nvSpPr>
          <p:cNvPr id="16" name="Shape 14"/>
          <p:cNvSpPr/>
          <p:nvPr/>
        </p:nvSpPr>
        <p:spPr>
          <a:xfrm>
            <a:off x="731520" y="4983480"/>
            <a:ext cx="1463040" cy="411480"/>
          </a:xfrm>
          <a:prstGeom prst="roundRect">
            <a:avLst>
              <a:gd name="adj" fmla="val 13333"/>
            </a:avLst>
          </a:prstGeom>
          <a:solidFill>
            <a:srgbClr val="B8C0CC"/>
          </a:solidFill>
          <a:ln w="12700">
            <a:solidFill>
              <a:srgbClr val="B8C0CC"/>
            </a:solidFill>
            <a:prstDash val="solid"/>
          </a:ln>
        </p:spPr>
        <p:txBody>
          <a:bodyPr/>
          <a:lstStyle/>
          <a:p>
            <a:endParaRPr lang="en-TR"/>
          </a:p>
        </p:txBody>
      </p:sp>
      <p:sp>
        <p:nvSpPr>
          <p:cNvPr id="17" name="Text 15"/>
          <p:cNvSpPr txBox="1"/>
          <p:nvPr/>
        </p:nvSpPr>
        <p:spPr>
          <a:xfrm>
            <a:off x="731520" y="4983480"/>
            <a:ext cx="1463040" cy="411480"/>
          </a:xfrm>
          <a:prstGeom prst="rect">
            <a:avLst/>
          </a:prstGeom>
          <a:noFill/>
          <a:ln/>
        </p:spPr>
        <p:txBody>
          <a:bodyPr wrap="square" lIns="635" tIns="635" rIns="635" bIns="635" rtlCol="0" anchor="ctr"/>
          <a:lstStyle/>
          <a:p>
            <a:pPr marL="0" indent="0" algn="ctr">
              <a:buNone/>
            </a:pPr>
            <a:r>
              <a:rPr lang="en-US" sz="1050" b="1" dirty="0">
                <a:solidFill>
                  <a:srgbClr val="1B1F24"/>
                </a:solidFill>
                <a:latin typeface="Calibri" pitchFamily="34" charset="0"/>
                <a:ea typeface="Calibri" pitchFamily="34" charset="-122"/>
                <a:cs typeface="Calibri" pitchFamily="34" charset="-120"/>
              </a:rPr>
              <a:t>dim_customer</a:t>
            </a:r>
            <a:endParaRPr lang="en-US" sz="1050" dirty="0"/>
          </a:p>
        </p:txBody>
      </p:sp>
      <p:sp>
        <p:nvSpPr>
          <p:cNvPr id="18" name="Shape 16"/>
          <p:cNvSpPr/>
          <p:nvPr/>
        </p:nvSpPr>
        <p:spPr>
          <a:xfrm>
            <a:off x="3017520" y="5166360"/>
            <a:ext cx="1463040" cy="411480"/>
          </a:xfrm>
          <a:prstGeom prst="roundRect">
            <a:avLst>
              <a:gd name="adj" fmla="val 13333"/>
            </a:avLst>
          </a:prstGeom>
          <a:solidFill>
            <a:srgbClr val="B8C0CC"/>
          </a:solidFill>
          <a:ln w="12700">
            <a:solidFill>
              <a:srgbClr val="B8C0CC"/>
            </a:solidFill>
            <a:prstDash val="solid"/>
          </a:ln>
        </p:spPr>
        <p:txBody>
          <a:bodyPr/>
          <a:lstStyle/>
          <a:p>
            <a:endParaRPr lang="en-TR"/>
          </a:p>
        </p:txBody>
      </p:sp>
      <p:sp>
        <p:nvSpPr>
          <p:cNvPr id="19" name="Text 17"/>
          <p:cNvSpPr txBox="1"/>
          <p:nvPr/>
        </p:nvSpPr>
        <p:spPr>
          <a:xfrm>
            <a:off x="3017520" y="5166360"/>
            <a:ext cx="1463040" cy="411480"/>
          </a:xfrm>
          <a:prstGeom prst="rect">
            <a:avLst/>
          </a:prstGeom>
          <a:noFill/>
          <a:ln/>
        </p:spPr>
        <p:txBody>
          <a:bodyPr wrap="square" lIns="635" tIns="635" rIns="635" bIns="635" rtlCol="0" anchor="ctr"/>
          <a:lstStyle/>
          <a:p>
            <a:pPr marL="0" indent="0" algn="ctr">
              <a:buNone/>
            </a:pPr>
            <a:r>
              <a:rPr lang="en-US" sz="1050" b="1" dirty="0">
                <a:solidFill>
                  <a:srgbClr val="1B1F24"/>
                </a:solidFill>
                <a:latin typeface="Calibri" pitchFamily="34" charset="0"/>
                <a:ea typeface="Calibri" pitchFamily="34" charset="-122"/>
                <a:cs typeface="Calibri" pitchFamily="34" charset="-120"/>
              </a:rPr>
              <a:t>dim_advisor</a:t>
            </a:r>
            <a:endParaRPr lang="en-US" sz="1050" dirty="0"/>
          </a:p>
        </p:txBody>
      </p:sp>
      <p:sp>
        <p:nvSpPr>
          <p:cNvPr id="20" name="Shape 18"/>
          <p:cNvSpPr/>
          <p:nvPr/>
        </p:nvSpPr>
        <p:spPr>
          <a:xfrm>
            <a:off x="5303520" y="4983480"/>
            <a:ext cx="1463040" cy="411480"/>
          </a:xfrm>
          <a:prstGeom prst="roundRect">
            <a:avLst>
              <a:gd name="adj" fmla="val 13333"/>
            </a:avLst>
          </a:prstGeom>
          <a:solidFill>
            <a:srgbClr val="B8C0CC"/>
          </a:solidFill>
          <a:ln w="12700">
            <a:solidFill>
              <a:srgbClr val="B8C0CC"/>
            </a:solidFill>
            <a:prstDash val="solid"/>
          </a:ln>
        </p:spPr>
        <p:txBody>
          <a:bodyPr/>
          <a:lstStyle/>
          <a:p>
            <a:endParaRPr lang="en-TR"/>
          </a:p>
        </p:txBody>
      </p:sp>
      <p:sp>
        <p:nvSpPr>
          <p:cNvPr id="21" name="Text 19"/>
          <p:cNvSpPr txBox="1"/>
          <p:nvPr/>
        </p:nvSpPr>
        <p:spPr>
          <a:xfrm>
            <a:off x="5303520" y="4983480"/>
            <a:ext cx="1463040" cy="411480"/>
          </a:xfrm>
          <a:prstGeom prst="rect">
            <a:avLst/>
          </a:prstGeom>
          <a:noFill/>
          <a:ln/>
        </p:spPr>
        <p:txBody>
          <a:bodyPr wrap="square" lIns="635" tIns="635" rIns="635" bIns="635" rtlCol="0" anchor="ctr"/>
          <a:lstStyle/>
          <a:p>
            <a:pPr marL="0" indent="0" algn="ctr">
              <a:buNone/>
            </a:pPr>
            <a:r>
              <a:rPr lang="en-US" sz="1050" b="1" dirty="0">
                <a:solidFill>
                  <a:srgbClr val="1B1F24"/>
                </a:solidFill>
                <a:latin typeface="Calibri" pitchFamily="34" charset="0"/>
                <a:ea typeface="Calibri" pitchFamily="34" charset="-122"/>
                <a:cs typeface="Calibri" pitchFamily="34" charset="-120"/>
              </a:rPr>
              <a:t>dim_lead_source</a:t>
            </a:r>
            <a:endParaRPr lang="en-US" sz="1050" dirty="0"/>
          </a:p>
        </p:txBody>
      </p:sp>
      <p:sp>
        <p:nvSpPr>
          <p:cNvPr id="22" name="Shape 20"/>
          <p:cNvSpPr/>
          <p:nvPr/>
        </p:nvSpPr>
        <p:spPr>
          <a:xfrm>
            <a:off x="2697480" y="3520440"/>
            <a:ext cx="2103120" cy="1051560"/>
          </a:xfrm>
          <a:prstGeom prst="roundRect">
            <a:avLst>
              <a:gd name="adj" fmla="val 5217"/>
            </a:avLst>
          </a:prstGeom>
          <a:solidFill>
            <a:srgbClr val="E8A33D"/>
          </a:solidFill>
          <a:ln w="12700">
            <a:solidFill>
              <a:srgbClr val="E8A33D"/>
            </a:solidFill>
            <a:prstDash val="solid"/>
          </a:ln>
        </p:spPr>
        <p:txBody>
          <a:bodyPr/>
          <a:lstStyle/>
          <a:p>
            <a:endParaRPr lang="en-TR"/>
          </a:p>
        </p:txBody>
      </p:sp>
      <p:sp>
        <p:nvSpPr>
          <p:cNvPr id="23" name="Text 21"/>
          <p:cNvSpPr txBox="1"/>
          <p:nvPr/>
        </p:nvSpPr>
        <p:spPr>
          <a:xfrm>
            <a:off x="2697480" y="3520440"/>
            <a:ext cx="2103120" cy="1051560"/>
          </a:xfrm>
          <a:prstGeom prst="rect">
            <a:avLst/>
          </a:prstGeom>
          <a:noFill/>
          <a:ln/>
        </p:spPr>
        <p:txBody>
          <a:bodyPr wrap="square" lIns="635" tIns="635" rIns="635" bIns="635" rtlCol="0" anchor="ctr"/>
          <a:lstStyle/>
          <a:p>
            <a:pPr marL="0" indent="0" algn="ctr">
              <a:buNone/>
            </a:pPr>
            <a:r>
              <a:rPr lang="en-US" sz="1050" b="1" noProof="0" dirty="0" err="1">
                <a:solidFill>
                  <a:srgbClr val="1B1F24"/>
                </a:solidFill>
                <a:latin typeface="Calibri" pitchFamily="34" charset="0"/>
                <a:ea typeface="Calibri" pitchFamily="34" charset="-122"/>
                <a:cs typeface="Calibri" pitchFamily="34" charset="-120"/>
              </a:rPr>
              <a:t>fact_leads</a:t>
            </a:r>
            <a:endParaRPr lang="en-US" sz="1050" b="1" noProof="0" dirty="0">
              <a:solidFill>
                <a:srgbClr val="1B1F24"/>
              </a:solidFill>
              <a:latin typeface="Calibri" pitchFamily="34" charset="0"/>
              <a:ea typeface="Calibri" pitchFamily="34" charset="-122"/>
              <a:cs typeface="Calibri" pitchFamily="34" charset="-120"/>
            </a:endParaRPr>
          </a:p>
          <a:p>
            <a:pPr marL="0" indent="0" algn="ctr">
              <a:buNone/>
            </a:pPr>
            <a:r>
              <a:rPr lang="en-US" sz="1050" b="1" noProof="0" dirty="0"/>
              <a:t>Additional facts:</a:t>
            </a:r>
            <a:r>
              <a:rPr lang="en-US" sz="1050" noProof="0" dirty="0"/>
              <a:t> </a:t>
            </a:r>
            <a:r>
              <a:rPr lang="en-US" sz="1050" noProof="0" dirty="0" err="1"/>
              <a:t>fact_test_drives</a:t>
            </a:r>
            <a:r>
              <a:rPr lang="en-US" sz="1050" noProof="0" dirty="0"/>
              <a:t> · </a:t>
            </a:r>
            <a:r>
              <a:rPr lang="en-US" sz="1050" noProof="0" dirty="0" err="1"/>
              <a:t>fact_offers</a:t>
            </a:r>
            <a:r>
              <a:rPr lang="en-US" sz="1050" noProof="0" dirty="0"/>
              <a:t> · </a:t>
            </a:r>
            <a:r>
              <a:rPr lang="en-US" sz="1050" noProof="0" dirty="0" err="1"/>
              <a:t>fact_sales</a:t>
            </a:r>
            <a:r>
              <a:rPr lang="en-US" sz="1050" noProof="0" dirty="0"/>
              <a:t> · </a:t>
            </a:r>
            <a:r>
              <a:rPr lang="en-US" sz="1050" noProof="0" dirty="0" err="1"/>
              <a:t>fact_interactions</a:t>
            </a:r>
            <a:endParaRPr lang="en-US" sz="1050" b="1" noProof="0" dirty="0">
              <a:solidFill>
                <a:srgbClr val="1B1F24"/>
              </a:solidFill>
              <a:latin typeface="Calibri" pitchFamily="34" charset="0"/>
              <a:ea typeface="Calibri" pitchFamily="34" charset="-122"/>
              <a:cs typeface="Calibri" pitchFamily="34" charset="-120"/>
            </a:endParaRPr>
          </a:p>
        </p:txBody>
      </p:sp>
      <p:sp>
        <p:nvSpPr>
          <p:cNvPr id="24" name="Text 22"/>
          <p:cNvSpPr txBox="1"/>
          <p:nvPr/>
        </p:nvSpPr>
        <p:spPr>
          <a:xfrm>
            <a:off x="548640" y="5669280"/>
            <a:ext cx="5760720" cy="457200"/>
          </a:xfrm>
          <a:prstGeom prst="rect">
            <a:avLst/>
          </a:prstGeom>
          <a:noFill/>
          <a:ln/>
        </p:spPr>
        <p:txBody>
          <a:bodyPr wrap="square" lIns="0" tIns="0" rIns="0" bIns="0" rtlCol="0" anchor="ctr"/>
          <a:lstStyle/>
          <a:p>
            <a:pPr marL="0" indent="0">
              <a:buNone/>
            </a:pPr>
            <a:r>
              <a:rPr lang="en-US" sz="1050" i="1" dirty="0">
                <a:solidFill>
                  <a:srgbClr val="5B6573"/>
                </a:solidFill>
                <a:latin typeface="Calibri" pitchFamily="34" charset="0"/>
                <a:ea typeface="Calibri" pitchFamily="34" charset="-122"/>
                <a:cs typeface="Calibri" pitchFamily="34" charset="-120"/>
              </a:rPr>
              <a:t>Also in Gold: lead_notes (text for the AI product, hidden from BI) and dq_results (for the DQ monitor page).</a:t>
            </a:r>
            <a:endParaRPr lang="en-US" sz="1050" dirty="0"/>
          </a:p>
        </p:txBody>
      </p:sp>
      <p:graphicFrame>
        <p:nvGraphicFramePr>
          <p:cNvPr id="25" name="Chart 0"/>
          <p:cNvGraphicFramePr/>
          <p:nvPr>
            <p:extLst>
              <p:ext uri="{D42A27DB-BD31-4B8C-83A1-F6EECF244321}">
                <p14:modId xmlns:p14="http://schemas.microsoft.com/office/powerpoint/2010/main" val="262564080"/>
              </p:ext>
            </p:extLst>
          </p:nvPr>
        </p:nvGraphicFramePr>
        <p:xfrm>
          <a:off x="6583680" y="1645920"/>
          <a:ext cx="50292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 23"/>
          <p:cNvSpPr txBox="1"/>
          <p:nvPr/>
        </p:nvSpPr>
        <p:spPr>
          <a:xfrm>
            <a:off x="6583680" y="4526280"/>
            <a:ext cx="5029200" cy="15544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E3540"/>
                </a:solidFill>
                <a:latin typeface="Calibri" pitchFamily="34" charset="0"/>
                <a:ea typeface="Calibri" pitchFamily="34" charset="-122"/>
                <a:cs typeface="Calibri" pitchFamily="34" charset="-120"/>
              </a:rPr>
              <a:t>Natural keys; surrogate keys + SCD2 are the next step when dealers get renamed</a:t>
            </a:r>
            <a:endParaRPr lang="en-US" sz="1100" dirty="0"/>
          </a:p>
          <a:p>
            <a:pPr marL="342900" indent="-342900">
              <a:spcAft>
                <a:spcPts val="600"/>
              </a:spcAft>
              <a:buSzPct val="100000"/>
              <a:buChar char="•"/>
            </a:pPr>
            <a:r>
              <a:rPr lang="en-US" sz="1100" dirty="0">
                <a:solidFill>
                  <a:srgbClr val="2E3540"/>
                </a:solidFill>
                <a:latin typeface="Calibri" pitchFamily="34" charset="0"/>
                <a:ea typeface="Calibri" pitchFamily="34" charset="-122"/>
                <a:cs typeface="Calibri" pitchFamily="34" charset="-120"/>
              </a:rPr>
              <a:t>UNK rows: a lead with a broken dealer id shows under 'Unknown dealer' instead of vanishing in a join</a:t>
            </a:r>
            <a:endParaRPr lang="en-US" sz="1100" dirty="0"/>
          </a:p>
          <a:p>
            <a:pPr marL="342900" indent="-342900">
              <a:spcAft>
                <a:spcPts val="600"/>
              </a:spcAft>
              <a:buSzPct val="100000"/>
              <a:buChar char="•"/>
            </a:pPr>
            <a:r>
              <a:rPr lang="en-US" sz="1100" dirty="0">
                <a:solidFill>
                  <a:srgbClr val="2E3540"/>
                </a:solidFill>
                <a:latin typeface="Calibri" pitchFamily="34" charset="0"/>
                <a:ea typeface="Calibri" pitchFamily="34" charset="-122"/>
                <a:cs typeface="Calibri" pitchFamily="34" charset="-120"/>
              </a:rPr>
              <a:t>Revenue 13.1 bn TRY (illustrative prices) — the report cards must reproduce these totals exactly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1B1F24"/>
                </a:solidFill>
                <a:latin typeface="Cambria" pitchFamily="34" charset="0"/>
                <a:ea typeface="Cambria" pitchFamily="34" charset="-122"/>
                <a:cs typeface="Cambria" pitchFamily="34" charset="-120"/>
              </a:rPr>
              <a:t>Semantic model and report</a:t>
            </a:r>
            <a:endParaRPr lang="en-US" sz="3200" dirty="0"/>
          </a:p>
        </p:txBody>
      </p:sp>
      <p:sp>
        <p:nvSpPr>
          <p:cNvPr id="3" name="Text 1"/>
          <p:cNvSpPr txBox="1"/>
          <p:nvPr/>
        </p:nvSpPr>
        <p:spPr>
          <a:xfrm>
            <a:off x="548640" y="1097280"/>
            <a:ext cx="11091672" cy="365760"/>
          </a:xfrm>
          <a:prstGeom prst="rect">
            <a:avLst/>
          </a:prstGeom>
          <a:noFill/>
          <a:ln/>
        </p:spPr>
        <p:txBody>
          <a:bodyPr wrap="square" lIns="0" tIns="0" rIns="0" bIns="0" rtlCol="0" anchor="ctr"/>
          <a:lstStyle/>
          <a:p>
            <a:pPr marL="0" indent="0">
              <a:buNone/>
            </a:pPr>
            <a:r>
              <a:rPr lang="en-US" sz="1400" dirty="0">
                <a:solidFill>
                  <a:srgbClr val="5B6573"/>
                </a:solidFill>
                <a:latin typeface="Calibri" pitchFamily="34" charset="0"/>
                <a:ea typeface="Calibri" pitchFamily="34" charset="-122"/>
                <a:cs typeface="Calibri" pitchFamily="34" charset="-120"/>
              </a:rPr>
              <a:t>Direct Lake on Gold · single-direction star · 41 measures in a dedicated _Measures table · 4 report pages</a:t>
            </a:r>
            <a:endParaRPr lang="en-US" sz="1400" dirty="0"/>
          </a:p>
        </p:txBody>
      </p:sp>
      <p:sp>
        <p:nvSpPr>
          <p:cNvPr id="4" name="Shape 2"/>
          <p:cNvSpPr/>
          <p:nvPr/>
        </p:nvSpPr>
        <p:spPr>
          <a:xfrm>
            <a:off x="548640" y="1691640"/>
            <a:ext cx="3291840" cy="2011680"/>
          </a:xfrm>
          <a:prstGeom prst="roundRect">
            <a:avLst>
              <a:gd name="adj" fmla="val 3636"/>
            </a:avLst>
          </a:prstGeom>
          <a:solidFill>
            <a:srgbClr val="EEF1F4"/>
          </a:solidFill>
          <a:ln w="12700">
            <a:solidFill>
              <a:srgbClr val="EEF1F4"/>
            </a:solidFill>
            <a:prstDash val="solid"/>
          </a:ln>
        </p:spPr>
        <p:txBody>
          <a:bodyPr/>
          <a:lstStyle/>
          <a:p>
            <a:endParaRPr lang="en-TR"/>
          </a:p>
        </p:txBody>
      </p:sp>
      <p:sp>
        <p:nvSpPr>
          <p:cNvPr id="5" name="Text 3"/>
          <p:cNvSpPr txBox="1"/>
          <p:nvPr/>
        </p:nvSpPr>
        <p:spPr>
          <a:xfrm>
            <a:off x="731520" y="1828800"/>
            <a:ext cx="2926080" cy="365760"/>
          </a:xfrm>
          <a:prstGeom prst="rect">
            <a:avLst/>
          </a:prstGeom>
          <a:noFill/>
          <a:ln/>
        </p:spPr>
        <p:txBody>
          <a:bodyPr wrap="square" lIns="0" tIns="0" rIns="0" bIns="0" rtlCol="0" anchor="ctr"/>
          <a:lstStyle/>
          <a:p>
            <a:pPr marL="0" indent="0">
              <a:buNone/>
            </a:pPr>
            <a:r>
              <a:rPr lang="en-US" sz="1300" b="1" dirty="0">
                <a:solidFill>
                  <a:srgbClr val="1B1F24"/>
                </a:solidFill>
                <a:latin typeface="Cambria" pitchFamily="34" charset="0"/>
                <a:ea typeface="Cambria" pitchFamily="34" charset="-122"/>
                <a:cs typeface="Cambria" pitchFamily="34" charset="-120"/>
              </a:rPr>
              <a:t>Modelling choices</a:t>
            </a:r>
            <a:endParaRPr lang="en-US" sz="1300" dirty="0"/>
          </a:p>
        </p:txBody>
      </p:sp>
      <p:sp>
        <p:nvSpPr>
          <p:cNvPr id="6" name="Text 4"/>
          <p:cNvSpPr txBox="1"/>
          <p:nvPr/>
        </p:nvSpPr>
        <p:spPr>
          <a:xfrm>
            <a:off x="731520" y="2240280"/>
            <a:ext cx="2926080" cy="1325880"/>
          </a:xfrm>
          <a:prstGeom prst="rect">
            <a:avLst/>
          </a:prstGeom>
          <a:noFill/>
          <a:ln/>
        </p:spPr>
        <p:txBody>
          <a:bodyPr wrap="square" lIns="0" tIns="0" rIns="0" bIns="0" rtlCol="0" anchor="t"/>
          <a:lstStyle/>
          <a:p>
            <a:pPr marL="0" indent="0">
              <a:spcAft>
                <a:spcPts val="400"/>
              </a:spcAft>
              <a:buNone/>
            </a:pPr>
            <a:r>
              <a:rPr lang="en-US" sz="1050" dirty="0">
                <a:solidFill>
                  <a:srgbClr val="2E3540"/>
                </a:solidFill>
                <a:latin typeface="Calibri" pitchFamily="34" charset="0"/>
                <a:ea typeface="Calibri" pitchFamily="34" charset="-122"/>
                <a:cs typeface="Calibri" pitchFamily="34" charset="-120"/>
              </a:rPr>
              <a:t>dim_date marked as date table (time intelligence). S</a:t>
            </a:r>
            <a:r>
              <a:rPr lang="en-US" sz="1050" dirty="0"/>
              <a:t>ingle-direction relationships from dimensions to facts; no bi-directional filters. </a:t>
            </a:r>
            <a:r>
              <a:rPr lang="en-US" sz="1050" dirty="0">
                <a:solidFill>
                  <a:srgbClr val="2E3540"/>
                </a:solidFill>
                <a:latin typeface="Calibri" pitchFamily="34" charset="0"/>
                <a:ea typeface="Calibri" pitchFamily="34" charset="-122"/>
                <a:cs typeface="Calibri" pitchFamily="34" charset="-120"/>
              </a:rPr>
              <a:t>Text columns (notes) excluded from the model. Inactive relationship on closed_date_key for 'closed in month' views via USERELATIONSHIP.</a:t>
            </a:r>
            <a:endParaRPr lang="en-US" sz="1050" dirty="0"/>
          </a:p>
        </p:txBody>
      </p:sp>
      <p:sp>
        <p:nvSpPr>
          <p:cNvPr id="7" name="Shape 5"/>
          <p:cNvSpPr/>
          <p:nvPr/>
        </p:nvSpPr>
        <p:spPr>
          <a:xfrm>
            <a:off x="548640" y="3840480"/>
            <a:ext cx="3291840" cy="2240280"/>
          </a:xfrm>
          <a:prstGeom prst="roundRect">
            <a:avLst>
              <a:gd name="adj" fmla="val 3265"/>
            </a:avLst>
          </a:prstGeom>
          <a:solidFill>
            <a:srgbClr val="EEF1F4"/>
          </a:solidFill>
          <a:ln w="12700">
            <a:solidFill>
              <a:srgbClr val="EEF1F4"/>
            </a:solidFill>
            <a:prstDash val="solid"/>
          </a:ln>
        </p:spPr>
        <p:txBody>
          <a:bodyPr/>
          <a:lstStyle/>
          <a:p>
            <a:endParaRPr lang="en-TR"/>
          </a:p>
        </p:txBody>
      </p:sp>
      <p:sp>
        <p:nvSpPr>
          <p:cNvPr id="8" name="Text 6"/>
          <p:cNvSpPr txBox="1"/>
          <p:nvPr/>
        </p:nvSpPr>
        <p:spPr>
          <a:xfrm>
            <a:off x="731520" y="3977640"/>
            <a:ext cx="2926080" cy="365760"/>
          </a:xfrm>
          <a:prstGeom prst="rect">
            <a:avLst/>
          </a:prstGeom>
          <a:noFill/>
          <a:ln/>
        </p:spPr>
        <p:txBody>
          <a:bodyPr wrap="square" lIns="0" tIns="0" rIns="0" bIns="0" rtlCol="0" anchor="ctr"/>
          <a:lstStyle/>
          <a:p>
            <a:pPr marL="0" indent="0">
              <a:buNone/>
            </a:pPr>
            <a:r>
              <a:rPr lang="en-US" sz="1300" b="1" dirty="0">
                <a:solidFill>
                  <a:srgbClr val="1B1F24"/>
                </a:solidFill>
                <a:latin typeface="Cambria" pitchFamily="34" charset="0"/>
                <a:ea typeface="Cambria" pitchFamily="34" charset="-122"/>
                <a:cs typeface="Cambria" pitchFamily="34" charset="-120"/>
              </a:rPr>
              <a:t>Two conversion measures</a:t>
            </a:r>
            <a:endParaRPr lang="en-US" sz="1300" dirty="0"/>
          </a:p>
        </p:txBody>
      </p:sp>
      <p:sp>
        <p:nvSpPr>
          <p:cNvPr id="9" name="Text 7"/>
          <p:cNvSpPr txBox="1"/>
          <p:nvPr/>
        </p:nvSpPr>
        <p:spPr>
          <a:xfrm>
            <a:off x="731520" y="4389120"/>
            <a:ext cx="2926080" cy="1554480"/>
          </a:xfrm>
          <a:prstGeom prst="rect">
            <a:avLst/>
          </a:prstGeom>
          <a:noFill/>
          <a:ln/>
        </p:spPr>
        <p:txBody>
          <a:bodyPr wrap="square" lIns="0" tIns="0" rIns="0" bIns="0" rtlCol="0" anchor="t"/>
          <a:lstStyle/>
          <a:p>
            <a:pPr marL="0" indent="0">
              <a:spcAft>
                <a:spcPts val="400"/>
              </a:spcAft>
              <a:buNone/>
            </a:pPr>
            <a:r>
              <a:rPr lang="en-US" sz="1050" dirty="0">
                <a:solidFill>
                  <a:srgbClr val="2E3540"/>
                </a:solidFill>
                <a:latin typeface="Calibri" pitchFamily="34" charset="0"/>
                <a:ea typeface="Calibri" pitchFamily="34" charset="-122"/>
                <a:cs typeface="Calibri" pitchFamily="34" charset="-120"/>
              </a:rPr>
              <a:t>Lead-to-Sale Conversion = Won / all leads (as of today, open leads in the denominator).</a:t>
            </a:r>
            <a:endParaRPr lang="en-US" sz="1050" dirty="0"/>
          </a:p>
          <a:p>
            <a:pPr marL="0" indent="0">
              <a:spcAft>
                <a:spcPts val="400"/>
              </a:spcAft>
              <a:buNone/>
            </a:pPr>
            <a:endParaRPr lang="en-US" sz="1050" dirty="0"/>
          </a:p>
          <a:p>
            <a:pPr marL="0" indent="0">
              <a:spcAft>
                <a:spcPts val="400"/>
              </a:spcAft>
              <a:buNone/>
            </a:pPr>
            <a:r>
              <a:rPr lang="en-US" sz="1050" dirty="0">
                <a:solidFill>
                  <a:srgbClr val="2E3540"/>
                </a:solidFill>
                <a:latin typeface="Calibri" pitchFamily="34" charset="0"/>
                <a:ea typeface="Calibri" pitchFamily="34" charset="-122"/>
                <a:cs typeface="Calibri" pitchFamily="34" charset="-120"/>
              </a:rPr>
              <a:t>Conversion Rate (Closed) = Won / (Won + Lost) — fairer for recent months.</a:t>
            </a:r>
            <a:endParaRPr lang="en-US" sz="1050" dirty="0"/>
          </a:p>
          <a:p>
            <a:pPr marL="0" indent="0">
              <a:spcAft>
                <a:spcPts val="400"/>
              </a:spcAft>
              <a:buNone/>
            </a:pPr>
            <a:endParaRPr lang="en-US" sz="1050" dirty="0"/>
          </a:p>
          <a:p>
            <a:pPr marL="0" indent="0">
              <a:spcAft>
                <a:spcPts val="400"/>
              </a:spcAft>
              <a:buNone/>
            </a:pPr>
            <a:r>
              <a:rPr lang="en-US" sz="1050" dirty="0">
                <a:solidFill>
                  <a:srgbClr val="2E3540"/>
                </a:solidFill>
                <a:latin typeface="Calibri" pitchFamily="34" charset="0"/>
                <a:ea typeface="Calibri" pitchFamily="34" charset="-122"/>
                <a:cs typeface="Calibri" pitchFamily="34" charset="-120"/>
              </a:rPr>
              <a:t>Plus Conversion 3M Rolling, Response SLA Met %, Stale Pipeline %, Realised Discount %, Dealer Performance Flag.</a:t>
            </a:r>
            <a:endParaRPr lang="en-US" sz="1050" dirty="0"/>
          </a:p>
        </p:txBody>
      </p:sp>
      <p:sp>
        <p:nvSpPr>
          <p:cNvPr id="10" name="Shape 8"/>
          <p:cNvSpPr/>
          <p:nvPr/>
        </p:nvSpPr>
        <p:spPr>
          <a:xfrm>
            <a:off x="4114800" y="1691640"/>
            <a:ext cx="3749040" cy="2103120"/>
          </a:xfrm>
          <a:prstGeom prst="roundRect">
            <a:avLst>
              <a:gd name="adj" fmla="val 3478"/>
            </a:avLst>
          </a:prstGeom>
          <a:solidFill>
            <a:srgbClr val="EEF1F4"/>
          </a:solidFill>
          <a:ln w="19050">
            <a:solidFill>
              <a:srgbClr val="E8A33D"/>
            </a:solidFill>
            <a:prstDash val="dash"/>
          </a:ln>
        </p:spPr>
        <p:txBody>
          <a:bodyPr/>
          <a:lstStyle/>
          <a:p>
            <a:endParaRPr lang="en-TR"/>
          </a:p>
        </p:txBody>
      </p:sp>
      <p:sp>
        <p:nvSpPr>
          <p:cNvPr id="12" name="Shape 10"/>
          <p:cNvSpPr/>
          <p:nvPr/>
        </p:nvSpPr>
        <p:spPr>
          <a:xfrm>
            <a:off x="8001000" y="1691640"/>
            <a:ext cx="3611880" cy="2103120"/>
          </a:xfrm>
          <a:prstGeom prst="roundRect">
            <a:avLst>
              <a:gd name="adj" fmla="val 3478"/>
            </a:avLst>
          </a:prstGeom>
          <a:solidFill>
            <a:srgbClr val="EEF1F4"/>
          </a:solidFill>
          <a:ln w="19050">
            <a:solidFill>
              <a:srgbClr val="E8A33D"/>
            </a:solidFill>
            <a:prstDash val="dash"/>
          </a:ln>
        </p:spPr>
        <p:txBody>
          <a:bodyPr/>
          <a:lstStyle/>
          <a:p>
            <a:endParaRPr lang="en-TR" dirty="0"/>
          </a:p>
        </p:txBody>
      </p:sp>
      <p:sp>
        <p:nvSpPr>
          <p:cNvPr id="14" name="Shape 12"/>
          <p:cNvSpPr/>
          <p:nvPr/>
        </p:nvSpPr>
        <p:spPr>
          <a:xfrm>
            <a:off x="4114800" y="3977640"/>
            <a:ext cx="3749040" cy="2103120"/>
          </a:xfrm>
          <a:prstGeom prst="roundRect">
            <a:avLst>
              <a:gd name="adj" fmla="val 3478"/>
            </a:avLst>
          </a:prstGeom>
          <a:solidFill>
            <a:srgbClr val="EEF1F4"/>
          </a:solidFill>
          <a:ln w="19050">
            <a:solidFill>
              <a:srgbClr val="E8A33D"/>
            </a:solidFill>
            <a:prstDash val="dash"/>
          </a:ln>
        </p:spPr>
        <p:txBody>
          <a:bodyPr/>
          <a:lstStyle/>
          <a:p>
            <a:endParaRPr lang="en-TR"/>
          </a:p>
        </p:txBody>
      </p:sp>
      <p:sp>
        <p:nvSpPr>
          <p:cNvPr id="16" name="Shape 14"/>
          <p:cNvSpPr/>
          <p:nvPr/>
        </p:nvSpPr>
        <p:spPr>
          <a:xfrm>
            <a:off x="8001000" y="3977640"/>
            <a:ext cx="3611880" cy="2103120"/>
          </a:xfrm>
          <a:prstGeom prst="roundRect">
            <a:avLst>
              <a:gd name="adj" fmla="val 3478"/>
            </a:avLst>
          </a:prstGeom>
          <a:solidFill>
            <a:srgbClr val="EEF1F4"/>
          </a:solidFill>
          <a:ln w="19050">
            <a:solidFill>
              <a:srgbClr val="E8A33D"/>
            </a:solidFill>
            <a:prstDash val="dash"/>
          </a:ln>
        </p:spPr>
        <p:txBody>
          <a:bodyPr/>
          <a:lstStyle/>
          <a:p>
            <a:endParaRPr lang="en-TR"/>
          </a:p>
        </p:txBody>
      </p:sp>
      <p:pic>
        <p:nvPicPr>
          <p:cNvPr id="17" name="Picture 16" descr="A screenshot of a computer&#10;&#10;AI-generated content may be incorrect.">
            <a:extLst>
              <a:ext uri="{FF2B5EF4-FFF2-40B4-BE49-F238E27FC236}">
                <a16:creationId xmlns:a16="http://schemas.microsoft.com/office/drawing/2014/main" id="{EEFBE895-746C-AAFE-62F2-66EAE55959E9}"/>
              </a:ext>
            </a:extLst>
          </p:cNvPr>
          <p:cNvPicPr>
            <a:picLocks noChangeAspect="1"/>
          </p:cNvPicPr>
          <p:nvPr/>
        </p:nvPicPr>
        <p:blipFill>
          <a:blip r:embed="rId3"/>
          <a:stretch>
            <a:fillRect/>
          </a:stretch>
        </p:blipFill>
        <p:spPr>
          <a:xfrm>
            <a:off x="4183380" y="1760220"/>
            <a:ext cx="3611880" cy="2034541"/>
          </a:xfrm>
          <a:prstGeom prst="rect">
            <a:avLst/>
          </a:prstGeom>
        </p:spPr>
      </p:pic>
      <p:pic>
        <p:nvPicPr>
          <p:cNvPr id="26" name="Picture 25" descr="A screenshot of a computer&#10;&#10;AI-generated content may be incorrect.">
            <a:extLst>
              <a:ext uri="{FF2B5EF4-FFF2-40B4-BE49-F238E27FC236}">
                <a16:creationId xmlns:a16="http://schemas.microsoft.com/office/drawing/2014/main" id="{BC3A63A6-DE5D-A98F-4787-A5AB17486ADB}"/>
              </a:ext>
            </a:extLst>
          </p:cNvPr>
          <p:cNvPicPr>
            <a:picLocks noChangeAspect="1"/>
          </p:cNvPicPr>
          <p:nvPr/>
        </p:nvPicPr>
        <p:blipFill>
          <a:blip r:embed="rId4"/>
          <a:stretch>
            <a:fillRect/>
          </a:stretch>
        </p:blipFill>
        <p:spPr>
          <a:xfrm>
            <a:off x="4183380" y="4049374"/>
            <a:ext cx="3611880" cy="2005372"/>
          </a:xfrm>
          <a:prstGeom prst="rect">
            <a:avLst/>
          </a:prstGeom>
        </p:spPr>
      </p:pic>
      <p:pic>
        <p:nvPicPr>
          <p:cNvPr id="28" name="Picture 27">
            <a:extLst>
              <a:ext uri="{FF2B5EF4-FFF2-40B4-BE49-F238E27FC236}">
                <a16:creationId xmlns:a16="http://schemas.microsoft.com/office/drawing/2014/main" id="{B27409F6-D038-25F7-E52F-86EBF369C8D3}"/>
              </a:ext>
            </a:extLst>
          </p:cNvPr>
          <p:cNvPicPr>
            <a:picLocks noChangeAspect="1"/>
          </p:cNvPicPr>
          <p:nvPr/>
        </p:nvPicPr>
        <p:blipFill>
          <a:blip r:embed="rId5"/>
          <a:stretch>
            <a:fillRect/>
          </a:stretch>
        </p:blipFill>
        <p:spPr>
          <a:xfrm>
            <a:off x="8138160" y="4114800"/>
            <a:ext cx="3322320" cy="1828800"/>
          </a:xfrm>
          <a:prstGeom prst="rect">
            <a:avLst/>
          </a:prstGeom>
        </p:spPr>
      </p:pic>
      <p:pic>
        <p:nvPicPr>
          <p:cNvPr id="30" name="Picture 29" descr="A screenshot of a computer&#10;&#10;AI-generated content may be incorrect.">
            <a:extLst>
              <a:ext uri="{FF2B5EF4-FFF2-40B4-BE49-F238E27FC236}">
                <a16:creationId xmlns:a16="http://schemas.microsoft.com/office/drawing/2014/main" id="{10B2BC9A-6CA0-33BF-D02E-67B03D506A33}"/>
              </a:ext>
            </a:extLst>
          </p:cNvPr>
          <p:cNvPicPr>
            <a:picLocks noChangeAspect="1"/>
          </p:cNvPicPr>
          <p:nvPr/>
        </p:nvPicPr>
        <p:blipFill>
          <a:blip r:embed="rId6"/>
          <a:stretch>
            <a:fillRect/>
          </a:stretch>
        </p:blipFill>
        <p:spPr>
          <a:xfrm>
            <a:off x="8045313" y="1721534"/>
            <a:ext cx="3523254" cy="19765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F24"/>
        </a:solidFill>
        <a:effectLst/>
      </p:bgPr>
    </p:bg>
    <p:spTree>
      <p:nvGrpSpPr>
        <p:cNvPr id="1" name=""/>
        <p:cNvGrpSpPr/>
        <p:nvPr/>
      </p:nvGrpSpPr>
      <p:grpSpPr>
        <a:xfrm>
          <a:off x="0" y="0"/>
          <a:ext cx="0" cy="0"/>
          <a:chOff x="0" y="0"/>
          <a:chExt cx="0" cy="0"/>
        </a:xfrm>
      </p:grpSpPr>
      <p:sp>
        <p:nvSpPr>
          <p:cNvPr id="2" name="Text 0"/>
          <p:cNvSpPr txBox="1"/>
          <p:nvPr/>
        </p:nvSpPr>
        <p:spPr>
          <a:xfrm>
            <a:off x="548640" y="1280160"/>
            <a:ext cx="73152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Live demo</a:t>
            </a:r>
            <a:endParaRPr lang="en-US" sz="4400" dirty="0"/>
          </a:p>
        </p:txBody>
      </p:sp>
      <p:sp>
        <p:nvSpPr>
          <p:cNvPr id="3" name="Shape 1"/>
          <p:cNvSpPr/>
          <p:nvPr/>
        </p:nvSpPr>
        <p:spPr>
          <a:xfrm>
            <a:off x="548640" y="2560320"/>
            <a:ext cx="347472" cy="347472"/>
          </a:xfrm>
          <a:prstGeom prst="ellipse">
            <a:avLst/>
          </a:prstGeom>
          <a:solidFill>
            <a:srgbClr val="E8A33D"/>
          </a:solidFill>
          <a:ln w="12700">
            <a:solidFill>
              <a:srgbClr val="E8A33D"/>
            </a:solidFill>
            <a:prstDash val="solid"/>
          </a:ln>
        </p:spPr>
        <p:txBody>
          <a:bodyPr/>
          <a:lstStyle/>
          <a:p>
            <a:endParaRPr lang="en-TR"/>
          </a:p>
        </p:txBody>
      </p:sp>
      <p:sp>
        <p:nvSpPr>
          <p:cNvPr id="4" name="Text 2"/>
          <p:cNvSpPr txBox="1"/>
          <p:nvPr/>
        </p:nvSpPr>
        <p:spPr>
          <a:xfrm>
            <a:off x="548640" y="256032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txBox="1"/>
          <p:nvPr/>
        </p:nvSpPr>
        <p:spPr>
          <a:xfrm>
            <a:off x="1051560" y="2523744"/>
            <a:ext cx="1828800" cy="365760"/>
          </a:xfrm>
          <a:prstGeom prst="rect">
            <a:avLst/>
          </a:prstGeom>
          <a:noFill/>
          <a:ln/>
        </p:spPr>
        <p:txBody>
          <a:bodyPr wrap="square" lIns="0" tIns="0" rIns="0" bIns="0" rtlCol="0" anchor="ctr"/>
          <a:lstStyle/>
          <a:p>
            <a:pPr marL="0" indent="0">
              <a:buNone/>
            </a:pPr>
            <a:r>
              <a:rPr lang="en-US" sz="1800" b="1" dirty="0">
                <a:solidFill>
                  <a:srgbClr val="E8A33D"/>
                </a:solidFill>
                <a:latin typeface="Cambria" pitchFamily="34" charset="0"/>
                <a:ea typeface="Cambria" pitchFamily="34" charset="-122"/>
                <a:cs typeface="Cambria" pitchFamily="34" charset="-120"/>
              </a:rPr>
              <a:t>Lakehouse</a:t>
            </a:r>
            <a:endParaRPr lang="en-US" sz="1800" dirty="0"/>
          </a:p>
        </p:txBody>
      </p:sp>
      <p:sp>
        <p:nvSpPr>
          <p:cNvPr id="6" name="Text 4"/>
          <p:cNvSpPr txBox="1"/>
          <p:nvPr/>
        </p:nvSpPr>
        <p:spPr>
          <a:xfrm>
            <a:off x="2926080" y="2560320"/>
            <a:ext cx="8686800" cy="365760"/>
          </a:xfrm>
          <a:prstGeom prst="rect">
            <a:avLst/>
          </a:prstGeom>
          <a:noFill/>
          <a:ln/>
        </p:spPr>
        <p:txBody>
          <a:bodyPr wrap="square" lIns="0" tIns="0" rIns="0" bIns="0" rtlCol="0" anchor="ctr"/>
          <a:lstStyle/>
          <a:p>
            <a:pPr marL="0" indent="0">
              <a:buNone/>
            </a:pPr>
            <a:r>
              <a:rPr lang="en-US" sz="1400" dirty="0">
                <a:solidFill>
                  <a:srgbClr val="C9D1DB"/>
                </a:solidFill>
                <a:latin typeface="Calibri" pitchFamily="34" charset="0"/>
                <a:cs typeface="Calibri" pitchFamily="34" charset="-120"/>
              </a:rPr>
              <a:t>bronze / silver / gold schemas · raw vs cleaned data</a:t>
            </a:r>
          </a:p>
        </p:txBody>
      </p:sp>
      <p:sp>
        <p:nvSpPr>
          <p:cNvPr id="7" name="Shape 5"/>
          <p:cNvSpPr/>
          <p:nvPr/>
        </p:nvSpPr>
        <p:spPr>
          <a:xfrm>
            <a:off x="548640" y="3337560"/>
            <a:ext cx="347472" cy="347472"/>
          </a:xfrm>
          <a:prstGeom prst="ellipse">
            <a:avLst/>
          </a:prstGeom>
          <a:solidFill>
            <a:srgbClr val="E8A33D"/>
          </a:solidFill>
          <a:ln w="12700">
            <a:solidFill>
              <a:srgbClr val="E8A33D"/>
            </a:solidFill>
            <a:prstDash val="solid"/>
          </a:ln>
        </p:spPr>
        <p:txBody>
          <a:bodyPr/>
          <a:lstStyle/>
          <a:p>
            <a:endParaRPr lang="en-TR"/>
          </a:p>
        </p:txBody>
      </p:sp>
      <p:sp>
        <p:nvSpPr>
          <p:cNvPr id="8" name="Text 6"/>
          <p:cNvSpPr txBox="1"/>
          <p:nvPr/>
        </p:nvSpPr>
        <p:spPr>
          <a:xfrm>
            <a:off x="548640" y="333756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051560" y="3300984"/>
            <a:ext cx="1828800" cy="365760"/>
          </a:xfrm>
          <a:prstGeom prst="rect">
            <a:avLst/>
          </a:prstGeom>
          <a:noFill/>
          <a:ln/>
        </p:spPr>
        <p:txBody>
          <a:bodyPr wrap="square" lIns="0" tIns="0" rIns="0" bIns="0" rtlCol="0" anchor="ctr"/>
          <a:lstStyle/>
          <a:p>
            <a:pPr marL="0" indent="0">
              <a:buNone/>
            </a:pPr>
            <a:r>
              <a:rPr lang="en-US" sz="1800" b="1" dirty="0">
                <a:solidFill>
                  <a:srgbClr val="E8A33D"/>
                </a:solidFill>
                <a:latin typeface="Cambria" pitchFamily="34" charset="0"/>
                <a:ea typeface="Cambria" pitchFamily="34" charset="-122"/>
                <a:cs typeface="Cambria" pitchFamily="34" charset="-120"/>
              </a:rPr>
              <a:t>Pipeline</a:t>
            </a:r>
            <a:endParaRPr lang="en-US" sz="1800" dirty="0"/>
          </a:p>
        </p:txBody>
      </p:sp>
      <p:sp>
        <p:nvSpPr>
          <p:cNvPr id="10" name="Text 8"/>
          <p:cNvSpPr txBox="1"/>
          <p:nvPr/>
        </p:nvSpPr>
        <p:spPr>
          <a:xfrm>
            <a:off x="2926080" y="3337560"/>
            <a:ext cx="8686800" cy="365760"/>
          </a:xfrm>
          <a:prstGeom prst="rect">
            <a:avLst/>
          </a:prstGeom>
          <a:noFill/>
          <a:ln/>
        </p:spPr>
        <p:txBody>
          <a:bodyPr wrap="square" lIns="0" tIns="0" rIns="0" bIns="0" rtlCol="0" anchor="ctr"/>
          <a:lstStyle/>
          <a:p>
            <a:pPr marL="0" indent="0">
              <a:buNone/>
            </a:pPr>
            <a:r>
              <a:rPr lang="en-US" sz="1400" dirty="0">
                <a:solidFill>
                  <a:srgbClr val="C9D1DB"/>
                </a:solidFill>
                <a:latin typeface="Calibri" pitchFamily="34" charset="0"/>
                <a:ea typeface="Calibri" pitchFamily="34" charset="-122"/>
                <a:cs typeface="Calibri" pitchFamily="34" charset="-120"/>
              </a:rPr>
              <a:t>last run in Monitor, three notebook steps chained</a:t>
            </a:r>
            <a:endParaRPr lang="en-US" sz="1400" dirty="0"/>
          </a:p>
        </p:txBody>
      </p:sp>
      <p:sp>
        <p:nvSpPr>
          <p:cNvPr id="11" name="Shape 9"/>
          <p:cNvSpPr/>
          <p:nvPr/>
        </p:nvSpPr>
        <p:spPr>
          <a:xfrm>
            <a:off x="548640" y="4114800"/>
            <a:ext cx="347472" cy="347472"/>
          </a:xfrm>
          <a:prstGeom prst="ellipse">
            <a:avLst/>
          </a:prstGeom>
          <a:solidFill>
            <a:srgbClr val="E8A33D"/>
          </a:solidFill>
          <a:ln w="12700">
            <a:solidFill>
              <a:srgbClr val="E8A33D"/>
            </a:solidFill>
            <a:prstDash val="solid"/>
          </a:ln>
        </p:spPr>
        <p:txBody>
          <a:bodyPr/>
          <a:lstStyle/>
          <a:p>
            <a:endParaRPr lang="en-TR"/>
          </a:p>
        </p:txBody>
      </p:sp>
      <p:sp>
        <p:nvSpPr>
          <p:cNvPr id="12" name="Text 10"/>
          <p:cNvSpPr txBox="1"/>
          <p:nvPr/>
        </p:nvSpPr>
        <p:spPr>
          <a:xfrm>
            <a:off x="548640" y="41148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051560" y="4078224"/>
            <a:ext cx="1828800" cy="365760"/>
          </a:xfrm>
          <a:prstGeom prst="rect">
            <a:avLst/>
          </a:prstGeom>
          <a:noFill/>
          <a:ln/>
        </p:spPr>
        <p:txBody>
          <a:bodyPr wrap="square" lIns="0" tIns="0" rIns="0" bIns="0" rtlCol="0" anchor="ctr"/>
          <a:lstStyle/>
          <a:p>
            <a:pPr marL="0" indent="0">
              <a:buNone/>
            </a:pPr>
            <a:r>
              <a:rPr lang="en-US" sz="1800" b="1" dirty="0">
                <a:solidFill>
                  <a:srgbClr val="E8A33D"/>
                </a:solidFill>
                <a:latin typeface="Cambria" pitchFamily="34" charset="0"/>
                <a:ea typeface="Cambria" pitchFamily="34" charset="-122"/>
                <a:cs typeface="Cambria" pitchFamily="34" charset="-120"/>
              </a:rPr>
              <a:t>Report</a:t>
            </a:r>
            <a:endParaRPr lang="en-US" sz="1800" dirty="0"/>
          </a:p>
        </p:txBody>
      </p:sp>
      <p:sp>
        <p:nvSpPr>
          <p:cNvPr id="14" name="Text 12"/>
          <p:cNvSpPr txBox="1"/>
          <p:nvPr/>
        </p:nvSpPr>
        <p:spPr>
          <a:xfrm>
            <a:off x="2926080" y="4114800"/>
            <a:ext cx="8686800" cy="365760"/>
          </a:xfrm>
          <a:prstGeom prst="rect">
            <a:avLst/>
          </a:prstGeom>
          <a:noFill/>
          <a:ln/>
        </p:spPr>
        <p:txBody>
          <a:bodyPr wrap="square" lIns="0" tIns="0" rIns="0" bIns="0" rtlCol="0" anchor="ctr"/>
          <a:lstStyle/>
          <a:p>
            <a:pPr marL="0" indent="0">
              <a:buNone/>
            </a:pPr>
            <a:r>
              <a:rPr lang="en-US" sz="1400" dirty="0">
                <a:solidFill>
                  <a:srgbClr val="C9D1DB"/>
                </a:solidFill>
                <a:latin typeface="Calibri" pitchFamily="34" charset="0"/>
                <a:ea typeface="Calibri" pitchFamily="34" charset="-122"/>
                <a:cs typeface="Calibri" pitchFamily="34" charset="-120"/>
              </a:rPr>
              <a:t>Funnel overview → filter to web leads → Dealer page → DQ monitor</a:t>
            </a:r>
            <a:endParaRPr lang="en-US" sz="1400" dirty="0"/>
          </a:p>
        </p:txBody>
      </p:sp>
      <p:sp>
        <p:nvSpPr>
          <p:cNvPr id="15" name="Shape 13"/>
          <p:cNvSpPr/>
          <p:nvPr/>
        </p:nvSpPr>
        <p:spPr>
          <a:xfrm>
            <a:off x="548640" y="4892040"/>
            <a:ext cx="347472" cy="347472"/>
          </a:xfrm>
          <a:prstGeom prst="ellipse">
            <a:avLst/>
          </a:prstGeom>
          <a:solidFill>
            <a:srgbClr val="E8A33D"/>
          </a:solidFill>
          <a:ln w="12700">
            <a:solidFill>
              <a:srgbClr val="E8A33D"/>
            </a:solidFill>
            <a:prstDash val="solid"/>
          </a:ln>
        </p:spPr>
        <p:txBody>
          <a:bodyPr/>
          <a:lstStyle/>
          <a:p>
            <a:endParaRPr lang="en-TR"/>
          </a:p>
        </p:txBody>
      </p:sp>
      <p:sp>
        <p:nvSpPr>
          <p:cNvPr id="16" name="Text 14"/>
          <p:cNvSpPr txBox="1"/>
          <p:nvPr/>
        </p:nvSpPr>
        <p:spPr>
          <a:xfrm>
            <a:off x="548640" y="489204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051560" y="4855464"/>
            <a:ext cx="1828800" cy="365760"/>
          </a:xfrm>
          <a:prstGeom prst="rect">
            <a:avLst/>
          </a:prstGeom>
          <a:noFill/>
          <a:ln/>
        </p:spPr>
        <p:txBody>
          <a:bodyPr wrap="square" lIns="0" tIns="0" rIns="0" bIns="0" rtlCol="0" anchor="ctr"/>
          <a:lstStyle/>
          <a:p>
            <a:pPr marL="0" indent="0">
              <a:buNone/>
            </a:pPr>
            <a:r>
              <a:rPr lang="en-US" sz="1800" b="1" dirty="0">
                <a:solidFill>
                  <a:srgbClr val="E8A33D"/>
                </a:solidFill>
                <a:latin typeface="Cambria" pitchFamily="34" charset="0"/>
                <a:ea typeface="Cambria" pitchFamily="34" charset="-122"/>
                <a:cs typeface="Cambria" pitchFamily="34" charset="-120"/>
              </a:rPr>
              <a:t>Assistant</a:t>
            </a:r>
            <a:endParaRPr lang="en-US" sz="1800" dirty="0"/>
          </a:p>
        </p:txBody>
      </p:sp>
      <p:sp>
        <p:nvSpPr>
          <p:cNvPr id="18" name="Text 16"/>
          <p:cNvSpPr txBox="1"/>
          <p:nvPr/>
        </p:nvSpPr>
        <p:spPr>
          <a:xfrm>
            <a:off x="2926080" y="4892040"/>
            <a:ext cx="8686800" cy="365760"/>
          </a:xfrm>
          <a:prstGeom prst="rect">
            <a:avLst/>
          </a:prstGeom>
          <a:noFill/>
          <a:ln/>
        </p:spPr>
        <p:txBody>
          <a:bodyPr wrap="square" lIns="0" tIns="0" rIns="0" bIns="0" rtlCol="0" anchor="ctr"/>
          <a:lstStyle/>
          <a:p>
            <a:pPr marL="0" indent="0">
              <a:buNone/>
            </a:pPr>
            <a:r>
              <a:rPr lang="en-US" sz="1400" dirty="0">
                <a:solidFill>
                  <a:srgbClr val="C9D1DB"/>
                </a:solidFill>
                <a:latin typeface="Calibri" pitchFamily="34" charset="0"/>
                <a:ea typeface="Calibri" pitchFamily="34" charset="-122"/>
                <a:cs typeface="Calibri" pitchFamily="34" charset="-120"/>
              </a:rPr>
              <a:t>ranked open leads → one lead → reasons → next best action + draft message</a:t>
            </a:r>
            <a:endParaRPr lang="en-US" sz="1400" dirty="0"/>
          </a:p>
        </p:txBody>
      </p:sp>
      <p:sp>
        <p:nvSpPr>
          <p:cNvPr id="19" name="Text 17"/>
          <p:cNvSpPr txBox="1"/>
          <p:nvPr/>
        </p:nvSpPr>
        <p:spPr>
          <a:xfrm>
            <a:off x="548640" y="5852160"/>
            <a:ext cx="10058400" cy="365760"/>
          </a:xfrm>
          <a:prstGeom prst="rect">
            <a:avLst/>
          </a:prstGeom>
          <a:noFill/>
          <a:ln/>
        </p:spPr>
        <p:txBody>
          <a:bodyPr wrap="square" lIns="0" tIns="0" rIns="0" bIns="0" rtlCol="0" anchor="ctr"/>
          <a:lstStyle/>
          <a:p>
            <a:pPr marL="0" indent="0">
              <a:buNone/>
            </a:pPr>
            <a:r>
              <a:rPr lang="en-US" sz="1100" i="1" dirty="0">
                <a:solidFill>
                  <a:srgbClr val="8A94A6"/>
                </a:solidFill>
                <a:latin typeface="Calibri" pitchFamily="34" charset="0"/>
                <a:ea typeface="Calibri" pitchFamily="34" charset="-122"/>
                <a:cs typeface="Calibri" pitchFamily="34" charset="-120"/>
              </a:rPr>
              <a:t>Fallback order if something breaks: screenshots in this deck → local run (run_local.py + Streamlit)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1B1F24"/>
                </a:solidFill>
                <a:latin typeface="Cambria" pitchFamily="34" charset="0"/>
                <a:ea typeface="Cambria" pitchFamily="34" charset="-122"/>
                <a:cs typeface="Cambria" pitchFamily="34" charset="-120"/>
              </a:rPr>
              <a:t>AI product — Lead Intelligence Assistant</a:t>
            </a:r>
            <a:endParaRPr lang="en-US" sz="3200" dirty="0"/>
          </a:p>
        </p:txBody>
      </p:sp>
      <p:sp>
        <p:nvSpPr>
          <p:cNvPr id="3" name="Text 1"/>
          <p:cNvSpPr txBox="1"/>
          <p:nvPr/>
        </p:nvSpPr>
        <p:spPr>
          <a:xfrm>
            <a:off x="548640" y="1097280"/>
            <a:ext cx="11091672" cy="365760"/>
          </a:xfrm>
          <a:prstGeom prst="rect">
            <a:avLst/>
          </a:prstGeom>
          <a:noFill/>
          <a:ln/>
        </p:spPr>
        <p:txBody>
          <a:bodyPr wrap="square" lIns="0" tIns="0" rIns="0" bIns="0" rtlCol="0" anchor="ctr"/>
          <a:lstStyle/>
          <a:p>
            <a:pPr marL="0" indent="0">
              <a:buNone/>
            </a:pPr>
            <a:r>
              <a:rPr lang="en-US" sz="1400" dirty="0">
                <a:solidFill>
                  <a:srgbClr val="5B6573"/>
                </a:solidFill>
                <a:latin typeface="Calibri" pitchFamily="34" charset="0"/>
                <a:ea typeface="Calibri" pitchFamily="34" charset="-122"/>
                <a:cs typeface="Calibri" pitchFamily="34" charset="-120"/>
              </a:rPr>
              <a:t>Which of my 60 open leads should I call first, why, and what should I say?</a:t>
            </a:r>
            <a:endParaRPr lang="en-US" sz="1400" dirty="0"/>
          </a:p>
        </p:txBody>
      </p:sp>
      <p:sp>
        <p:nvSpPr>
          <p:cNvPr id="4" name="Shape 2"/>
          <p:cNvSpPr/>
          <p:nvPr/>
        </p:nvSpPr>
        <p:spPr>
          <a:xfrm>
            <a:off x="548640" y="1691640"/>
            <a:ext cx="2743200" cy="2057400"/>
          </a:xfrm>
          <a:prstGeom prst="roundRect">
            <a:avLst>
              <a:gd name="adj" fmla="val 3556"/>
            </a:avLst>
          </a:prstGeom>
          <a:solidFill>
            <a:srgbClr val="EEF1F4"/>
          </a:solidFill>
          <a:ln w="12700">
            <a:solidFill>
              <a:srgbClr val="EEF1F4"/>
            </a:solidFill>
            <a:prstDash val="solid"/>
          </a:ln>
        </p:spPr>
        <p:txBody>
          <a:bodyPr/>
          <a:lstStyle/>
          <a:p>
            <a:endParaRPr lang="en-TR"/>
          </a:p>
        </p:txBody>
      </p:sp>
      <p:sp>
        <p:nvSpPr>
          <p:cNvPr id="5" name="Text 3"/>
          <p:cNvSpPr txBox="1"/>
          <p:nvPr/>
        </p:nvSpPr>
        <p:spPr>
          <a:xfrm>
            <a:off x="731520" y="1828800"/>
            <a:ext cx="2377440" cy="365760"/>
          </a:xfrm>
          <a:prstGeom prst="rect">
            <a:avLst/>
          </a:prstGeom>
          <a:noFill/>
          <a:ln/>
        </p:spPr>
        <p:txBody>
          <a:bodyPr wrap="square" lIns="0" tIns="0" rIns="0" bIns="0" rtlCol="0" anchor="ctr"/>
          <a:lstStyle/>
          <a:p>
            <a:pPr marL="0" indent="0">
              <a:buNone/>
            </a:pPr>
            <a:r>
              <a:rPr lang="en-US" sz="1300" b="1" dirty="0">
                <a:solidFill>
                  <a:srgbClr val="1B1F24"/>
                </a:solidFill>
                <a:latin typeface="Cambria" pitchFamily="34" charset="0"/>
                <a:ea typeface="Cambria" pitchFamily="34" charset="-122"/>
                <a:cs typeface="Cambria" pitchFamily="34" charset="-120"/>
              </a:rPr>
              <a:t>What it does</a:t>
            </a:r>
            <a:endParaRPr lang="en-US" sz="1300" dirty="0"/>
          </a:p>
        </p:txBody>
      </p:sp>
      <p:sp>
        <p:nvSpPr>
          <p:cNvPr id="6" name="Text 4"/>
          <p:cNvSpPr txBox="1"/>
          <p:nvPr/>
        </p:nvSpPr>
        <p:spPr>
          <a:xfrm>
            <a:off x="731520" y="2240280"/>
            <a:ext cx="2377440" cy="1371600"/>
          </a:xfrm>
          <a:prstGeom prst="rect">
            <a:avLst/>
          </a:prstGeom>
          <a:noFill/>
          <a:ln/>
        </p:spPr>
        <p:txBody>
          <a:bodyPr wrap="square" lIns="0" tIns="0" rIns="0" bIns="0" rtlCol="0" anchor="t"/>
          <a:lstStyle/>
          <a:p>
            <a:pPr marL="0" indent="0">
              <a:spcAft>
                <a:spcPts val="400"/>
              </a:spcAft>
              <a:buNone/>
            </a:pPr>
            <a:r>
              <a:rPr lang="en-US" sz="1050" dirty="0">
                <a:solidFill>
                  <a:srgbClr val="2E3540"/>
                </a:solidFill>
                <a:latin typeface="Calibri" pitchFamily="34" charset="0"/>
                <a:ea typeface="Calibri" pitchFamily="34" charset="-122"/>
                <a:cs typeface="Calibri" pitchFamily="34" charset="-120"/>
              </a:rPr>
              <a:t>Scores every open lead with a conversion probability, shows the three factors behind the score, drafts the next action and a WhatsApp message to the customer. Filters by dealer and advisor.</a:t>
            </a:r>
            <a:endParaRPr lang="en-US" sz="1050" dirty="0"/>
          </a:p>
        </p:txBody>
      </p:sp>
      <p:sp>
        <p:nvSpPr>
          <p:cNvPr id="7" name="Shape 5"/>
          <p:cNvSpPr/>
          <p:nvPr/>
        </p:nvSpPr>
        <p:spPr>
          <a:xfrm>
            <a:off x="3429000" y="1691640"/>
            <a:ext cx="2743200" cy="2057400"/>
          </a:xfrm>
          <a:prstGeom prst="roundRect">
            <a:avLst>
              <a:gd name="adj" fmla="val 3556"/>
            </a:avLst>
          </a:prstGeom>
          <a:solidFill>
            <a:srgbClr val="EEF1F4"/>
          </a:solidFill>
          <a:ln w="12700">
            <a:solidFill>
              <a:srgbClr val="EEF1F4"/>
            </a:solidFill>
            <a:prstDash val="solid"/>
          </a:ln>
        </p:spPr>
        <p:txBody>
          <a:bodyPr/>
          <a:lstStyle/>
          <a:p>
            <a:endParaRPr lang="en-TR"/>
          </a:p>
        </p:txBody>
      </p:sp>
      <p:sp>
        <p:nvSpPr>
          <p:cNvPr id="8" name="Text 6"/>
          <p:cNvSpPr txBox="1"/>
          <p:nvPr/>
        </p:nvSpPr>
        <p:spPr>
          <a:xfrm>
            <a:off x="3611880" y="1828800"/>
            <a:ext cx="2377440" cy="365760"/>
          </a:xfrm>
          <a:prstGeom prst="rect">
            <a:avLst/>
          </a:prstGeom>
          <a:noFill/>
          <a:ln/>
        </p:spPr>
        <p:txBody>
          <a:bodyPr wrap="square" lIns="0" tIns="0" rIns="0" bIns="0" rtlCol="0" anchor="ctr"/>
          <a:lstStyle/>
          <a:p>
            <a:pPr marL="0" indent="0">
              <a:buNone/>
            </a:pPr>
            <a:r>
              <a:rPr lang="en-US" sz="1300" b="1" dirty="0">
                <a:solidFill>
                  <a:srgbClr val="1B1F24"/>
                </a:solidFill>
                <a:latin typeface="Cambria" pitchFamily="34" charset="0"/>
                <a:ea typeface="Cambria" pitchFamily="34" charset="-122"/>
                <a:cs typeface="Cambria" pitchFamily="34" charset="-120"/>
              </a:rPr>
              <a:t>Rules at scale, LLM last mile</a:t>
            </a:r>
            <a:endParaRPr lang="en-US" sz="1300" dirty="0"/>
          </a:p>
        </p:txBody>
      </p:sp>
      <p:sp>
        <p:nvSpPr>
          <p:cNvPr id="9" name="Text 7"/>
          <p:cNvSpPr txBox="1"/>
          <p:nvPr/>
        </p:nvSpPr>
        <p:spPr>
          <a:xfrm>
            <a:off x="3611880" y="2240280"/>
            <a:ext cx="2377440" cy="1371600"/>
          </a:xfrm>
          <a:prstGeom prst="rect">
            <a:avLst/>
          </a:prstGeom>
          <a:noFill/>
          <a:ln/>
        </p:spPr>
        <p:txBody>
          <a:bodyPr wrap="square" lIns="0" tIns="0" rIns="0" bIns="0" rtlCol="0" anchor="t"/>
          <a:lstStyle/>
          <a:p>
            <a:pPr marL="0" indent="0">
              <a:spcAft>
                <a:spcPts val="400"/>
              </a:spcAft>
              <a:buNone/>
            </a:pPr>
            <a:r>
              <a:rPr lang="en-US" sz="1050" dirty="0"/>
              <a:t>Advisor notes are converted into structured signals such as price objection, went quiet and buying intent using keyword rules across all leads. For an individual lead, an optional LLM can generate a summary or message on demand. Without an API key, the app uses a template fallback, so the demo does not depend on an external service.</a:t>
            </a:r>
          </a:p>
        </p:txBody>
      </p:sp>
      <p:sp>
        <p:nvSpPr>
          <p:cNvPr id="10" name="Shape 8"/>
          <p:cNvSpPr/>
          <p:nvPr/>
        </p:nvSpPr>
        <p:spPr>
          <a:xfrm>
            <a:off x="548640" y="3886200"/>
            <a:ext cx="5623560" cy="2194560"/>
          </a:xfrm>
          <a:prstGeom prst="roundRect">
            <a:avLst>
              <a:gd name="adj" fmla="val 3333"/>
            </a:avLst>
          </a:prstGeom>
          <a:solidFill>
            <a:srgbClr val="EEF1F4"/>
          </a:solidFill>
          <a:ln w="12700">
            <a:solidFill>
              <a:srgbClr val="EEF1F4"/>
            </a:solidFill>
            <a:prstDash val="solid"/>
          </a:ln>
        </p:spPr>
        <p:txBody>
          <a:bodyPr/>
          <a:lstStyle/>
          <a:p>
            <a:endParaRPr lang="en-TR"/>
          </a:p>
        </p:txBody>
      </p:sp>
      <p:sp>
        <p:nvSpPr>
          <p:cNvPr id="11" name="Text 9"/>
          <p:cNvSpPr txBox="1"/>
          <p:nvPr/>
        </p:nvSpPr>
        <p:spPr>
          <a:xfrm>
            <a:off x="731520" y="4023360"/>
            <a:ext cx="5257800" cy="365760"/>
          </a:xfrm>
          <a:prstGeom prst="rect">
            <a:avLst/>
          </a:prstGeom>
          <a:noFill/>
          <a:ln/>
        </p:spPr>
        <p:txBody>
          <a:bodyPr wrap="square" lIns="0" tIns="0" rIns="0" bIns="0" rtlCol="0" anchor="ctr"/>
          <a:lstStyle/>
          <a:p>
            <a:pPr marL="0" indent="0">
              <a:buNone/>
            </a:pPr>
            <a:r>
              <a:rPr lang="en-US" sz="1300" b="1" dirty="0">
                <a:solidFill>
                  <a:srgbClr val="1B1F24"/>
                </a:solidFill>
                <a:latin typeface="Cambria" pitchFamily="34" charset="0"/>
                <a:ea typeface="Cambria" pitchFamily="34" charset="-122"/>
                <a:cs typeface="Cambria" pitchFamily="34" charset="-120"/>
              </a:rPr>
              <a:t>Why it belongs on this platform</a:t>
            </a:r>
            <a:endParaRPr lang="en-US" sz="1300" dirty="0"/>
          </a:p>
        </p:txBody>
      </p:sp>
      <p:sp>
        <p:nvSpPr>
          <p:cNvPr id="12" name="Text 10"/>
          <p:cNvSpPr txBox="1"/>
          <p:nvPr/>
        </p:nvSpPr>
        <p:spPr>
          <a:xfrm>
            <a:off x="320040" y="4431792"/>
            <a:ext cx="5257800" cy="1508760"/>
          </a:xfrm>
          <a:prstGeom prst="rect">
            <a:avLst/>
          </a:prstGeom>
          <a:noFill/>
          <a:ln/>
        </p:spPr>
        <p:txBody>
          <a:bodyPr wrap="square" lIns="0" tIns="0" rIns="0" bIns="0" rtlCol="0" anchor="t"/>
          <a:lstStyle/>
          <a:p>
            <a:pPr lvl="1">
              <a:spcAft>
                <a:spcPts val="400"/>
              </a:spcAft>
            </a:pPr>
            <a:r>
              <a:rPr lang="en-US" sz="1050" dirty="0">
                <a:solidFill>
                  <a:srgbClr val="2E3540"/>
                </a:solidFill>
                <a:latin typeface="Calibri" pitchFamily="34" charset="0"/>
                <a:cs typeface="Calibri" pitchFamily="34" charset="-120"/>
              </a:rPr>
              <a:t>The assistant consumes only curated Gold data — </a:t>
            </a:r>
            <a:r>
              <a:rPr lang="en-US" sz="1050" dirty="0" err="1">
                <a:solidFill>
                  <a:srgbClr val="2E3540"/>
                </a:solidFill>
                <a:latin typeface="Calibri" pitchFamily="34" charset="0"/>
                <a:cs typeface="Calibri" pitchFamily="34" charset="-120"/>
              </a:rPr>
              <a:t>gold.fact_leads</a:t>
            </a:r>
            <a:r>
              <a:rPr lang="en-US" sz="1050" dirty="0">
                <a:solidFill>
                  <a:srgbClr val="2E3540"/>
                </a:solidFill>
                <a:latin typeface="Calibri" pitchFamily="34" charset="0"/>
                <a:cs typeface="Calibri" pitchFamily="34" charset="-120"/>
              </a:rPr>
              <a:t>, </a:t>
            </a:r>
            <a:r>
              <a:rPr lang="en-US" sz="1050" dirty="0" err="1">
                <a:solidFill>
                  <a:srgbClr val="2E3540"/>
                </a:solidFill>
                <a:latin typeface="Calibri" pitchFamily="34" charset="0"/>
                <a:cs typeface="Calibri" pitchFamily="34" charset="-120"/>
              </a:rPr>
              <a:t>fact_interactions</a:t>
            </a:r>
            <a:r>
              <a:rPr lang="en-US" sz="1050" dirty="0">
                <a:solidFill>
                  <a:srgbClr val="2E3540"/>
                </a:solidFill>
                <a:latin typeface="Calibri" pitchFamily="34" charset="0"/>
                <a:cs typeface="Calibri" pitchFamily="34" charset="-120"/>
              </a:rPr>
              <a:t>, </a:t>
            </a:r>
            <a:r>
              <a:rPr lang="en-US" sz="1050" dirty="0" err="1">
                <a:solidFill>
                  <a:srgbClr val="2E3540"/>
                </a:solidFill>
                <a:latin typeface="Calibri" pitchFamily="34" charset="0"/>
                <a:cs typeface="Calibri" pitchFamily="34" charset="-120"/>
              </a:rPr>
              <a:t>fact_offers</a:t>
            </a:r>
            <a:r>
              <a:rPr lang="en-US" sz="1050" dirty="0">
                <a:solidFill>
                  <a:srgbClr val="2E3540"/>
                </a:solidFill>
                <a:latin typeface="Calibri" pitchFamily="34" charset="0"/>
                <a:cs typeface="Calibri" pitchFamily="34" charset="-120"/>
              </a:rPr>
              <a:t> and </a:t>
            </a:r>
            <a:r>
              <a:rPr lang="en-US" sz="1050" dirty="0" err="1">
                <a:solidFill>
                  <a:srgbClr val="2E3540"/>
                </a:solidFill>
                <a:latin typeface="Calibri" pitchFamily="34" charset="0"/>
                <a:cs typeface="Calibri" pitchFamily="34" charset="-120"/>
              </a:rPr>
              <a:t>fact_test_drives</a:t>
            </a:r>
            <a:r>
              <a:rPr lang="en-US" sz="1050" dirty="0">
                <a:solidFill>
                  <a:srgbClr val="2E3540"/>
                </a:solidFill>
                <a:latin typeface="Calibri" pitchFamily="34" charset="0"/>
                <a:cs typeface="Calibri" pitchFamily="34" charset="-120"/>
              </a:rPr>
              <a:t>. Lead scores are written back to </a:t>
            </a:r>
            <a:r>
              <a:rPr lang="en-US" sz="1050" dirty="0" err="1">
                <a:solidFill>
                  <a:srgbClr val="2E3540"/>
                </a:solidFill>
                <a:latin typeface="Calibri" pitchFamily="34" charset="0"/>
                <a:cs typeface="Calibri" pitchFamily="34" charset="-120"/>
              </a:rPr>
              <a:t>gold.lead_scores</a:t>
            </a:r>
            <a:r>
              <a:rPr lang="en-US" sz="1050" dirty="0">
                <a:solidFill>
                  <a:srgbClr val="2E3540"/>
                </a:solidFill>
                <a:latin typeface="Calibri" pitchFamily="34" charset="0"/>
                <a:cs typeface="Calibri" pitchFamily="34" charset="-120"/>
              </a:rPr>
              <a:t>, keeping the model output in the same data layer and making it available for future inclusion in the Power BI semantic model. Model training currently runs separately from the Bronze → Silver → Gold pipeline; the next step is to add the trainer as a fourth orchestration step. This makes the AI product a direct consumer of the Medallion platform rather than a disconnected demo.</a:t>
            </a:r>
          </a:p>
        </p:txBody>
      </p:sp>
      <p:sp>
        <p:nvSpPr>
          <p:cNvPr id="13" name="Shape 11"/>
          <p:cNvSpPr/>
          <p:nvPr/>
        </p:nvSpPr>
        <p:spPr>
          <a:xfrm>
            <a:off x="6400800" y="1691640"/>
            <a:ext cx="5212080" cy="2148840"/>
          </a:xfrm>
          <a:prstGeom prst="roundRect">
            <a:avLst>
              <a:gd name="adj" fmla="val 3404"/>
            </a:avLst>
          </a:prstGeom>
          <a:solidFill>
            <a:srgbClr val="EEF1F4"/>
          </a:solidFill>
          <a:ln w="19050">
            <a:solidFill>
              <a:srgbClr val="E8A33D"/>
            </a:solidFill>
            <a:prstDash val="dash"/>
          </a:ln>
        </p:spPr>
        <p:txBody>
          <a:bodyPr/>
          <a:lstStyle/>
          <a:p>
            <a:endParaRPr lang="en-TR"/>
          </a:p>
        </p:txBody>
      </p:sp>
      <p:sp>
        <p:nvSpPr>
          <p:cNvPr id="15" name="Shape 13"/>
          <p:cNvSpPr/>
          <p:nvPr/>
        </p:nvSpPr>
        <p:spPr>
          <a:xfrm>
            <a:off x="6400800" y="3931920"/>
            <a:ext cx="5212080" cy="2148840"/>
          </a:xfrm>
          <a:prstGeom prst="roundRect">
            <a:avLst>
              <a:gd name="adj" fmla="val 3404"/>
            </a:avLst>
          </a:prstGeom>
          <a:solidFill>
            <a:srgbClr val="EEF1F4"/>
          </a:solidFill>
          <a:ln w="19050">
            <a:solidFill>
              <a:srgbClr val="E8A33D"/>
            </a:solidFill>
            <a:prstDash val="dash"/>
          </a:ln>
        </p:spPr>
        <p:txBody>
          <a:bodyPr/>
          <a:lstStyle/>
          <a:p>
            <a:endParaRPr lang="en-TR"/>
          </a:p>
        </p:txBody>
      </p:sp>
      <p:pic>
        <p:nvPicPr>
          <p:cNvPr id="16" name="Picture 15" descr="A screenshot of a computer&#10;&#10;AI-generated content may be incorrect.">
            <a:extLst>
              <a:ext uri="{FF2B5EF4-FFF2-40B4-BE49-F238E27FC236}">
                <a16:creationId xmlns:a16="http://schemas.microsoft.com/office/drawing/2014/main" id="{7ABB8946-F836-98E7-BD02-90198F3223F7}"/>
              </a:ext>
            </a:extLst>
          </p:cNvPr>
          <p:cNvPicPr>
            <a:picLocks noChangeAspect="1"/>
          </p:cNvPicPr>
          <p:nvPr/>
        </p:nvPicPr>
        <p:blipFill>
          <a:blip r:embed="rId3"/>
          <a:stretch>
            <a:fillRect/>
          </a:stretch>
        </p:blipFill>
        <p:spPr>
          <a:xfrm>
            <a:off x="6457071" y="3931920"/>
            <a:ext cx="5099538" cy="2025641"/>
          </a:xfrm>
          <a:prstGeom prst="rect">
            <a:avLst/>
          </a:prstGeom>
        </p:spPr>
      </p:pic>
      <p:pic>
        <p:nvPicPr>
          <p:cNvPr id="23" name="Picture 22" descr="A screenshot of a computer&#10;&#10;AI-generated content may be incorrect.">
            <a:extLst>
              <a:ext uri="{FF2B5EF4-FFF2-40B4-BE49-F238E27FC236}">
                <a16:creationId xmlns:a16="http://schemas.microsoft.com/office/drawing/2014/main" id="{EEEED9AC-4E3A-778E-B69E-0FBBCFCD8F63}"/>
              </a:ext>
            </a:extLst>
          </p:cNvPr>
          <p:cNvPicPr>
            <a:picLocks noChangeAspect="1"/>
          </p:cNvPicPr>
          <p:nvPr/>
        </p:nvPicPr>
        <p:blipFill>
          <a:blip r:embed="rId4"/>
          <a:stretch>
            <a:fillRect/>
          </a:stretch>
        </p:blipFill>
        <p:spPr>
          <a:xfrm>
            <a:off x="6457072" y="1756365"/>
            <a:ext cx="5081954" cy="205235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1B1F24"/>
                </a:solidFill>
                <a:latin typeface="Cambria" pitchFamily="34" charset="0"/>
                <a:ea typeface="Cambria" pitchFamily="34" charset="-122"/>
                <a:cs typeface="Cambria" pitchFamily="34" charset="-120"/>
              </a:rPr>
              <a:t>The model — and how I avoided fooling myself</a:t>
            </a:r>
            <a:endParaRPr lang="en-US" sz="3200" dirty="0"/>
          </a:p>
        </p:txBody>
      </p:sp>
      <p:sp>
        <p:nvSpPr>
          <p:cNvPr id="3" name="Text 1"/>
          <p:cNvSpPr txBox="1"/>
          <p:nvPr/>
        </p:nvSpPr>
        <p:spPr>
          <a:xfrm>
            <a:off x="548640" y="1097280"/>
            <a:ext cx="11091672" cy="365760"/>
          </a:xfrm>
          <a:prstGeom prst="rect">
            <a:avLst/>
          </a:prstGeom>
          <a:noFill/>
          <a:ln/>
        </p:spPr>
        <p:txBody>
          <a:bodyPr wrap="square" lIns="0" tIns="0" rIns="0" bIns="0" rtlCol="0" anchor="ctr"/>
          <a:lstStyle/>
          <a:p>
            <a:pPr marL="0" indent="0">
              <a:buNone/>
            </a:pPr>
            <a:r>
              <a:rPr lang="en-US" sz="1400" dirty="0">
                <a:solidFill>
                  <a:srgbClr val="5B6573"/>
                </a:solidFill>
                <a:latin typeface="Calibri" pitchFamily="34" charset="0"/>
                <a:ea typeface="Calibri" pitchFamily="34" charset="-122"/>
                <a:cs typeface="Calibri" pitchFamily="34" charset="-120"/>
              </a:rPr>
              <a:t>Point-in-time snapshots, outcome notes removed, temporal validation</a:t>
            </a:r>
            <a:endParaRPr lang="en-US" sz="1400" dirty="0"/>
          </a:p>
        </p:txBody>
      </p:sp>
      <p:sp>
        <p:nvSpPr>
          <p:cNvPr id="4" name="Text 2"/>
          <p:cNvSpPr txBox="1"/>
          <p:nvPr/>
        </p:nvSpPr>
        <p:spPr>
          <a:xfrm>
            <a:off x="548640" y="1691640"/>
            <a:ext cx="4754880" cy="21945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2E3540"/>
                </a:solidFill>
                <a:latin typeface="Calibri" pitchFamily="34" charset="0"/>
                <a:ea typeface="Calibri" pitchFamily="34" charset="-122"/>
                <a:cs typeface="Calibri" pitchFamily="34" charset="-120"/>
              </a:rPr>
              <a:t>A closed lead's final state is not a training example — 'has offer = won' is the answer written on the exam</a:t>
            </a:r>
            <a:endParaRPr lang="en-US" sz="1150" dirty="0"/>
          </a:p>
          <a:p>
            <a:pPr marL="342900" indent="-342900">
              <a:spcAft>
                <a:spcPts val="600"/>
              </a:spcAft>
              <a:buSzPct val="100000"/>
              <a:buChar char="•"/>
            </a:pPr>
            <a:r>
              <a:rPr lang="en-US" sz="1150" dirty="0">
                <a:solidFill>
                  <a:srgbClr val="2E3540"/>
                </a:solidFill>
                <a:latin typeface="Calibri" pitchFamily="34" charset="0"/>
                <a:ea typeface="Calibri" pitchFamily="34" charset="-122"/>
                <a:cs typeface="Calibri" pitchFamily="34" charset="-120"/>
              </a:rPr>
              <a:t>Each closed lead contributes two snapshots from random moments in its life; every feature is computed from events before that moment</a:t>
            </a:r>
            <a:endParaRPr lang="en-US" sz="1150" dirty="0"/>
          </a:p>
          <a:p>
            <a:pPr marL="342900" indent="-342900">
              <a:spcAft>
                <a:spcPts val="600"/>
              </a:spcAft>
              <a:buSzPct val="100000"/>
              <a:buChar char="•"/>
            </a:pPr>
            <a:r>
              <a:rPr lang="en-US" sz="1150" dirty="0">
                <a:solidFill>
                  <a:srgbClr val="2E3540"/>
                </a:solidFill>
                <a:latin typeface="Calibri" pitchFamily="34" charset="0"/>
                <a:ea typeface="Calibri" pitchFamily="34" charset="-122"/>
                <a:cs typeface="Calibri" pitchFamily="34" charset="-120"/>
              </a:rPr>
              <a:t>The interaction that records the outcome ('Sözleşme imzalandı') is removed entirely(target leakage)</a:t>
            </a:r>
            <a:endParaRPr lang="en-US" sz="1150" dirty="0"/>
          </a:p>
          <a:p>
            <a:pPr marL="342900" indent="-342900">
              <a:spcAft>
                <a:spcPts val="600"/>
              </a:spcAft>
              <a:buSzPct val="100000"/>
              <a:buChar char="•"/>
            </a:pPr>
            <a:r>
              <a:rPr lang="en-US" sz="1150" dirty="0">
                <a:solidFill>
                  <a:srgbClr val="2E3540"/>
                </a:solidFill>
                <a:latin typeface="Calibri" pitchFamily="34" charset="0"/>
                <a:ea typeface="Calibri" pitchFamily="34" charset="-122"/>
                <a:cs typeface="Calibri" pitchFamily="34" charset="-120"/>
              </a:rPr>
              <a:t>Train on leads created before 2026-03-01, test on later ones — the way the model is actually used</a:t>
            </a:r>
            <a:endParaRPr lang="en-US" sz="1150" dirty="0"/>
          </a:p>
        </p:txBody>
      </p:sp>
      <p:sp>
        <p:nvSpPr>
          <p:cNvPr id="5" name="Text 3"/>
          <p:cNvSpPr txBox="1"/>
          <p:nvPr/>
        </p:nvSpPr>
        <p:spPr>
          <a:xfrm>
            <a:off x="548640" y="4023360"/>
            <a:ext cx="1554480" cy="822960"/>
          </a:xfrm>
          <a:prstGeom prst="rect">
            <a:avLst/>
          </a:prstGeom>
          <a:noFill/>
          <a:ln/>
        </p:spPr>
        <p:txBody>
          <a:bodyPr wrap="square" lIns="0" tIns="0" rIns="0" bIns="0" rtlCol="0" anchor="ctr"/>
          <a:lstStyle/>
          <a:p>
            <a:pPr marL="0" indent="0">
              <a:buNone/>
            </a:pPr>
            <a:r>
              <a:rPr lang="en-US" sz="4000" b="1" dirty="0">
                <a:solidFill>
                  <a:srgbClr val="1B1F24"/>
                </a:solidFill>
                <a:latin typeface="Cambria" pitchFamily="34" charset="0"/>
                <a:ea typeface="Cambria" pitchFamily="34" charset="-122"/>
                <a:cs typeface="Cambria" pitchFamily="34" charset="-120"/>
              </a:rPr>
              <a:t>0.82</a:t>
            </a:r>
            <a:endParaRPr lang="en-US" sz="4000" dirty="0"/>
          </a:p>
        </p:txBody>
      </p:sp>
      <p:sp>
        <p:nvSpPr>
          <p:cNvPr id="6" name="Text 4"/>
          <p:cNvSpPr txBox="1"/>
          <p:nvPr/>
        </p:nvSpPr>
        <p:spPr>
          <a:xfrm>
            <a:off x="548640" y="4846320"/>
            <a:ext cx="1554480" cy="457200"/>
          </a:xfrm>
          <a:prstGeom prst="rect">
            <a:avLst/>
          </a:prstGeom>
          <a:noFill/>
          <a:ln/>
        </p:spPr>
        <p:txBody>
          <a:bodyPr wrap="square" lIns="0" tIns="0" rIns="0" bIns="0" rtlCol="0" anchor="ctr"/>
          <a:lstStyle/>
          <a:p>
            <a:pPr marL="0" indent="0">
              <a:buNone/>
            </a:pPr>
            <a:r>
              <a:rPr lang="en-US" sz="1150" dirty="0">
                <a:solidFill>
                  <a:srgbClr val="5B6573"/>
                </a:solidFill>
                <a:latin typeface="Calibri" pitchFamily="34" charset="0"/>
                <a:ea typeface="Calibri" pitchFamily="34" charset="-122"/>
                <a:cs typeface="Calibri" pitchFamily="34" charset="-120"/>
              </a:rPr>
              <a:t>AUC, all test snapshots</a:t>
            </a:r>
            <a:endParaRPr lang="en-US" sz="1150" dirty="0"/>
          </a:p>
        </p:txBody>
      </p:sp>
      <p:sp>
        <p:nvSpPr>
          <p:cNvPr id="7" name="Text 5"/>
          <p:cNvSpPr txBox="1"/>
          <p:nvPr/>
        </p:nvSpPr>
        <p:spPr>
          <a:xfrm>
            <a:off x="2194560" y="4023360"/>
            <a:ext cx="1554480" cy="822960"/>
          </a:xfrm>
          <a:prstGeom prst="rect">
            <a:avLst/>
          </a:prstGeom>
          <a:noFill/>
          <a:ln/>
        </p:spPr>
        <p:txBody>
          <a:bodyPr wrap="square" lIns="0" tIns="0" rIns="0" bIns="0" rtlCol="0" anchor="ctr"/>
          <a:lstStyle/>
          <a:p>
            <a:pPr marL="0" indent="0">
              <a:buNone/>
            </a:pPr>
            <a:r>
              <a:rPr lang="en-US" sz="4000" b="1" dirty="0">
                <a:solidFill>
                  <a:srgbClr val="2E8B57"/>
                </a:solidFill>
                <a:latin typeface="Cambria" pitchFamily="34" charset="0"/>
                <a:ea typeface="Cambria" pitchFamily="34" charset="-122"/>
                <a:cs typeface="Cambria" pitchFamily="34" charset="-120"/>
              </a:rPr>
              <a:t>0.84</a:t>
            </a:r>
            <a:endParaRPr lang="en-US" sz="4000" dirty="0"/>
          </a:p>
        </p:txBody>
      </p:sp>
      <p:sp>
        <p:nvSpPr>
          <p:cNvPr id="8" name="Text 6"/>
          <p:cNvSpPr txBox="1"/>
          <p:nvPr/>
        </p:nvSpPr>
        <p:spPr>
          <a:xfrm>
            <a:off x="2194560" y="4846320"/>
            <a:ext cx="1554480" cy="457200"/>
          </a:xfrm>
          <a:prstGeom prst="rect">
            <a:avLst/>
          </a:prstGeom>
          <a:noFill/>
          <a:ln/>
        </p:spPr>
        <p:txBody>
          <a:bodyPr wrap="square" lIns="0" tIns="0" rIns="0" bIns="0" rtlCol="0" anchor="ctr"/>
          <a:lstStyle/>
          <a:p>
            <a:pPr marL="0" indent="0">
              <a:buNone/>
            </a:pPr>
            <a:r>
              <a:rPr lang="en-US" sz="1150" dirty="0">
                <a:solidFill>
                  <a:srgbClr val="5B6573"/>
                </a:solidFill>
                <a:latin typeface="Calibri" pitchFamily="34" charset="0"/>
                <a:ea typeface="Calibri" pitchFamily="34" charset="-122"/>
                <a:cs typeface="Calibri" pitchFamily="34" charset="-120"/>
              </a:rPr>
              <a:t>AUC before the offer stage</a:t>
            </a:r>
            <a:endParaRPr lang="en-US" sz="1150" dirty="0"/>
          </a:p>
        </p:txBody>
      </p:sp>
      <p:sp>
        <p:nvSpPr>
          <p:cNvPr id="9" name="Text 7"/>
          <p:cNvSpPr txBox="1"/>
          <p:nvPr/>
        </p:nvSpPr>
        <p:spPr>
          <a:xfrm>
            <a:off x="3840480" y="4023360"/>
            <a:ext cx="1645920" cy="822960"/>
          </a:xfrm>
          <a:prstGeom prst="rect">
            <a:avLst/>
          </a:prstGeom>
          <a:noFill/>
          <a:ln/>
        </p:spPr>
        <p:txBody>
          <a:bodyPr wrap="square" lIns="0" tIns="0" rIns="0" bIns="0" rtlCol="0" anchor="ctr"/>
          <a:lstStyle/>
          <a:p>
            <a:pPr marL="0" indent="0">
              <a:buNone/>
            </a:pPr>
            <a:r>
              <a:rPr lang="en-US" sz="4000" b="1" dirty="0">
                <a:solidFill>
                  <a:srgbClr val="2E8B57"/>
                </a:solidFill>
                <a:latin typeface="Cambria" pitchFamily="34" charset="0"/>
                <a:ea typeface="Cambria" pitchFamily="34" charset="-122"/>
                <a:cs typeface="Cambria" pitchFamily="34" charset="-120"/>
              </a:rPr>
              <a:t>3.7×</a:t>
            </a:r>
            <a:endParaRPr lang="en-US" sz="4000" dirty="0"/>
          </a:p>
        </p:txBody>
      </p:sp>
      <p:sp>
        <p:nvSpPr>
          <p:cNvPr id="10" name="Text 8"/>
          <p:cNvSpPr txBox="1"/>
          <p:nvPr/>
        </p:nvSpPr>
        <p:spPr>
          <a:xfrm>
            <a:off x="3840480" y="4846320"/>
            <a:ext cx="1645920" cy="457200"/>
          </a:xfrm>
          <a:prstGeom prst="rect">
            <a:avLst/>
          </a:prstGeom>
          <a:noFill/>
          <a:ln/>
        </p:spPr>
        <p:txBody>
          <a:bodyPr wrap="square" lIns="0" tIns="0" rIns="0" bIns="0" rtlCol="0" anchor="ctr"/>
          <a:lstStyle/>
          <a:p>
            <a:pPr marL="0" indent="0">
              <a:buNone/>
            </a:pPr>
            <a:r>
              <a:rPr lang="en-US" sz="1150" dirty="0">
                <a:solidFill>
                  <a:srgbClr val="5B6573"/>
                </a:solidFill>
                <a:latin typeface="Calibri" pitchFamily="34" charset="0"/>
                <a:ea typeface="Calibri" pitchFamily="34" charset="-122"/>
                <a:cs typeface="Calibri" pitchFamily="34" charset="-120"/>
              </a:rPr>
              <a:t>lift in top 10% pre-offer</a:t>
            </a:r>
            <a:endParaRPr lang="en-US" sz="1150" dirty="0"/>
          </a:p>
        </p:txBody>
      </p:sp>
      <p:sp>
        <p:nvSpPr>
          <p:cNvPr id="11" name="Text 9"/>
          <p:cNvSpPr txBox="1"/>
          <p:nvPr/>
        </p:nvSpPr>
        <p:spPr>
          <a:xfrm>
            <a:off x="548640" y="5440680"/>
            <a:ext cx="4937760" cy="640080"/>
          </a:xfrm>
          <a:prstGeom prst="rect">
            <a:avLst/>
          </a:prstGeom>
          <a:noFill/>
          <a:ln/>
        </p:spPr>
        <p:txBody>
          <a:bodyPr wrap="square" lIns="0" tIns="0" rIns="0" bIns="0" rtlCol="0" anchor="ctr"/>
          <a:lstStyle/>
          <a:p>
            <a:pPr marL="0" indent="0">
              <a:buNone/>
            </a:pPr>
            <a:r>
              <a:rPr lang="en-US" sz="1050" i="1" dirty="0">
                <a:solidFill>
                  <a:srgbClr val="5B6573"/>
                </a:solidFill>
                <a:latin typeface="Calibri" pitchFamily="34" charset="0"/>
                <a:ea typeface="Calibri" pitchFamily="34" charset="-122"/>
                <a:cs typeface="Calibri" pitchFamily="34" charset="-120"/>
              </a:rPr>
              <a:t>Gradient boosted trees (scikit-learn), 42 features. Pre-offer is the slice that matters: after an offer everyone knows the lead is warm.</a:t>
            </a:r>
            <a:endParaRPr lang="en-US" sz="1050" dirty="0"/>
          </a:p>
        </p:txBody>
      </p:sp>
      <p:graphicFrame>
        <p:nvGraphicFramePr>
          <p:cNvPr id="12" name="Chart 0"/>
          <p:cNvGraphicFramePr/>
          <p:nvPr/>
        </p:nvGraphicFramePr>
        <p:xfrm>
          <a:off x="5669280" y="1645920"/>
          <a:ext cx="5943600" cy="2240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
          <p:cNvGraphicFramePr/>
          <p:nvPr/>
        </p:nvGraphicFramePr>
        <p:xfrm>
          <a:off x="5669280" y="3931920"/>
          <a:ext cx="5943600" cy="22402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1B1F24"/>
                </a:solidFill>
                <a:latin typeface="Cambria" pitchFamily="34" charset="0"/>
                <a:ea typeface="Cambria" pitchFamily="34" charset="-122"/>
                <a:cs typeface="Cambria" pitchFamily="34" charset="-120"/>
              </a:rPr>
              <a:t>What I would do next</a:t>
            </a:r>
            <a:endParaRPr lang="en-US" sz="3200" dirty="0"/>
          </a:p>
        </p:txBody>
      </p:sp>
      <p:sp>
        <p:nvSpPr>
          <p:cNvPr id="3" name="Text 1"/>
          <p:cNvSpPr txBox="1"/>
          <p:nvPr/>
        </p:nvSpPr>
        <p:spPr>
          <a:xfrm>
            <a:off x="548640" y="1097280"/>
            <a:ext cx="11091672" cy="365760"/>
          </a:xfrm>
          <a:prstGeom prst="rect">
            <a:avLst/>
          </a:prstGeom>
          <a:noFill/>
          <a:ln/>
        </p:spPr>
        <p:txBody>
          <a:bodyPr wrap="square" lIns="0" tIns="0" rIns="0" bIns="0" rtlCol="0" anchor="ctr"/>
          <a:lstStyle/>
          <a:p>
            <a:pPr marL="0" indent="0">
              <a:buNone/>
            </a:pPr>
            <a:r>
              <a:rPr lang="en-US" sz="1400" dirty="0">
                <a:solidFill>
                  <a:srgbClr val="5B6573"/>
                </a:solidFill>
                <a:latin typeface="Calibri" pitchFamily="34" charset="0"/>
                <a:ea typeface="Calibri" pitchFamily="34" charset="-122"/>
                <a:cs typeface="Calibri" pitchFamily="34" charset="-120"/>
              </a:rPr>
              <a:t>Deliberately out of scope for two days, documented as next steps in the repo</a:t>
            </a:r>
            <a:endParaRPr lang="en-US" sz="1400" dirty="0"/>
          </a:p>
        </p:txBody>
      </p:sp>
      <p:sp>
        <p:nvSpPr>
          <p:cNvPr id="4" name="Shape 2"/>
          <p:cNvSpPr/>
          <p:nvPr/>
        </p:nvSpPr>
        <p:spPr>
          <a:xfrm>
            <a:off x="548640" y="1737360"/>
            <a:ext cx="347472" cy="347472"/>
          </a:xfrm>
          <a:prstGeom prst="ellipse">
            <a:avLst/>
          </a:prstGeom>
          <a:solidFill>
            <a:srgbClr val="1B9AAA"/>
          </a:solidFill>
          <a:ln w="12700">
            <a:solidFill>
              <a:srgbClr val="1B9AAA"/>
            </a:solidFill>
            <a:prstDash val="solid"/>
          </a:ln>
        </p:spPr>
        <p:txBody>
          <a:bodyPr/>
          <a:lstStyle/>
          <a:p>
            <a:endParaRPr lang="en-TR"/>
          </a:p>
        </p:txBody>
      </p:sp>
      <p:sp>
        <p:nvSpPr>
          <p:cNvPr id="5" name="Text 3"/>
          <p:cNvSpPr txBox="1"/>
          <p:nvPr/>
        </p:nvSpPr>
        <p:spPr>
          <a:xfrm>
            <a:off x="548640" y="173736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05840" y="1719072"/>
            <a:ext cx="3108960" cy="365760"/>
          </a:xfrm>
          <a:prstGeom prst="rect">
            <a:avLst/>
          </a:prstGeom>
          <a:noFill/>
          <a:ln/>
        </p:spPr>
        <p:txBody>
          <a:bodyPr wrap="square" lIns="0" tIns="0" rIns="0" bIns="0" rtlCol="0" anchor="ctr"/>
          <a:lstStyle/>
          <a:p>
            <a:pPr marL="0" indent="0">
              <a:buNone/>
            </a:pPr>
            <a:r>
              <a:rPr lang="en-US" sz="1500" b="1" dirty="0">
                <a:solidFill>
                  <a:srgbClr val="1B1F24"/>
                </a:solidFill>
                <a:latin typeface="Cambria" pitchFamily="34" charset="0"/>
                <a:ea typeface="Cambria" pitchFamily="34" charset="-122"/>
                <a:cs typeface="Cambria" pitchFamily="34" charset="-120"/>
              </a:rPr>
              <a:t>Incremental loads</a:t>
            </a:r>
            <a:endParaRPr lang="en-US" sz="1500" dirty="0"/>
          </a:p>
        </p:txBody>
      </p:sp>
      <p:sp>
        <p:nvSpPr>
          <p:cNvPr id="7" name="Text 5"/>
          <p:cNvSpPr txBox="1"/>
          <p:nvPr/>
        </p:nvSpPr>
        <p:spPr>
          <a:xfrm>
            <a:off x="1005840" y="2148840"/>
            <a:ext cx="3108960" cy="1371600"/>
          </a:xfrm>
          <a:prstGeom prst="rect">
            <a:avLst/>
          </a:prstGeom>
          <a:noFill/>
          <a:ln/>
        </p:spPr>
        <p:txBody>
          <a:bodyPr wrap="square" lIns="0" tIns="0" rIns="0" bIns="0" rtlCol="0" anchor="ctr"/>
          <a:lstStyle/>
          <a:p>
            <a:pPr marL="0" indent="0">
              <a:buNone/>
            </a:pPr>
            <a:r>
              <a:rPr lang="en-US" sz="1150" dirty="0">
                <a:solidFill>
                  <a:srgbClr val="2E3540"/>
                </a:solidFill>
                <a:latin typeface="Calibri" pitchFamily="34" charset="0"/>
                <a:ea typeface="Calibri" pitchFamily="34" charset="-122"/>
                <a:cs typeface="Calibri" pitchFamily="34" charset="-120"/>
              </a:rPr>
              <a:t>Bronze append by ingest date, Silver MERGE upserts, pipeline parameter run_date</a:t>
            </a:r>
            <a:endParaRPr lang="en-US" sz="1150" dirty="0"/>
          </a:p>
        </p:txBody>
      </p:sp>
      <p:sp>
        <p:nvSpPr>
          <p:cNvPr id="8" name="Shape 6"/>
          <p:cNvSpPr/>
          <p:nvPr/>
        </p:nvSpPr>
        <p:spPr>
          <a:xfrm>
            <a:off x="4297680" y="1737360"/>
            <a:ext cx="347472" cy="347472"/>
          </a:xfrm>
          <a:prstGeom prst="ellipse">
            <a:avLst/>
          </a:prstGeom>
          <a:solidFill>
            <a:srgbClr val="1B9AAA"/>
          </a:solidFill>
          <a:ln w="12700">
            <a:solidFill>
              <a:srgbClr val="1B9AAA"/>
            </a:solidFill>
            <a:prstDash val="solid"/>
          </a:ln>
        </p:spPr>
        <p:txBody>
          <a:bodyPr/>
          <a:lstStyle/>
          <a:p>
            <a:endParaRPr lang="en-TR"/>
          </a:p>
        </p:txBody>
      </p:sp>
      <p:sp>
        <p:nvSpPr>
          <p:cNvPr id="9" name="Text 7"/>
          <p:cNvSpPr txBox="1"/>
          <p:nvPr/>
        </p:nvSpPr>
        <p:spPr>
          <a:xfrm>
            <a:off x="4297680" y="173736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4754880" y="1719072"/>
            <a:ext cx="3108960" cy="365760"/>
          </a:xfrm>
          <a:prstGeom prst="rect">
            <a:avLst/>
          </a:prstGeom>
          <a:noFill/>
          <a:ln/>
        </p:spPr>
        <p:txBody>
          <a:bodyPr wrap="square" lIns="0" tIns="0" rIns="0" bIns="0" rtlCol="0" anchor="ctr"/>
          <a:lstStyle/>
          <a:p>
            <a:pPr marL="0" indent="0">
              <a:buNone/>
            </a:pPr>
            <a:r>
              <a:rPr lang="en-US" sz="1500" b="1" dirty="0">
                <a:solidFill>
                  <a:srgbClr val="1B1F24"/>
                </a:solidFill>
                <a:latin typeface="Cambria" pitchFamily="34" charset="0"/>
                <a:ea typeface="Cambria" pitchFamily="34" charset="-122"/>
                <a:cs typeface="Cambria" pitchFamily="34" charset="-120"/>
              </a:rPr>
              <a:t>History</a:t>
            </a:r>
            <a:endParaRPr lang="en-US" sz="1500" dirty="0"/>
          </a:p>
        </p:txBody>
      </p:sp>
      <p:sp>
        <p:nvSpPr>
          <p:cNvPr id="11" name="Text 9"/>
          <p:cNvSpPr txBox="1"/>
          <p:nvPr/>
        </p:nvSpPr>
        <p:spPr>
          <a:xfrm>
            <a:off x="4754880" y="2148840"/>
            <a:ext cx="3108960" cy="1371600"/>
          </a:xfrm>
          <a:prstGeom prst="rect">
            <a:avLst/>
          </a:prstGeom>
          <a:noFill/>
          <a:ln/>
        </p:spPr>
        <p:txBody>
          <a:bodyPr wrap="square" lIns="0" tIns="0" rIns="0" bIns="0" rtlCol="0" anchor="ctr"/>
          <a:lstStyle/>
          <a:p>
            <a:pPr marL="0" indent="0">
              <a:buNone/>
            </a:pPr>
            <a:r>
              <a:rPr lang="en-US" sz="1150" dirty="0">
                <a:solidFill>
                  <a:srgbClr val="2E3540"/>
                </a:solidFill>
                <a:latin typeface="Calibri" pitchFamily="34" charset="0"/>
                <a:ea typeface="Calibri" pitchFamily="34" charset="-122"/>
                <a:cs typeface="Calibri" pitchFamily="34" charset="-120"/>
              </a:rPr>
              <a:t>Surrogate keys and SCD2 on dim_dealer / dim_advisor</a:t>
            </a:r>
            <a:endParaRPr lang="en-US" sz="1150" dirty="0"/>
          </a:p>
        </p:txBody>
      </p:sp>
      <p:sp>
        <p:nvSpPr>
          <p:cNvPr id="12" name="Shape 10"/>
          <p:cNvSpPr/>
          <p:nvPr/>
        </p:nvSpPr>
        <p:spPr>
          <a:xfrm>
            <a:off x="8046720" y="1737360"/>
            <a:ext cx="347472" cy="347472"/>
          </a:xfrm>
          <a:prstGeom prst="ellipse">
            <a:avLst/>
          </a:prstGeom>
          <a:solidFill>
            <a:srgbClr val="1B9AAA"/>
          </a:solidFill>
          <a:ln w="12700">
            <a:solidFill>
              <a:srgbClr val="1B9AAA"/>
            </a:solidFill>
            <a:prstDash val="solid"/>
          </a:ln>
        </p:spPr>
        <p:txBody>
          <a:bodyPr/>
          <a:lstStyle/>
          <a:p>
            <a:endParaRPr lang="en-TR"/>
          </a:p>
        </p:txBody>
      </p:sp>
      <p:sp>
        <p:nvSpPr>
          <p:cNvPr id="13" name="Text 11"/>
          <p:cNvSpPr txBox="1"/>
          <p:nvPr/>
        </p:nvSpPr>
        <p:spPr>
          <a:xfrm>
            <a:off x="8046720" y="173736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8503920" y="1719072"/>
            <a:ext cx="3108960" cy="365760"/>
          </a:xfrm>
          <a:prstGeom prst="rect">
            <a:avLst/>
          </a:prstGeom>
          <a:noFill/>
          <a:ln/>
        </p:spPr>
        <p:txBody>
          <a:bodyPr wrap="square" lIns="0" tIns="0" rIns="0" bIns="0" rtlCol="0" anchor="ctr"/>
          <a:lstStyle/>
          <a:p>
            <a:pPr marL="0" indent="0">
              <a:buNone/>
            </a:pPr>
            <a:r>
              <a:rPr lang="en-US" sz="1500" b="1" dirty="0">
                <a:solidFill>
                  <a:srgbClr val="1B1F24"/>
                </a:solidFill>
                <a:latin typeface="Cambria" pitchFamily="34" charset="0"/>
                <a:ea typeface="Cambria" pitchFamily="34" charset="-122"/>
                <a:cs typeface="Cambria" pitchFamily="34" charset="-120"/>
              </a:rPr>
              <a:t>Access</a:t>
            </a:r>
            <a:endParaRPr lang="en-US" sz="1500" dirty="0"/>
          </a:p>
        </p:txBody>
      </p:sp>
      <p:sp>
        <p:nvSpPr>
          <p:cNvPr id="15" name="Text 13"/>
          <p:cNvSpPr txBox="1"/>
          <p:nvPr/>
        </p:nvSpPr>
        <p:spPr>
          <a:xfrm>
            <a:off x="8503920" y="2148840"/>
            <a:ext cx="3108960" cy="1371600"/>
          </a:xfrm>
          <a:prstGeom prst="rect">
            <a:avLst/>
          </a:prstGeom>
          <a:noFill/>
          <a:ln/>
        </p:spPr>
        <p:txBody>
          <a:bodyPr wrap="square" lIns="0" tIns="0" rIns="0" bIns="0" rtlCol="0" anchor="ctr"/>
          <a:lstStyle/>
          <a:p>
            <a:pPr marL="0" indent="0">
              <a:buNone/>
            </a:pPr>
            <a:r>
              <a:rPr lang="en-US" sz="1150" dirty="0">
                <a:solidFill>
                  <a:srgbClr val="2E3540"/>
                </a:solidFill>
                <a:latin typeface="Calibri" pitchFamily="34" charset="0"/>
                <a:ea typeface="Calibri" pitchFamily="34" charset="-122"/>
                <a:cs typeface="Calibri" pitchFamily="34" charset="-120"/>
              </a:rPr>
              <a:t>Row-level security per dealer; workspace roles on OneLake; PII stays in Silver</a:t>
            </a:r>
            <a:endParaRPr lang="en-US" sz="1150" dirty="0"/>
          </a:p>
        </p:txBody>
      </p:sp>
      <p:sp>
        <p:nvSpPr>
          <p:cNvPr id="16" name="Shape 14"/>
          <p:cNvSpPr/>
          <p:nvPr/>
        </p:nvSpPr>
        <p:spPr>
          <a:xfrm>
            <a:off x="548640" y="3840480"/>
            <a:ext cx="347472" cy="347472"/>
          </a:xfrm>
          <a:prstGeom prst="ellipse">
            <a:avLst/>
          </a:prstGeom>
          <a:solidFill>
            <a:srgbClr val="1B9AAA"/>
          </a:solidFill>
          <a:ln w="12700">
            <a:solidFill>
              <a:srgbClr val="1B9AAA"/>
            </a:solidFill>
            <a:prstDash val="solid"/>
          </a:ln>
        </p:spPr>
        <p:txBody>
          <a:bodyPr/>
          <a:lstStyle/>
          <a:p>
            <a:endParaRPr lang="en-TR"/>
          </a:p>
        </p:txBody>
      </p:sp>
      <p:sp>
        <p:nvSpPr>
          <p:cNvPr id="17" name="Text 15"/>
          <p:cNvSpPr txBox="1"/>
          <p:nvPr/>
        </p:nvSpPr>
        <p:spPr>
          <a:xfrm>
            <a:off x="548640" y="384048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005840" y="3822192"/>
            <a:ext cx="3108960" cy="365760"/>
          </a:xfrm>
          <a:prstGeom prst="rect">
            <a:avLst/>
          </a:prstGeom>
          <a:noFill/>
          <a:ln/>
        </p:spPr>
        <p:txBody>
          <a:bodyPr wrap="square" lIns="0" tIns="0" rIns="0" bIns="0" rtlCol="0" anchor="ctr"/>
          <a:lstStyle/>
          <a:p>
            <a:pPr marL="0" indent="0">
              <a:buNone/>
            </a:pPr>
            <a:r>
              <a:rPr lang="en-US" sz="1500" b="1" dirty="0">
                <a:solidFill>
                  <a:srgbClr val="1B1F24"/>
                </a:solidFill>
                <a:latin typeface="Cambria" pitchFamily="34" charset="0"/>
                <a:ea typeface="Cambria" pitchFamily="34" charset="-122"/>
                <a:cs typeface="Cambria" pitchFamily="34" charset="-120"/>
              </a:rPr>
              <a:t>Monitoring</a:t>
            </a:r>
            <a:endParaRPr lang="en-US" sz="1500" dirty="0"/>
          </a:p>
        </p:txBody>
      </p:sp>
      <p:sp>
        <p:nvSpPr>
          <p:cNvPr id="19" name="Text 17"/>
          <p:cNvSpPr txBox="1"/>
          <p:nvPr/>
        </p:nvSpPr>
        <p:spPr>
          <a:xfrm>
            <a:off x="1005840" y="4251960"/>
            <a:ext cx="3108960" cy="1371600"/>
          </a:xfrm>
          <a:prstGeom prst="rect">
            <a:avLst/>
          </a:prstGeom>
          <a:noFill/>
          <a:ln/>
        </p:spPr>
        <p:txBody>
          <a:bodyPr wrap="square" lIns="0" tIns="0" rIns="0" bIns="0" rtlCol="0" anchor="ctr"/>
          <a:lstStyle/>
          <a:p>
            <a:pPr marL="0" indent="0">
              <a:buNone/>
            </a:pPr>
            <a:r>
              <a:rPr lang="en-US" sz="1150" dirty="0">
                <a:solidFill>
                  <a:srgbClr val="2E3540"/>
                </a:solidFill>
                <a:latin typeface="Calibri" pitchFamily="34" charset="0"/>
                <a:ea typeface="Calibri" pitchFamily="34" charset="-122"/>
                <a:cs typeface="Calibri" pitchFamily="34" charset="-120"/>
              </a:rPr>
              <a:t>DQ trend from dq_results, fail the pipeline on error-severity thresholds, monthly model AUC to a metrics table</a:t>
            </a:r>
            <a:endParaRPr lang="en-US" sz="1150" dirty="0"/>
          </a:p>
        </p:txBody>
      </p:sp>
      <p:sp>
        <p:nvSpPr>
          <p:cNvPr id="20" name="Shape 18"/>
          <p:cNvSpPr/>
          <p:nvPr/>
        </p:nvSpPr>
        <p:spPr>
          <a:xfrm>
            <a:off x="4297680" y="3840480"/>
            <a:ext cx="347472" cy="347472"/>
          </a:xfrm>
          <a:prstGeom prst="ellipse">
            <a:avLst/>
          </a:prstGeom>
          <a:solidFill>
            <a:srgbClr val="1B9AAA"/>
          </a:solidFill>
          <a:ln w="12700">
            <a:solidFill>
              <a:srgbClr val="1B9AAA"/>
            </a:solidFill>
            <a:prstDash val="solid"/>
          </a:ln>
        </p:spPr>
        <p:txBody>
          <a:bodyPr/>
          <a:lstStyle/>
          <a:p>
            <a:endParaRPr lang="en-TR"/>
          </a:p>
        </p:txBody>
      </p:sp>
      <p:sp>
        <p:nvSpPr>
          <p:cNvPr id="21" name="Text 19"/>
          <p:cNvSpPr txBox="1"/>
          <p:nvPr/>
        </p:nvSpPr>
        <p:spPr>
          <a:xfrm>
            <a:off x="4297680" y="384048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4754880" y="3822192"/>
            <a:ext cx="3108960" cy="365760"/>
          </a:xfrm>
          <a:prstGeom prst="rect">
            <a:avLst/>
          </a:prstGeom>
          <a:noFill/>
          <a:ln/>
        </p:spPr>
        <p:txBody>
          <a:bodyPr wrap="square" lIns="0" tIns="0" rIns="0" bIns="0" rtlCol="0" anchor="ctr"/>
          <a:lstStyle/>
          <a:p>
            <a:pPr marL="0" indent="0">
              <a:buNone/>
            </a:pPr>
            <a:r>
              <a:rPr lang="en-US" sz="1500" b="1" dirty="0">
                <a:solidFill>
                  <a:srgbClr val="1B1F24"/>
                </a:solidFill>
                <a:latin typeface="Cambria" pitchFamily="34" charset="0"/>
                <a:ea typeface="Cambria" pitchFamily="34" charset="-122"/>
                <a:cs typeface="Cambria" pitchFamily="34" charset="-120"/>
              </a:rPr>
              <a:t>Model</a:t>
            </a:r>
            <a:endParaRPr lang="en-US" sz="1500" dirty="0"/>
          </a:p>
        </p:txBody>
      </p:sp>
      <p:sp>
        <p:nvSpPr>
          <p:cNvPr id="23" name="Text 21"/>
          <p:cNvSpPr txBox="1"/>
          <p:nvPr/>
        </p:nvSpPr>
        <p:spPr>
          <a:xfrm>
            <a:off x="4754880" y="4251960"/>
            <a:ext cx="3108960" cy="1371600"/>
          </a:xfrm>
          <a:prstGeom prst="rect">
            <a:avLst/>
          </a:prstGeom>
          <a:noFill/>
          <a:ln/>
        </p:spPr>
        <p:txBody>
          <a:bodyPr wrap="square" lIns="0" tIns="0" rIns="0" bIns="0" rtlCol="0" anchor="ctr"/>
          <a:lstStyle/>
          <a:p>
            <a:pPr marL="0" indent="0">
              <a:buNone/>
            </a:pPr>
            <a:r>
              <a:rPr lang="en-US" sz="1150" dirty="0">
                <a:solidFill>
                  <a:srgbClr val="2E3540"/>
                </a:solidFill>
                <a:latin typeface="Calibri" pitchFamily="34" charset="0"/>
                <a:ea typeface="Calibri" pitchFamily="34" charset="-122"/>
                <a:cs typeface="Calibri" pitchFamily="34" charset="-120"/>
              </a:rPr>
              <a:t>SHAP explanations, monthly retraining as a pipeline step, LLM signal extraction at scale if note quality is low</a:t>
            </a:r>
            <a:endParaRPr lang="en-US" sz="1150" dirty="0"/>
          </a:p>
        </p:txBody>
      </p:sp>
      <p:sp>
        <p:nvSpPr>
          <p:cNvPr id="24" name="Shape 22"/>
          <p:cNvSpPr/>
          <p:nvPr/>
        </p:nvSpPr>
        <p:spPr>
          <a:xfrm>
            <a:off x="8046720" y="3840480"/>
            <a:ext cx="347472" cy="347472"/>
          </a:xfrm>
          <a:prstGeom prst="ellipse">
            <a:avLst/>
          </a:prstGeom>
          <a:solidFill>
            <a:srgbClr val="1B9AAA"/>
          </a:solidFill>
          <a:ln w="12700">
            <a:solidFill>
              <a:srgbClr val="1B9AAA"/>
            </a:solidFill>
            <a:prstDash val="solid"/>
          </a:ln>
        </p:spPr>
        <p:txBody>
          <a:bodyPr/>
          <a:lstStyle/>
          <a:p>
            <a:endParaRPr lang="en-TR"/>
          </a:p>
        </p:txBody>
      </p:sp>
      <p:sp>
        <p:nvSpPr>
          <p:cNvPr id="25" name="Text 23"/>
          <p:cNvSpPr txBox="1"/>
          <p:nvPr/>
        </p:nvSpPr>
        <p:spPr>
          <a:xfrm>
            <a:off x="8046720" y="384048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6" name="Text 24"/>
          <p:cNvSpPr txBox="1"/>
          <p:nvPr/>
        </p:nvSpPr>
        <p:spPr>
          <a:xfrm>
            <a:off x="8503920" y="3822192"/>
            <a:ext cx="3108960" cy="365760"/>
          </a:xfrm>
          <a:prstGeom prst="rect">
            <a:avLst/>
          </a:prstGeom>
          <a:noFill/>
          <a:ln/>
        </p:spPr>
        <p:txBody>
          <a:bodyPr wrap="square" lIns="0" tIns="0" rIns="0" bIns="0" rtlCol="0" anchor="ctr"/>
          <a:lstStyle/>
          <a:p>
            <a:pPr marL="0" indent="0">
              <a:buNone/>
            </a:pPr>
            <a:r>
              <a:rPr lang="en-US" sz="1500" b="1" dirty="0">
                <a:solidFill>
                  <a:srgbClr val="1B1F24"/>
                </a:solidFill>
                <a:latin typeface="Cambria" pitchFamily="34" charset="0"/>
                <a:ea typeface="Cambria" pitchFamily="34" charset="-122"/>
                <a:cs typeface="Cambria" pitchFamily="34" charset="-120"/>
              </a:rPr>
              <a:t>Product</a:t>
            </a:r>
            <a:endParaRPr lang="en-US" sz="1500" dirty="0"/>
          </a:p>
        </p:txBody>
      </p:sp>
      <p:sp>
        <p:nvSpPr>
          <p:cNvPr id="27" name="Text 25"/>
          <p:cNvSpPr txBox="1"/>
          <p:nvPr/>
        </p:nvSpPr>
        <p:spPr>
          <a:xfrm>
            <a:off x="8503920" y="4251960"/>
            <a:ext cx="3108960" cy="1371600"/>
          </a:xfrm>
          <a:prstGeom prst="rect">
            <a:avLst/>
          </a:prstGeom>
          <a:noFill/>
          <a:ln/>
        </p:spPr>
        <p:txBody>
          <a:bodyPr wrap="square" lIns="0" tIns="0" rIns="0" bIns="0" rtlCol="0" anchor="ctr"/>
          <a:lstStyle/>
          <a:p>
            <a:pPr marL="0" indent="0">
              <a:buNone/>
            </a:pPr>
            <a:r>
              <a:rPr lang="en-US" sz="1150" dirty="0">
                <a:solidFill>
                  <a:srgbClr val="2E3540"/>
                </a:solidFill>
                <a:latin typeface="Calibri" pitchFamily="34" charset="0"/>
                <a:ea typeface="Calibri" pitchFamily="34" charset="-122"/>
                <a:cs typeface="Calibri" pitchFamily="34" charset="-120"/>
              </a:rPr>
              <a:t>A Fabric-native page on gold.lead_scores next to the report; write-back of advisor feedback</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F24"/>
        </a:solidFill>
        <a:effectLst/>
      </p:bgPr>
    </p:bg>
    <p:spTree>
      <p:nvGrpSpPr>
        <p:cNvPr id="1" name=""/>
        <p:cNvGrpSpPr/>
        <p:nvPr/>
      </p:nvGrpSpPr>
      <p:grpSpPr>
        <a:xfrm>
          <a:off x="0" y="0"/>
          <a:ext cx="0" cy="0"/>
          <a:chOff x="0" y="0"/>
          <a:chExt cx="0" cy="0"/>
        </a:xfrm>
      </p:grpSpPr>
      <p:sp>
        <p:nvSpPr>
          <p:cNvPr id="2" name="Text 0"/>
          <p:cNvSpPr txBox="1"/>
          <p:nvPr/>
        </p:nvSpPr>
        <p:spPr>
          <a:xfrm>
            <a:off x="548640" y="2011680"/>
            <a:ext cx="73152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3" name="Text 1"/>
          <p:cNvSpPr txBox="1"/>
          <p:nvPr/>
        </p:nvSpPr>
        <p:spPr>
          <a:xfrm>
            <a:off x="548640" y="3108960"/>
            <a:ext cx="9144000" cy="914400"/>
          </a:xfrm>
          <a:prstGeom prst="rect">
            <a:avLst/>
          </a:prstGeom>
          <a:noFill/>
          <a:ln/>
        </p:spPr>
        <p:txBody>
          <a:bodyPr wrap="square" lIns="0" tIns="0" rIns="0" bIns="0" rtlCol="0" anchor="ctr"/>
          <a:lstStyle/>
          <a:p>
            <a:pPr marL="0" indent="0">
              <a:buNone/>
            </a:pPr>
            <a:r>
              <a:rPr lang="en-US" sz="1400" dirty="0">
                <a:solidFill>
                  <a:srgbClr val="C9D1DB"/>
                </a:solidFill>
                <a:latin typeface="Calibri" pitchFamily="34" charset="0"/>
                <a:ea typeface="Calibri" pitchFamily="34" charset="-122"/>
                <a:cs typeface="Calibri" pitchFamily="34" charset="-120"/>
              </a:rPr>
              <a:t>Repo: notebooks (.py + .ipynb), DAX, report spec, generator, AI product, docs</a:t>
            </a:r>
            <a:endParaRPr lang="en-US" sz="1400" dirty="0"/>
          </a:p>
          <a:p>
            <a:pPr marL="0" indent="0">
              <a:buNone/>
            </a:pPr>
            <a:r>
              <a:rPr lang="en-US" sz="1400" dirty="0">
                <a:solidFill>
                  <a:srgbClr val="C9D1DB"/>
                </a:solidFill>
                <a:latin typeface="Calibri" pitchFamily="34" charset="0"/>
                <a:ea typeface="Calibri" pitchFamily="34" charset="-122"/>
                <a:cs typeface="Calibri" pitchFamily="34" charset="-120"/>
              </a:rPr>
              <a:t>sude.bozkurt@ozu.edu.tr · linkedin.com/in/</a:t>
            </a:r>
            <a:r>
              <a:rPr lang="en-US" sz="1400" dirty="0" err="1">
                <a:solidFill>
                  <a:srgbClr val="C9D1DB"/>
                </a:solidFill>
                <a:latin typeface="Calibri" pitchFamily="34" charset="0"/>
                <a:ea typeface="Calibri" pitchFamily="34" charset="-122"/>
                <a:cs typeface="Calibri" pitchFamily="34" charset="-120"/>
              </a:rPr>
              <a:t>sudebzkurt</a:t>
            </a:r>
            <a:endParaRPr lang="en-US" sz="1400" dirty="0"/>
          </a:p>
        </p:txBody>
      </p:sp>
      <p:sp>
        <p:nvSpPr>
          <p:cNvPr id="4" name="Text 2"/>
          <p:cNvSpPr txBox="1"/>
          <p:nvPr/>
        </p:nvSpPr>
        <p:spPr>
          <a:xfrm>
            <a:off x="548640" y="6400800"/>
            <a:ext cx="11091672" cy="274320"/>
          </a:xfrm>
          <a:prstGeom prst="rect">
            <a:avLst/>
          </a:prstGeom>
          <a:noFill/>
          <a:ln/>
        </p:spPr>
        <p:txBody>
          <a:bodyPr wrap="square" lIns="0" tIns="0" rIns="0" bIns="0" rtlCol="0" anchor="ctr"/>
          <a:lstStyle/>
          <a:p>
            <a:pPr marL="0" indent="0" algn="r">
              <a:buNone/>
            </a:pPr>
            <a:r>
              <a:rPr lang="en-US" sz="900" dirty="0">
                <a:solidFill>
                  <a:srgbClr val="8A94A6"/>
                </a:solidFill>
                <a:latin typeface="Calibri" pitchFamily="34" charset="0"/>
                <a:ea typeface="Calibri" pitchFamily="34" charset="-122"/>
                <a:cs typeface="Calibri" pitchFamily="34" charset="-120"/>
              </a:rPr>
              <a:t>Sude Bozkurt · Borusan Otomotiv case study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1B1F24"/>
                </a:solidFill>
                <a:latin typeface="Cambria" pitchFamily="34" charset="0"/>
                <a:ea typeface="Cambria" pitchFamily="34" charset="-122"/>
                <a:cs typeface="Cambria" pitchFamily="34" charset="-120"/>
              </a:rPr>
              <a:t>Backup — how I used AI assistance</a:t>
            </a:r>
            <a:endParaRPr lang="en-US" sz="3200" dirty="0"/>
          </a:p>
        </p:txBody>
      </p:sp>
      <p:sp>
        <p:nvSpPr>
          <p:cNvPr id="3" name="Text 1"/>
          <p:cNvSpPr txBox="1"/>
          <p:nvPr/>
        </p:nvSpPr>
        <p:spPr>
          <a:xfrm>
            <a:off x="548640" y="1097280"/>
            <a:ext cx="11091672" cy="365760"/>
          </a:xfrm>
          <a:prstGeom prst="rect">
            <a:avLst/>
          </a:prstGeom>
          <a:noFill/>
          <a:ln/>
        </p:spPr>
        <p:txBody>
          <a:bodyPr wrap="square" lIns="0" tIns="0" rIns="0" bIns="0" rtlCol="0" anchor="ctr"/>
          <a:lstStyle/>
          <a:p>
            <a:pPr marL="0" indent="0">
              <a:buNone/>
            </a:pPr>
            <a:r>
              <a:rPr lang="en-US" sz="1400" dirty="0">
                <a:solidFill>
                  <a:srgbClr val="5B6573"/>
                </a:solidFill>
                <a:latin typeface="Calibri" pitchFamily="34" charset="0"/>
                <a:ea typeface="Calibri" pitchFamily="34" charset="-122"/>
                <a:cs typeface="Calibri" pitchFamily="34" charset="-120"/>
              </a:rPr>
              <a:t>The brief invited an AI-assisted approach; this is what that looked like in practice</a:t>
            </a:r>
            <a:endParaRPr lang="en-US" sz="1400" dirty="0"/>
          </a:p>
        </p:txBody>
      </p:sp>
      <p:sp>
        <p:nvSpPr>
          <p:cNvPr id="4" name="Shape 2"/>
          <p:cNvSpPr/>
          <p:nvPr/>
        </p:nvSpPr>
        <p:spPr>
          <a:xfrm>
            <a:off x="548640" y="1691640"/>
            <a:ext cx="3566160" cy="3291840"/>
          </a:xfrm>
          <a:prstGeom prst="roundRect">
            <a:avLst>
              <a:gd name="adj" fmla="val 2222"/>
            </a:avLst>
          </a:prstGeom>
          <a:solidFill>
            <a:srgbClr val="EEF1F4"/>
          </a:solidFill>
          <a:ln w="12700">
            <a:solidFill>
              <a:srgbClr val="EEF1F4"/>
            </a:solidFill>
            <a:prstDash val="solid"/>
          </a:ln>
        </p:spPr>
        <p:txBody>
          <a:bodyPr/>
          <a:lstStyle/>
          <a:p>
            <a:endParaRPr lang="en-TR"/>
          </a:p>
        </p:txBody>
      </p:sp>
      <p:sp>
        <p:nvSpPr>
          <p:cNvPr id="5" name="Text 3"/>
          <p:cNvSpPr txBox="1"/>
          <p:nvPr/>
        </p:nvSpPr>
        <p:spPr>
          <a:xfrm>
            <a:off x="731520" y="1828800"/>
            <a:ext cx="3200400" cy="365760"/>
          </a:xfrm>
          <a:prstGeom prst="rect">
            <a:avLst/>
          </a:prstGeom>
          <a:noFill/>
          <a:ln/>
        </p:spPr>
        <p:txBody>
          <a:bodyPr wrap="square" lIns="0" tIns="0" rIns="0" bIns="0" rtlCol="0" anchor="ctr"/>
          <a:lstStyle/>
          <a:p>
            <a:pPr marL="0" indent="0">
              <a:buNone/>
            </a:pPr>
            <a:r>
              <a:rPr lang="en-US" sz="1400" b="1" dirty="0">
                <a:solidFill>
                  <a:srgbClr val="1B1F24"/>
                </a:solidFill>
                <a:latin typeface="Cambria" pitchFamily="34" charset="0"/>
                <a:ea typeface="Cambria" pitchFamily="34" charset="-122"/>
                <a:cs typeface="Cambria" pitchFamily="34" charset="-120"/>
              </a:rPr>
              <a:t>I decided</a:t>
            </a:r>
            <a:endParaRPr lang="en-US" sz="1400" dirty="0"/>
          </a:p>
        </p:txBody>
      </p:sp>
      <p:sp>
        <p:nvSpPr>
          <p:cNvPr id="6" name="Text 4"/>
          <p:cNvSpPr txBox="1"/>
          <p:nvPr/>
        </p:nvSpPr>
        <p:spPr>
          <a:xfrm>
            <a:off x="731520" y="2240280"/>
            <a:ext cx="3200400" cy="2606040"/>
          </a:xfrm>
          <a:prstGeom prst="rect">
            <a:avLst/>
          </a:prstGeom>
          <a:noFill/>
          <a:ln/>
        </p:spPr>
        <p:txBody>
          <a:bodyPr wrap="square" lIns="0" tIns="0" rIns="0" bIns="0" rtlCol="0" anchor="t"/>
          <a:lstStyle/>
          <a:p>
            <a:pPr marL="0" indent="0">
              <a:spcAft>
                <a:spcPts val="400"/>
              </a:spcAft>
              <a:buNone/>
            </a:pPr>
            <a:r>
              <a:rPr lang="en-US" sz="1200" dirty="0">
                <a:solidFill>
                  <a:srgbClr val="2E3540"/>
                </a:solidFill>
                <a:latin typeface="Calibri" pitchFamily="34" charset="0"/>
                <a:ea typeface="Calibri" pitchFamily="34" charset="-122"/>
                <a:cs typeface="Calibri" pitchFamily="34" charset="-120"/>
              </a:rPr>
              <a:t>The dataset shape and the business scenario</a:t>
            </a:r>
            <a:endParaRPr lang="en-US" sz="1200" dirty="0"/>
          </a:p>
          <a:p>
            <a:pPr marL="0" indent="0">
              <a:spcAft>
                <a:spcPts val="400"/>
              </a:spcAft>
              <a:buNone/>
            </a:pPr>
            <a:r>
              <a:rPr lang="en-US" sz="1200" dirty="0">
                <a:solidFill>
                  <a:srgbClr val="2E3540"/>
                </a:solidFill>
                <a:latin typeface="Calibri" pitchFamily="34" charset="0"/>
                <a:ea typeface="Calibri" pitchFamily="34" charset="-122"/>
                <a:cs typeface="Calibri" pitchFamily="34" charset="-120"/>
              </a:rPr>
              <a:t>One lakehouse with schemas, no Warehouse</a:t>
            </a:r>
            <a:endParaRPr lang="en-US" sz="1200" dirty="0"/>
          </a:p>
          <a:p>
            <a:pPr marL="0" indent="0">
              <a:spcAft>
                <a:spcPts val="400"/>
              </a:spcAft>
              <a:buNone/>
            </a:pPr>
            <a:r>
              <a:rPr lang="en-US" sz="1200" dirty="0">
                <a:solidFill>
                  <a:srgbClr val="2E3540"/>
                </a:solidFill>
                <a:latin typeface="Calibri" pitchFamily="34" charset="0"/>
                <a:ea typeface="Calibri" pitchFamily="34" charset="-122"/>
                <a:cs typeface="Calibri" pitchFamily="34" charset="-120"/>
              </a:rPr>
              <a:t>Silver rules (flag, never drop)</a:t>
            </a:r>
            <a:endParaRPr lang="en-US" sz="1200" dirty="0"/>
          </a:p>
          <a:p>
            <a:pPr marL="0" indent="0">
              <a:spcAft>
                <a:spcPts val="400"/>
              </a:spcAft>
              <a:buNone/>
            </a:pPr>
            <a:r>
              <a:rPr lang="en-US" sz="1200" dirty="0">
                <a:solidFill>
                  <a:srgbClr val="2E3540"/>
                </a:solidFill>
                <a:latin typeface="Calibri" pitchFamily="34" charset="0"/>
                <a:ea typeface="Calibri" pitchFamily="34" charset="-122"/>
                <a:cs typeface="Calibri" pitchFamily="34" charset="-120"/>
              </a:rPr>
              <a:t>Star-schema grain and UNK members</a:t>
            </a:r>
            <a:endParaRPr lang="en-US" sz="1200" dirty="0"/>
          </a:p>
          <a:p>
            <a:pPr marL="0" indent="0">
              <a:spcAft>
                <a:spcPts val="400"/>
              </a:spcAft>
              <a:buNone/>
            </a:pPr>
            <a:r>
              <a:rPr lang="en-US" sz="1200" dirty="0">
                <a:solidFill>
                  <a:srgbClr val="2E3540"/>
                </a:solidFill>
                <a:latin typeface="Calibri" pitchFamily="34" charset="0"/>
                <a:ea typeface="Calibri" pitchFamily="34" charset="-122"/>
                <a:cs typeface="Calibri" pitchFamily="34" charset="-120"/>
              </a:rPr>
              <a:t>Snapshot-based training to avoid leakage</a:t>
            </a:r>
            <a:endParaRPr lang="en-US" sz="1200" dirty="0"/>
          </a:p>
          <a:p>
            <a:pPr marL="0" indent="0">
              <a:spcAft>
                <a:spcPts val="400"/>
              </a:spcAft>
              <a:buNone/>
            </a:pPr>
            <a:r>
              <a:rPr lang="en-US" sz="1200" dirty="0">
                <a:solidFill>
                  <a:srgbClr val="2E3540"/>
                </a:solidFill>
                <a:latin typeface="Calibri" pitchFamily="34" charset="0"/>
                <a:ea typeface="Calibri" pitchFamily="34" charset="-122"/>
                <a:cs typeface="Calibri" pitchFamily="34" charset="-120"/>
              </a:rPr>
              <a:t>What to leave out for two days</a:t>
            </a:r>
            <a:endParaRPr lang="en-US" sz="1200" dirty="0"/>
          </a:p>
        </p:txBody>
      </p:sp>
      <p:sp>
        <p:nvSpPr>
          <p:cNvPr id="7" name="Shape 5"/>
          <p:cNvSpPr/>
          <p:nvPr/>
        </p:nvSpPr>
        <p:spPr>
          <a:xfrm>
            <a:off x="4297680" y="1691640"/>
            <a:ext cx="3566160" cy="3291840"/>
          </a:xfrm>
          <a:prstGeom prst="roundRect">
            <a:avLst>
              <a:gd name="adj" fmla="val 2222"/>
            </a:avLst>
          </a:prstGeom>
          <a:solidFill>
            <a:srgbClr val="EEF1F4"/>
          </a:solidFill>
          <a:ln w="12700">
            <a:solidFill>
              <a:srgbClr val="EEF1F4"/>
            </a:solidFill>
            <a:prstDash val="solid"/>
          </a:ln>
        </p:spPr>
        <p:txBody>
          <a:bodyPr/>
          <a:lstStyle/>
          <a:p>
            <a:endParaRPr lang="en-TR"/>
          </a:p>
        </p:txBody>
      </p:sp>
      <p:sp>
        <p:nvSpPr>
          <p:cNvPr id="8" name="Text 6"/>
          <p:cNvSpPr txBox="1"/>
          <p:nvPr/>
        </p:nvSpPr>
        <p:spPr>
          <a:xfrm>
            <a:off x="4480560" y="1828800"/>
            <a:ext cx="3200400" cy="365760"/>
          </a:xfrm>
          <a:prstGeom prst="rect">
            <a:avLst/>
          </a:prstGeom>
          <a:noFill/>
          <a:ln/>
        </p:spPr>
        <p:txBody>
          <a:bodyPr wrap="square" lIns="0" tIns="0" rIns="0" bIns="0" rtlCol="0" anchor="ctr"/>
          <a:lstStyle/>
          <a:p>
            <a:pPr marL="0" indent="0">
              <a:buNone/>
            </a:pPr>
            <a:r>
              <a:rPr lang="en-US" sz="1400" b="1" dirty="0">
                <a:solidFill>
                  <a:srgbClr val="1B1F24"/>
                </a:solidFill>
                <a:latin typeface="Cambria" pitchFamily="34" charset="0"/>
                <a:ea typeface="Cambria" pitchFamily="34" charset="-122"/>
                <a:cs typeface="Cambria" pitchFamily="34" charset="-120"/>
              </a:rPr>
              <a:t>The assistant helped with</a:t>
            </a:r>
            <a:endParaRPr lang="en-US" sz="1400" dirty="0"/>
          </a:p>
        </p:txBody>
      </p:sp>
      <p:sp>
        <p:nvSpPr>
          <p:cNvPr id="9" name="Text 7"/>
          <p:cNvSpPr txBox="1"/>
          <p:nvPr/>
        </p:nvSpPr>
        <p:spPr>
          <a:xfrm>
            <a:off x="4480560" y="2240280"/>
            <a:ext cx="3200400" cy="2606040"/>
          </a:xfrm>
          <a:prstGeom prst="rect">
            <a:avLst/>
          </a:prstGeom>
          <a:noFill/>
          <a:ln/>
        </p:spPr>
        <p:txBody>
          <a:bodyPr wrap="square" lIns="0" tIns="0" rIns="0" bIns="0" rtlCol="0" anchor="t"/>
          <a:lstStyle/>
          <a:p>
            <a:pPr marL="0" indent="0">
              <a:spcAft>
                <a:spcPts val="400"/>
              </a:spcAft>
              <a:buNone/>
            </a:pPr>
            <a:r>
              <a:rPr lang="en-US" sz="1200" dirty="0">
                <a:solidFill>
                  <a:srgbClr val="2E3540"/>
                </a:solidFill>
                <a:latin typeface="Calibri" pitchFamily="34" charset="0"/>
                <a:ea typeface="Calibri" pitchFamily="34" charset="-122"/>
                <a:cs typeface="Calibri" pitchFamily="34" charset="-120"/>
              </a:rPr>
              <a:t>Writing and refactoring notebook cells</a:t>
            </a:r>
            <a:endParaRPr lang="en-US" sz="1200" dirty="0"/>
          </a:p>
          <a:p>
            <a:pPr marL="0" indent="0">
              <a:spcAft>
                <a:spcPts val="400"/>
              </a:spcAft>
              <a:buNone/>
            </a:pPr>
            <a:r>
              <a:rPr lang="en-US" sz="1200" dirty="0">
                <a:solidFill>
                  <a:srgbClr val="2E3540"/>
                </a:solidFill>
                <a:latin typeface="Calibri" pitchFamily="34" charset="0"/>
                <a:ea typeface="Calibri" pitchFamily="34" charset="-122"/>
                <a:cs typeface="Calibri" pitchFamily="34" charset="-120"/>
              </a:rPr>
              <a:t>DAX drafts and Streamlit boilerplate</a:t>
            </a:r>
            <a:endParaRPr lang="en-US" sz="1200" dirty="0"/>
          </a:p>
          <a:p>
            <a:pPr marL="0" indent="0">
              <a:spcAft>
                <a:spcPts val="400"/>
              </a:spcAft>
              <a:buNone/>
            </a:pPr>
            <a:r>
              <a:rPr lang="en-US" sz="1200" dirty="0">
                <a:solidFill>
                  <a:srgbClr val="2E3540"/>
                </a:solidFill>
                <a:latin typeface="Calibri" pitchFamily="34" charset="0"/>
                <a:ea typeface="Calibri" pitchFamily="34" charset="-122"/>
                <a:cs typeface="Calibri" pitchFamily="34" charset="-120"/>
              </a:rPr>
              <a:t>Turkish keyword lists for note signals</a:t>
            </a:r>
            <a:endParaRPr lang="en-US" sz="1200" dirty="0"/>
          </a:p>
          <a:p>
            <a:pPr marL="0" indent="0">
              <a:spcAft>
                <a:spcPts val="400"/>
              </a:spcAft>
              <a:buNone/>
            </a:pPr>
            <a:r>
              <a:rPr lang="en-US" sz="1200" dirty="0">
                <a:solidFill>
                  <a:srgbClr val="2E3540"/>
                </a:solidFill>
                <a:latin typeface="Calibri" pitchFamily="34" charset="0"/>
                <a:ea typeface="Calibri" pitchFamily="34" charset="-122"/>
                <a:cs typeface="Calibri" pitchFamily="34" charset="-120"/>
              </a:rPr>
              <a:t>Explanations in every markdown cell</a:t>
            </a:r>
            <a:endParaRPr lang="en-US" sz="1200" dirty="0"/>
          </a:p>
          <a:p>
            <a:pPr marL="0" indent="0">
              <a:spcAft>
                <a:spcPts val="400"/>
              </a:spcAft>
              <a:buNone/>
            </a:pPr>
            <a:r>
              <a:rPr lang="en-US" sz="1200" dirty="0">
                <a:solidFill>
                  <a:srgbClr val="2E3540"/>
                </a:solidFill>
                <a:latin typeface="Calibri" pitchFamily="34" charset="0"/>
                <a:ea typeface="Calibri" pitchFamily="34" charset="-122"/>
                <a:cs typeface="Calibri" pitchFamily="34" charset="-120"/>
              </a:rPr>
              <a:t>CLAUDE.md / AGENTS.md so a teammate can continue with the same context</a:t>
            </a:r>
            <a:endParaRPr lang="en-US" sz="1200" dirty="0"/>
          </a:p>
        </p:txBody>
      </p:sp>
      <p:sp>
        <p:nvSpPr>
          <p:cNvPr id="10" name="Shape 8"/>
          <p:cNvSpPr/>
          <p:nvPr/>
        </p:nvSpPr>
        <p:spPr>
          <a:xfrm>
            <a:off x="8046720" y="1691640"/>
            <a:ext cx="3566160" cy="3291840"/>
          </a:xfrm>
          <a:prstGeom prst="roundRect">
            <a:avLst>
              <a:gd name="adj" fmla="val 2222"/>
            </a:avLst>
          </a:prstGeom>
          <a:solidFill>
            <a:srgbClr val="EEF1F4"/>
          </a:solidFill>
          <a:ln w="12700">
            <a:solidFill>
              <a:srgbClr val="EEF1F4"/>
            </a:solidFill>
            <a:prstDash val="solid"/>
          </a:ln>
        </p:spPr>
        <p:txBody>
          <a:bodyPr/>
          <a:lstStyle/>
          <a:p>
            <a:endParaRPr lang="en-TR"/>
          </a:p>
        </p:txBody>
      </p:sp>
      <p:sp>
        <p:nvSpPr>
          <p:cNvPr id="11" name="Text 9"/>
          <p:cNvSpPr txBox="1"/>
          <p:nvPr/>
        </p:nvSpPr>
        <p:spPr>
          <a:xfrm>
            <a:off x="8229600" y="1828800"/>
            <a:ext cx="3200400" cy="365760"/>
          </a:xfrm>
          <a:prstGeom prst="rect">
            <a:avLst/>
          </a:prstGeom>
          <a:noFill/>
          <a:ln/>
        </p:spPr>
        <p:txBody>
          <a:bodyPr wrap="square" lIns="0" tIns="0" rIns="0" bIns="0" rtlCol="0" anchor="ctr"/>
          <a:lstStyle/>
          <a:p>
            <a:pPr marL="0" indent="0">
              <a:buNone/>
            </a:pPr>
            <a:r>
              <a:rPr lang="en-US" sz="1400" b="1" dirty="0">
                <a:solidFill>
                  <a:srgbClr val="1B1F24"/>
                </a:solidFill>
                <a:latin typeface="Cambria" pitchFamily="34" charset="0"/>
                <a:ea typeface="Cambria" pitchFamily="34" charset="-122"/>
                <a:cs typeface="Cambria" pitchFamily="34" charset="-120"/>
              </a:rPr>
              <a:t>I verified</a:t>
            </a:r>
            <a:endParaRPr lang="en-US" sz="1400" dirty="0"/>
          </a:p>
        </p:txBody>
      </p:sp>
      <p:sp>
        <p:nvSpPr>
          <p:cNvPr id="12" name="Text 10"/>
          <p:cNvSpPr txBox="1"/>
          <p:nvPr/>
        </p:nvSpPr>
        <p:spPr>
          <a:xfrm>
            <a:off x="8229600" y="2240280"/>
            <a:ext cx="3200400" cy="2606040"/>
          </a:xfrm>
          <a:prstGeom prst="rect">
            <a:avLst/>
          </a:prstGeom>
          <a:noFill/>
          <a:ln/>
        </p:spPr>
        <p:txBody>
          <a:bodyPr wrap="square" lIns="0" tIns="0" rIns="0" bIns="0" rtlCol="0" anchor="t"/>
          <a:lstStyle/>
          <a:p>
            <a:pPr marL="0" indent="0">
              <a:spcAft>
                <a:spcPts val="400"/>
              </a:spcAft>
              <a:buNone/>
            </a:pPr>
            <a:r>
              <a:rPr lang="en-US" sz="1200" dirty="0">
                <a:solidFill>
                  <a:srgbClr val="2E3540"/>
                </a:solidFill>
                <a:latin typeface="Calibri" pitchFamily="34" charset="0"/>
                <a:ea typeface="Calibri" pitchFamily="34" charset="-122"/>
                <a:cs typeface="Calibri" pitchFamily="34" charset="-120"/>
              </a:rPr>
              <a:t>Every notebook run end to end, locally and in Fabric</a:t>
            </a:r>
            <a:endParaRPr lang="en-US" sz="1200" dirty="0"/>
          </a:p>
          <a:p>
            <a:pPr marL="0" indent="0">
              <a:spcAft>
                <a:spcPts val="400"/>
              </a:spcAft>
              <a:buNone/>
            </a:pPr>
            <a:r>
              <a:rPr lang="en-US" sz="1200" dirty="0">
                <a:solidFill>
                  <a:srgbClr val="2E3540"/>
                </a:solidFill>
                <a:latin typeface="Calibri" pitchFamily="34" charset="0"/>
                <a:ea typeface="Calibri" pitchFamily="34" charset="-122"/>
                <a:cs typeface="Calibri" pitchFamily="34" charset="-120"/>
              </a:rPr>
              <a:t>DQ counts against generator ground truth</a:t>
            </a:r>
            <a:endParaRPr lang="en-US" sz="1200" dirty="0"/>
          </a:p>
          <a:p>
            <a:pPr marL="0" indent="0">
              <a:spcAft>
                <a:spcPts val="400"/>
              </a:spcAft>
              <a:buNone/>
            </a:pPr>
            <a:r>
              <a:rPr lang="en-US" sz="1200" dirty="0">
                <a:solidFill>
                  <a:srgbClr val="2E3540"/>
                </a:solidFill>
                <a:latin typeface="Calibri" pitchFamily="34" charset="0"/>
                <a:ea typeface="Calibri" pitchFamily="34" charset="-122"/>
                <a:cs typeface="Calibri" pitchFamily="34" charset="-120"/>
              </a:rPr>
              <a:t>Funnel totals: Gold cell = report cards</a:t>
            </a:r>
            <a:endParaRPr lang="en-US" sz="1200" dirty="0"/>
          </a:p>
          <a:p>
            <a:pPr marL="0" indent="0">
              <a:spcAft>
                <a:spcPts val="400"/>
              </a:spcAft>
              <a:buNone/>
            </a:pPr>
            <a:r>
              <a:rPr lang="en-US" sz="1200" dirty="0">
                <a:solidFill>
                  <a:srgbClr val="2E3540"/>
                </a:solidFill>
                <a:latin typeface="Calibri" pitchFamily="34" charset="0"/>
                <a:ea typeface="Calibri" pitchFamily="34" charset="-122"/>
                <a:cs typeface="Calibri" pitchFamily="34" charset="-120"/>
              </a:rPr>
              <a:t>Model metrics on a temporal split, calibration by decile</a:t>
            </a:r>
            <a:endParaRPr lang="en-US" sz="1200" dirty="0"/>
          </a:p>
          <a:p>
            <a:pPr marL="0" indent="0">
              <a:spcAft>
                <a:spcPts val="400"/>
              </a:spcAft>
              <a:buNone/>
            </a:pPr>
            <a:r>
              <a:rPr lang="en-US" sz="1200" dirty="0">
                <a:solidFill>
                  <a:srgbClr val="2E3540"/>
                </a:solidFill>
                <a:latin typeface="Calibri" pitchFamily="34" charset="0"/>
                <a:ea typeface="Calibri" pitchFamily="34" charset="-122"/>
                <a:cs typeface="Calibri" pitchFamily="34" charset="-120"/>
              </a:rPr>
              <a:t>App smoke test on all four pages</a:t>
            </a:r>
            <a:endParaRPr lang="en-US" sz="1200" dirty="0"/>
          </a:p>
        </p:txBody>
      </p:sp>
      <p:sp>
        <p:nvSpPr>
          <p:cNvPr id="13" name="Text 11"/>
          <p:cNvSpPr txBox="1"/>
          <p:nvPr/>
        </p:nvSpPr>
        <p:spPr>
          <a:xfrm>
            <a:off x="548640" y="5257800"/>
            <a:ext cx="11091672" cy="548640"/>
          </a:xfrm>
          <a:prstGeom prst="rect">
            <a:avLst/>
          </a:prstGeom>
          <a:noFill/>
          <a:ln/>
        </p:spPr>
        <p:txBody>
          <a:bodyPr wrap="square" lIns="0" tIns="0" rIns="0" bIns="0" rtlCol="0" anchor="ctr"/>
          <a:lstStyle/>
          <a:p>
            <a:pPr marL="0" indent="0">
              <a:buNone/>
            </a:pPr>
            <a:r>
              <a:rPr lang="en-US" sz="1200" i="1" dirty="0">
                <a:solidFill>
                  <a:srgbClr val="5B6573"/>
                </a:solidFill>
                <a:latin typeface="Calibri" pitchFamily="34" charset="0"/>
                <a:ea typeface="Calibri" pitchFamily="34" charset="-122"/>
                <a:cs typeface="Calibri" pitchFamily="34" charset="-120"/>
              </a:rPr>
              <a:t>Every notebook cell carries a 'why' paragraph so I can defend it line by line; the repo's CLAUDE.md lists what was decided, what was delegated, and what was verified.</a:t>
            </a:r>
            <a:endParaRPr lang="en-US" sz="1200" dirty="0"/>
          </a:p>
        </p:txBody>
      </p:sp>
      <p:sp>
        <p:nvSpPr>
          <p:cNvPr id="14" name="Text 12"/>
          <p:cNvSpPr txBox="1"/>
          <p:nvPr/>
        </p:nvSpPr>
        <p:spPr>
          <a:xfrm>
            <a:off x="548640" y="6400800"/>
            <a:ext cx="11091672" cy="274320"/>
          </a:xfrm>
          <a:prstGeom prst="rect">
            <a:avLst/>
          </a:prstGeom>
          <a:noFill/>
          <a:ln/>
        </p:spPr>
        <p:txBody>
          <a:bodyPr wrap="square" lIns="0" tIns="0" rIns="0" bIns="0" rtlCol="0" anchor="ctr"/>
          <a:lstStyle/>
          <a:p>
            <a:pPr marL="0" indent="0" algn="r">
              <a:buNone/>
            </a:pPr>
            <a:r>
              <a:rPr lang="en-US" sz="900" dirty="0">
                <a:solidFill>
                  <a:srgbClr val="9AA3AE"/>
                </a:solidFill>
                <a:latin typeface="Calibri" pitchFamily="34" charset="0"/>
                <a:ea typeface="Calibri" pitchFamily="34" charset="-122"/>
                <a:cs typeface="Calibri" pitchFamily="34" charset="-120"/>
              </a:rPr>
              <a:t>Sude Bozkurt · Borusan Otomotiv case study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1B1F24"/>
                </a:solidFill>
                <a:latin typeface="Cambria" pitchFamily="34" charset="0"/>
                <a:ea typeface="Cambria" pitchFamily="34" charset="-122"/>
                <a:cs typeface="Cambria" pitchFamily="34" charset="-120"/>
              </a:rPr>
              <a:t>Backup — pipeline run and orchestration</a:t>
            </a:r>
            <a:endParaRPr lang="en-US" sz="3200" dirty="0"/>
          </a:p>
        </p:txBody>
      </p:sp>
      <p:sp>
        <p:nvSpPr>
          <p:cNvPr id="3" name="Text 1"/>
          <p:cNvSpPr txBox="1"/>
          <p:nvPr/>
        </p:nvSpPr>
        <p:spPr>
          <a:xfrm>
            <a:off x="548640" y="1097280"/>
            <a:ext cx="11091672" cy="365760"/>
          </a:xfrm>
          <a:prstGeom prst="rect">
            <a:avLst/>
          </a:prstGeom>
          <a:noFill/>
          <a:ln/>
        </p:spPr>
        <p:txBody>
          <a:bodyPr wrap="square" lIns="0" tIns="0" rIns="0" bIns="0" rtlCol="0" anchor="ctr"/>
          <a:lstStyle/>
          <a:p>
            <a:pPr marL="0" indent="0">
              <a:buNone/>
            </a:pPr>
            <a:r>
              <a:rPr lang="en-US" sz="1400" dirty="0">
                <a:solidFill>
                  <a:srgbClr val="5B6573"/>
                </a:solidFill>
                <a:latin typeface="Calibri" pitchFamily="34" charset="0"/>
                <a:ea typeface="Calibri" pitchFamily="34" charset="-122"/>
                <a:cs typeface="Calibri" pitchFamily="34" charset="-120"/>
              </a:rPr>
              <a:t>pl_lead_to_sale_daily in Data Factory</a:t>
            </a:r>
            <a:endParaRPr lang="en-US" sz="1400" dirty="0"/>
          </a:p>
        </p:txBody>
      </p:sp>
      <p:sp>
        <p:nvSpPr>
          <p:cNvPr id="4" name="Shape 2"/>
          <p:cNvSpPr/>
          <p:nvPr/>
        </p:nvSpPr>
        <p:spPr>
          <a:xfrm>
            <a:off x="548640" y="1691640"/>
            <a:ext cx="5486400" cy="4389120"/>
          </a:xfrm>
          <a:prstGeom prst="roundRect">
            <a:avLst>
              <a:gd name="adj" fmla="val 1667"/>
            </a:avLst>
          </a:prstGeom>
          <a:solidFill>
            <a:srgbClr val="EEF1F4"/>
          </a:solidFill>
          <a:ln w="19050">
            <a:solidFill>
              <a:srgbClr val="E8A33D"/>
            </a:solidFill>
            <a:prstDash val="dash"/>
          </a:ln>
        </p:spPr>
        <p:txBody>
          <a:bodyPr/>
          <a:lstStyle/>
          <a:p>
            <a:endParaRPr lang="en-TR"/>
          </a:p>
        </p:txBody>
      </p:sp>
      <p:sp>
        <p:nvSpPr>
          <p:cNvPr id="6" name="Shape 4"/>
          <p:cNvSpPr/>
          <p:nvPr/>
        </p:nvSpPr>
        <p:spPr>
          <a:xfrm>
            <a:off x="6309360" y="1691640"/>
            <a:ext cx="5303520" cy="4389120"/>
          </a:xfrm>
          <a:prstGeom prst="roundRect">
            <a:avLst>
              <a:gd name="adj" fmla="val 1667"/>
            </a:avLst>
          </a:prstGeom>
          <a:solidFill>
            <a:srgbClr val="EEF1F4"/>
          </a:solidFill>
          <a:ln w="19050">
            <a:solidFill>
              <a:srgbClr val="E8A33D"/>
            </a:solidFill>
            <a:prstDash val="dash"/>
          </a:ln>
        </p:spPr>
        <p:txBody>
          <a:bodyPr/>
          <a:lstStyle/>
          <a:p>
            <a:endParaRPr lang="en-TR"/>
          </a:p>
        </p:txBody>
      </p:sp>
      <p:sp>
        <p:nvSpPr>
          <p:cNvPr id="7" name="Text 5"/>
          <p:cNvSpPr txBox="1"/>
          <p:nvPr/>
        </p:nvSpPr>
        <p:spPr>
          <a:xfrm>
            <a:off x="6492240" y="1874520"/>
            <a:ext cx="4937760" cy="4023360"/>
          </a:xfrm>
          <a:prstGeom prst="rect">
            <a:avLst/>
          </a:prstGeom>
          <a:noFill/>
          <a:ln/>
        </p:spPr>
        <p:txBody>
          <a:bodyPr wrap="square" lIns="0" tIns="0" rIns="0" bIns="0" rtlCol="0" anchor="ctr"/>
          <a:lstStyle/>
          <a:p>
            <a:pPr marL="0" indent="0" algn="ctr">
              <a:buNone/>
            </a:pPr>
            <a:r>
              <a:rPr lang="en-US" sz="1100" b="1" dirty="0">
                <a:solidFill>
                  <a:srgbClr val="E8A33D"/>
                </a:solidFill>
                <a:latin typeface="Calibri" pitchFamily="34" charset="0"/>
                <a:ea typeface="Calibri" pitchFamily="34" charset="-122"/>
                <a:cs typeface="Calibri" pitchFamily="34" charset="-120"/>
              </a:rPr>
              <a:t>SCREENSHOT PLACEHOLDER</a:t>
            </a:r>
            <a:endParaRPr lang="en-US" sz="1100" dirty="0"/>
          </a:p>
          <a:p>
            <a:pPr marL="0" indent="0" algn="ctr">
              <a:buNone/>
            </a:pPr>
            <a:r>
              <a:rPr lang="en-US" sz="1200" dirty="0">
                <a:solidFill>
                  <a:srgbClr val="2E3540"/>
                </a:solidFill>
                <a:latin typeface="Calibri" pitchFamily="34" charset="0"/>
                <a:ea typeface="Calibri" pitchFamily="34" charset="-122"/>
                <a:cs typeface="Calibri" pitchFamily="34" charset="-120"/>
              </a:rPr>
              <a:t>Monitor view of a successful run with per-activity durations</a:t>
            </a:r>
            <a:endParaRPr lang="en-US" sz="1100" dirty="0"/>
          </a:p>
          <a:p>
            <a:pPr marL="0" indent="0" algn="ctr">
              <a:buNone/>
            </a:pPr>
            <a:r>
              <a:rPr lang="en-US" sz="1000" i="1" dirty="0">
                <a:solidFill>
                  <a:srgbClr val="5B6573"/>
                </a:solidFill>
                <a:latin typeface="Calibri" pitchFamily="34" charset="0"/>
                <a:ea typeface="Calibri" pitchFamily="34" charset="-122"/>
                <a:cs typeface="Calibri" pitchFamily="34" charset="-120"/>
              </a:rPr>
              <a:t>save as report/screenshots/16b_pipeline_monitor.png</a:t>
            </a:r>
            <a:endParaRPr lang="en-US" sz="1100" dirty="0"/>
          </a:p>
        </p:txBody>
      </p:sp>
      <p:sp>
        <p:nvSpPr>
          <p:cNvPr id="8" name="Text 6"/>
          <p:cNvSpPr txBox="1"/>
          <p:nvPr/>
        </p:nvSpPr>
        <p:spPr>
          <a:xfrm>
            <a:off x="548640" y="6400800"/>
            <a:ext cx="11091672" cy="274320"/>
          </a:xfrm>
          <a:prstGeom prst="rect">
            <a:avLst/>
          </a:prstGeom>
          <a:noFill/>
          <a:ln/>
        </p:spPr>
        <p:txBody>
          <a:bodyPr wrap="square" lIns="0" tIns="0" rIns="0" bIns="0" rtlCol="0" anchor="ctr"/>
          <a:lstStyle/>
          <a:p>
            <a:pPr marL="0" indent="0" algn="r">
              <a:buNone/>
            </a:pPr>
            <a:r>
              <a:rPr lang="en-US" sz="900" dirty="0">
                <a:solidFill>
                  <a:srgbClr val="9AA3AE"/>
                </a:solidFill>
                <a:latin typeface="Calibri" pitchFamily="34" charset="0"/>
                <a:ea typeface="Calibri" pitchFamily="34" charset="-122"/>
                <a:cs typeface="Calibri" pitchFamily="34" charset="-120"/>
              </a:rPr>
              <a:t>Sude Bozkurt · Borusan Otomotiv case study · 16</a:t>
            </a:r>
            <a:endParaRPr lang="en-US" sz="900" dirty="0"/>
          </a:p>
        </p:txBody>
      </p:sp>
      <p:pic>
        <p:nvPicPr>
          <p:cNvPr id="9" name="Picture 8" descr="16a_pipeline_canvas.png"/>
          <p:cNvPicPr>
            <a:picLocks noChangeAspect="1"/>
          </p:cNvPicPr>
          <p:nvPr/>
        </p:nvPicPr>
        <p:blipFill>
          <a:blip r:embed="rId3"/>
          <a:srcRect l="21190" r="21190"/>
          <a:stretch>
            <a:fillRect/>
          </a:stretch>
        </p:blipFill>
        <p:spPr>
          <a:xfrm>
            <a:off x="655320" y="1874520"/>
            <a:ext cx="5273040" cy="40233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657</TotalTime>
  <Words>2632</Words>
  <Application>Microsoft Macintosh PowerPoint</Application>
  <PresentationFormat>Widescreen</PresentationFormat>
  <Paragraphs>270</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Lead-to-Sale Data Platform on Microsoft Fabric</dc:title>
  <dc:subject>PptxGenJS Presentation</dc:subject>
  <dc:creator>Sude Bozkurt</dc:creator>
  <cp:lastModifiedBy>Sude Bozkurt</cp:lastModifiedBy>
  <cp:revision>4</cp:revision>
  <dcterms:created xsi:type="dcterms:W3CDTF">2026-09-09T12:48:26Z</dcterms:created>
  <dcterms:modified xsi:type="dcterms:W3CDTF">2026-09-10T21:44:08Z</dcterms:modified>
</cp:coreProperties>
</file>